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No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D2D4E0-5D17-468C-9A56-99068DBDCAB3}">
  <a:tblStyle styleId="{43D2D4E0-5D17-468C-9A56-99068DBDCAB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otoSans-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otoSans-italic.fntdata"/><Relationship Id="rId25" Type="http://schemas.openxmlformats.org/officeDocument/2006/relationships/font" Target="fonts/NotoSans-bold.fntdata"/><Relationship Id="rId27" Type="http://schemas.openxmlformats.org/officeDocument/2006/relationships/font" Target="fonts/Noto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1bd9024e_0_2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f11bd9024e_0_2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導入。大きなシステム提案ではなく、まず病床利用率低下の要因を利用者の流れから分解する資料として入る。今回見る流れ（低下→流れ→詰まり→改善）を一言で示す。</a:t>
            </a:r>
            <a:endParaRPr/>
          </a:p>
        </p:txBody>
      </p:sp>
      <p:sp>
        <p:nvSpPr>
          <p:cNvPr id="54" name="Google Shape;54;g3f11bd9024e_0_2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11bd9024e_0_4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f11bd9024e_0_4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「今までの分析が悪い」ではなく、「次の打ち手を決めるには追加の視点が必要だった」という言い方にする。既存の利用率分析は否定しない。</a:t>
            </a:r>
            <a:endParaRPr/>
          </a:p>
        </p:txBody>
      </p:sp>
      <p:sp>
        <p:nvSpPr>
          <p:cNvPr id="64" name="Google Shape;64;g3f11bd9024e_0_4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11bd9024e_0_5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g3f11bd9024e_0_5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sz="1200"/>
              <a:t>床日という量だけでなく、段階の移行（次に進んでいるか）を見たのが今回のポイント。退所後フォローまで含めて一連の流れとして追った。</a:t>
            </a:r>
            <a:endParaRPr/>
          </a:p>
        </p:txBody>
      </p:sp>
      <p:sp>
        <p:nvSpPr>
          <p:cNvPr id="87" name="Google Shape;87;g3f11bd9024e_0_5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11bd9024e_0_12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f11bd9024e_0_12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対象者名は本編に出さない。あくまで層として示し、候補者数は対応指示ではなく現場確認の優先順位を考える材料だと添える。</a:t>
            </a:r>
            <a:endParaRPr/>
          </a:p>
        </p:txBody>
      </p:sp>
      <p:sp>
        <p:nvSpPr>
          <p:cNvPr id="172" name="Google Shape;172;g3f11bd9024e_0_12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11bd9024e_0_18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11bd9024e_0_18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「分析だけで終わり」にしないために、運用の課題を正面から扱う。手作業の多さと、対応が記録に残らない点を率直に出す。</a:t>
            </a:r>
            <a:endParaRPr/>
          </a:p>
        </p:txBody>
      </p:sp>
      <p:sp>
        <p:nvSpPr>
          <p:cNvPr id="205" name="Google Shape;205;g3f11bd9024e_0_18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11bd9024e_0_20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f11bd9024e_0_20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実行テーマの整理。何をやるかを現場寄りに見せる。2本柱は並行で進める前提。</a:t>
            </a:r>
            <a:endParaRPr/>
          </a:p>
        </p:txBody>
      </p:sp>
      <p:sp>
        <p:nvSpPr>
          <p:cNvPr id="233" name="Google Shape;233;g3f11bd9024e_0_20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11bd9024e_0_23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f11bd9024e_0_23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a:t>締め。反省と次フェーズの実行意志を一枚で。中長期構想の専門用語は前面に出さず、現場で改善サイクルが回る姿を語る。</a:t>
            </a:r>
            <a:endParaRPr/>
          </a:p>
        </p:txBody>
      </p:sp>
      <p:sp>
        <p:nvSpPr>
          <p:cNvPr id="259" name="Google Shape;259;g3f11bd9024e_0_23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11bd9024e_0_26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3f11bd9024e_0_26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f11bd9024e_0_26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11bd9024e_0_26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f11bd9024e_0_26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f11bd9024e_0_26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11bd9024e_0_27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f11bd9024e_0_27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f11bd9024e_0_27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11bd9024e_0_28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f11bd9024e_0_28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3f11bd9024e_0_28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11bd9024e_0_2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f11bd9024e_0_29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f11bd9024e_0_29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11bd9024e_0_30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f11bd9024e_0_30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f11bd9024e_0_30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11bd9024e_0_31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3f11bd9024e_0_31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f11bd9024e_0_31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11bd9024e_0_32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f11bd9024e_0_32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f11bd9024e_0_32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11bd9024e_0_33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f11bd9024e_0_33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g3f11bd9024e_0_33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11bd9024e_0_35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f11bd9024e_0_35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f11bd9024e_0_35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5F"/>
        </a:solidFill>
      </p:bgPr>
    </p:bg>
    <p:spTree>
      <p:nvGrpSpPr>
        <p:cNvPr id="55" name="Shape 55"/>
        <p:cNvGrpSpPr/>
        <p:nvPr/>
      </p:nvGrpSpPr>
      <p:grpSpPr>
        <a:xfrm>
          <a:off x="0" y="0"/>
          <a:ext cx="0" cy="0"/>
          <a:chOff x="0" y="0"/>
          <a:chExt cx="0" cy="0"/>
        </a:xfrm>
      </p:grpSpPr>
      <p:sp>
        <p:nvSpPr>
          <p:cNvPr id="56" name="Google Shape;56;p14"/>
          <p:cNvSpPr/>
          <p:nvPr/>
        </p:nvSpPr>
        <p:spPr>
          <a:xfrm>
            <a:off x="0" y="0"/>
            <a:ext cx="9121200" cy="1577100"/>
          </a:xfrm>
          <a:prstGeom prst="rect">
            <a:avLst/>
          </a:prstGeom>
          <a:solidFill>
            <a:srgbClr val="152B4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4"/>
          <p:cNvSpPr/>
          <p:nvPr/>
        </p:nvSpPr>
        <p:spPr>
          <a:xfrm>
            <a:off x="617220" y="685800"/>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1100"/>
              <a:buFont typeface="Noto Sans"/>
              <a:buNone/>
            </a:pPr>
            <a:r>
              <a:rPr b="1" i="0" lang="ja" sz="1100" u="none" cap="none" strike="noStrike">
                <a:solidFill>
                  <a:srgbClr val="8FC1E3"/>
                </a:solidFill>
                <a:latin typeface="Noto Sans"/>
                <a:ea typeface="Noto Sans"/>
                <a:cs typeface="Noto Sans"/>
                <a:sym typeface="Noto Sans"/>
              </a:rPr>
              <a:t>アルボース ｜ 病床利用率向上に向けて</a:t>
            </a:r>
            <a:endParaRPr b="0" i="0" sz="1100" u="none" cap="none" strike="noStrike">
              <a:solidFill>
                <a:schemeClr val="dk1"/>
              </a:solidFill>
              <a:latin typeface="Calibri"/>
              <a:ea typeface="Calibri"/>
              <a:cs typeface="Calibri"/>
              <a:sym typeface="Calibri"/>
            </a:endParaRPr>
          </a:p>
        </p:txBody>
      </p:sp>
      <p:sp>
        <p:nvSpPr>
          <p:cNvPr id="58" name="Google Shape;58;p14"/>
          <p:cNvSpPr/>
          <p:nvPr/>
        </p:nvSpPr>
        <p:spPr>
          <a:xfrm>
            <a:off x="617220" y="1062990"/>
            <a:ext cx="7886700" cy="130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500"/>
              <a:buFont typeface="Noto Sans"/>
              <a:buNone/>
            </a:pPr>
            <a:r>
              <a:rPr b="1" i="0" lang="ja" sz="3500" u="none" cap="none" strike="noStrike">
                <a:solidFill>
                  <a:srgbClr val="FFFFFF"/>
                </a:solidFill>
                <a:latin typeface="Noto Sans"/>
                <a:ea typeface="Noto Sans"/>
                <a:cs typeface="Noto Sans"/>
                <a:sym typeface="Noto Sans"/>
              </a:rPr>
              <a:t>病床利用率低下に対する</a:t>
            </a:r>
            <a:endParaRPr b="0" i="0" sz="35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500"/>
              <a:buFont typeface="Noto Sans"/>
              <a:buNone/>
            </a:pPr>
            <a:r>
              <a:rPr b="1" i="0" lang="ja" sz="3500" u="none" cap="none" strike="noStrike">
                <a:solidFill>
                  <a:srgbClr val="FFFFFF"/>
                </a:solidFill>
                <a:latin typeface="Noto Sans"/>
                <a:ea typeface="Noto Sans"/>
                <a:cs typeface="Noto Sans"/>
                <a:sym typeface="Noto Sans"/>
              </a:rPr>
              <a:t>ボトルネック分析</a:t>
            </a:r>
            <a:endParaRPr b="0" i="0" sz="3500" u="none" cap="none" strike="noStrike">
              <a:solidFill>
                <a:schemeClr val="dk1"/>
              </a:solidFill>
              <a:latin typeface="Calibri"/>
              <a:ea typeface="Calibri"/>
              <a:cs typeface="Calibri"/>
              <a:sym typeface="Calibri"/>
            </a:endParaRPr>
          </a:p>
        </p:txBody>
      </p:sp>
      <p:sp>
        <p:nvSpPr>
          <p:cNvPr id="59" name="Google Shape;59;p14"/>
          <p:cNvSpPr/>
          <p:nvPr/>
        </p:nvSpPr>
        <p:spPr>
          <a:xfrm>
            <a:off x="617220" y="2537460"/>
            <a:ext cx="78867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1200"/>
              <a:buFont typeface="Noto Sans"/>
              <a:buNone/>
            </a:pPr>
            <a:r>
              <a:rPr b="0" i="0" lang="ja" sz="1200" u="none" cap="none" strike="noStrike">
                <a:solidFill>
                  <a:srgbClr val="8FC1E3"/>
                </a:solidFill>
                <a:latin typeface="Noto Sans"/>
                <a:ea typeface="Noto Sans"/>
                <a:cs typeface="Noto Sans"/>
                <a:sym typeface="Noto Sans"/>
              </a:rPr>
              <a:t>利用者の流れに着目し、ボトルネックの発見とスループット向上に向けて</a:t>
            </a:r>
            <a:endParaRPr b="0" i="0" sz="1200" u="none" cap="none" strike="noStrike">
              <a:solidFill>
                <a:schemeClr val="dk1"/>
              </a:solidFill>
              <a:latin typeface="Calibri"/>
              <a:ea typeface="Calibri"/>
              <a:cs typeface="Calibri"/>
              <a:sym typeface="Calibri"/>
            </a:endParaRPr>
          </a:p>
        </p:txBody>
      </p:sp>
      <p:sp>
        <p:nvSpPr>
          <p:cNvPr id="60" name="Google Shape;60;p14"/>
          <p:cNvSpPr/>
          <p:nvPr/>
        </p:nvSpPr>
        <p:spPr>
          <a:xfrm>
            <a:off x="617220" y="4663440"/>
            <a:ext cx="6858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800"/>
              <a:buFont typeface="Noto Sans"/>
              <a:buNone/>
            </a:pPr>
            <a:r>
              <a:rPr b="0" i="0" lang="ja" sz="800" u="none" cap="none" strike="noStrike">
                <a:solidFill>
                  <a:srgbClr val="8FC1E3"/>
                </a:solidFill>
                <a:latin typeface="Noto Sans"/>
                <a:ea typeface="Noto Sans"/>
                <a:cs typeface="Noto Sans"/>
                <a:sym typeface="Noto Sans"/>
              </a:rPr>
              <a:t>2026-06-15 ｜ </a:t>
            </a:r>
            <a:r>
              <a:rPr lang="ja" sz="800">
                <a:solidFill>
                  <a:srgbClr val="8FC1E3"/>
                </a:solidFill>
                <a:latin typeface="Noto Sans"/>
                <a:ea typeface="Noto Sans"/>
                <a:cs typeface="Noto Sans"/>
                <a:sym typeface="Noto Sans"/>
              </a:rPr>
              <a:t>DX推進委員会</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15"/>
          <p:cNvSpPr/>
          <p:nvPr/>
        </p:nvSpPr>
        <p:spPr>
          <a:xfrm>
            <a:off x="617220" y="425196"/>
            <a:ext cx="425100" cy="425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67" name="Google Shape;67;p15"/>
          <p:cNvPicPr preferRelativeResize="0"/>
          <p:nvPr/>
        </p:nvPicPr>
        <p:blipFill rotWithShape="1">
          <a:blip r:embed="rId3">
            <a:alphaModFix/>
          </a:blip>
          <a:srcRect b="0" l="0" r="0" t="0"/>
          <a:stretch/>
        </p:blipFill>
        <p:spPr>
          <a:xfrm>
            <a:off x="727771" y="535747"/>
            <a:ext cx="204093" cy="204093"/>
          </a:xfrm>
          <a:prstGeom prst="rect">
            <a:avLst/>
          </a:prstGeom>
          <a:noFill/>
          <a:ln>
            <a:noFill/>
          </a:ln>
        </p:spPr>
      </p:pic>
      <p:sp>
        <p:nvSpPr>
          <p:cNvPr id="68" name="Google Shape;68;p15"/>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SLIDE 2 ｜ 出発点</a:t>
            </a:r>
            <a:endParaRPr b="0" i="0" sz="800" u="none" cap="none" strike="noStrike">
              <a:solidFill>
                <a:schemeClr val="dk1"/>
              </a:solidFill>
              <a:latin typeface="Calibri"/>
              <a:ea typeface="Calibri"/>
              <a:cs typeface="Calibri"/>
              <a:sym typeface="Calibri"/>
            </a:endParaRPr>
          </a:p>
        </p:txBody>
      </p:sp>
      <p:sp>
        <p:nvSpPr>
          <p:cNvPr id="69" name="Google Shape;69;p15"/>
          <p:cNvSpPr/>
          <p:nvPr/>
        </p:nvSpPr>
        <p:spPr>
          <a:xfrm>
            <a:off x="1179576" y="617220"/>
            <a:ext cx="73245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2000"/>
              <a:buFont typeface="Noto Sans"/>
              <a:buNone/>
            </a:pPr>
            <a:r>
              <a:rPr b="1" i="0" lang="ja" sz="2000" u="none" cap="none" strike="noStrike">
                <a:solidFill>
                  <a:srgbClr val="1B2A3A"/>
                </a:solidFill>
                <a:latin typeface="Noto Sans"/>
                <a:ea typeface="Noto Sans"/>
                <a:cs typeface="Noto Sans"/>
                <a:sym typeface="Noto Sans"/>
              </a:rPr>
              <a:t>これまでの利用率分析で見えていたこと</a:t>
            </a:r>
            <a:endParaRPr b="0" i="0" sz="2000" u="none" cap="none" strike="noStrike">
              <a:solidFill>
                <a:schemeClr val="dk1"/>
              </a:solidFill>
              <a:latin typeface="Calibri"/>
              <a:ea typeface="Calibri"/>
              <a:cs typeface="Calibri"/>
              <a:sym typeface="Calibri"/>
            </a:endParaRPr>
          </a:p>
        </p:txBody>
      </p:sp>
      <p:sp>
        <p:nvSpPr>
          <p:cNvPr id="70" name="Google Shape;70;p15"/>
          <p:cNvSpPr/>
          <p:nvPr/>
        </p:nvSpPr>
        <p:spPr>
          <a:xfrm>
            <a:off x="617220" y="1200150"/>
            <a:ext cx="7886700" cy="562200"/>
          </a:xfrm>
          <a:prstGeom prst="roundRect">
            <a:avLst>
              <a:gd fmla="val 9756" name="adj"/>
            </a:avLst>
          </a:prstGeom>
          <a:solidFill>
            <a:srgbClr val="EAF1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15"/>
          <p:cNvSpPr/>
          <p:nvPr/>
        </p:nvSpPr>
        <p:spPr>
          <a:xfrm>
            <a:off x="857250" y="1200150"/>
            <a:ext cx="7406400" cy="56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3A5F"/>
              </a:buClr>
              <a:buSzPts val="1100"/>
              <a:buFont typeface="Noto Sans"/>
              <a:buNone/>
            </a:pPr>
            <a:r>
              <a:rPr b="1" i="0" lang="ja" sz="1100" u="none" cap="none" strike="noStrike">
                <a:solidFill>
                  <a:srgbClr val="1E3A5F"/>
                </a:solidFill>
                <a:latin typeface="Noto Sans"/>
                <a:ea typeface="Noto Sans"/>
                <a:cs typeface="Noto Sans"/>
                <a:sym typeface="Noto Sans"/>
              </a:rPr>
              <a:t>病床数・利用率の分析は行われていたが、</a:t>
            </a:r>
            <a:endParaRPr b="1" i="0" sz="1100" u="none" cap="none" strike="noStrike">
              <a:solidFill>
                <a:srgbClr val="1E3A5F"/>
              </a:solidFill>
              <a:latin typeface="Noto Sans"/>
              <a:ea typeface="Noto Sans"/>
              <a:cs typeface="Noto Sans"/>
              <a:sym typeface="Noto Sans"/>
            </a:endParaRPr>
          </a:p>
          <a:p>
            <a:pPr indent="0" lvl="0" marL="0" marR="0" rtl="0" algn="l">
              <a:lnSpc>
                <a:spcPct val="110000"/>
              </a:lnSpc>
              <a:spcBef>
                <a:spcPts val="0"/>
              </a:spcBef>
              <a:spcAft>
                <a:spcPts val="0"/>
              </a:spcAft>
              <a:buClr>
                <a:srgbClr val="1E3A5F"/>
              </a:buClr>
              <a:buSzPts val="1100"/>
              <a:buFont typeface="Noto Sans"/>
              <a:buNone/>
            </a:pPr>
            <a:r>
              <a:rPr b="1" i="0" lang="ja" sz="1100" u="none" cap="none" strike="noStrike">
                <a:solidFill>
                  <a:srgbClr val="1E3A5F"/>
                </a:solidFill>
                <a:latin typeface="Noto Sans"/>
                <a:ea typeface="Noto Sans"/>
                <a:cs typeface="Noto Sans"/>
                <a:sym typeface="Noto Sans"/>
              </a:rPr>
              <a:t>従来の見方では「どこで利用者の流れが止まっているか」までは明確にしにくかった。</a:t>
            </a:r>
            <a:endParaRPr b="0" i="0" sz="1100" u="none" cap="none" strike="noStrike">
              <a:solidFill>
                <a:schemeClr val="dk1"/>
              </a:solidFill>
              <a:latin typeface="Calibri"/>
              <a:ea typeface="Calibri"/>
              <a:cs typeface="Calibri"/>
              <a:sym typeface="Calibri"/>
            </a:endParaRPr>
          </a:p>
        </p:txBody>
      </p:sp>
      <p:sp>
        <p:nvSpPr>
          <p:cNvPr id="72" name="Google Shape;72;p15"/>
          <p:cNvSpPr/>
          <p:nvPr/>
        </p:nvSpPr>
        <p:spPr>
          <a:xfrm>
            <a:off x="617220" y="2023110"/>
            <a:ext cx="3737700" cy="2057400"/>
          </a:xfrm>
          <a:prstGeom prst="roundRect">
            <a:avLst>
              <a:gd fmla="val 2667"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5"/>
          <p:cNvSpPr/>
          <p:nvPr/>
        </p:nvSpPr>
        <p:spPr>
          <a:xfrm>
            <a:off x="857250" y="2242566"/>
            <a:ext cx="377100" cy="377100"/>
          </a:xfrm>
          <a:prstGeom prst="ellipse">
            <a:avLst/>
          </a:prstGeom>
          <a:solidFill>
            <a:srgbClr val="3A6F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74" name="Google Shape;74;p15"/>
          <p:cNvPicPr preferRelativeResize="0"/>
          <p:nvPr/>
        </p:nvPicPr>
        <p:blipFill rotWithShape="1">
          <a:blip r:embed="rId3">
            <a:alphaModFix/>
          </a:blip>
          <a:srcRect b="0" l="0" r="0" t="0"/>
          <a:stretch/>
        </p:blipFill>
        <p:spPr>
          <a:xfrm>
            <a:off x="955319" y="2340635"/>
            <a:ext cx="181052" cy="181052"/>
          </a:xfrm>
          <a:prstGeom prst="rect">
            <a:avLst/>
          </a:prstGeom>
          <a:noFill/>
          <a:ln>
            <a:noFill/>
          </a:ln>
        </p:spPr>
      </p:pic>
      <p:sp>
        <p:nvSpPr>
          <p:cNvPr id="75" name="Google Shape;75;p15"/>
          <p:cNvSpPr/>
          <p:nvPr/>
        </p:nvSpPr>
        <p:spPr>
          <a:xfrm>
            <a:off x="1337310" y="2242566"/>
            <a:ext cx="2846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400"/>
              <a:buFont typeface="Noto Sans"/>
              <a:buNone/>
            </a:pPr>
            <a:r>
              <a:rPr b="1" i="0" lang="ja" sz="1400" u="none" cap="none" strike="noStrike">
                <a:solidFill>
                  <a:srgbClr val="1B2A3A"/>
                </a:solidFill>
                <a:latin typeface="Noto Sans"/>
                <a:ea typeface="Noto Sans"/>
                <a:cs typeface="Noto Sans"/>
                <a:sym typeface="Noto Sans"/>
              </a:rPr>
              <a:t>見えていたこと</a:t>
            </a:r>
            <a:endParaRPr b="0" i="0" sz="1400" u="none" cap="none" strike="noStrike">
              <a:solidFill>
                <a:schemeClr val="dk1"/>
              </a:solidFill>
              <a:latin typeface="Calibri"/>
              <a:ea typeface="Calibri"/>
              <a:cs typeface="Calibri"/>
              <a:sym typeface="Calibri"/>
            </a:endParaRPr>
          </a:p>
        </p:txBody>
      </p:sp>
      <p:sp>
        <p:nvSpPr>
          <p:cNvPr id="76" name="Google Shape;76;p15"/>
          <p:cNvSpPr/>
          <p:nvPr/>
        </p:nvSpPr>
        <p:spPr>
          <a:xfrm>
            <a:off x="891540" y="2777490"/>
            <a:ext cx="3223500" cy="1166100"/>
          </a:xfrm>
          <a:prstGeom prst="rect">
            <a:avLst/>
          </a:prstGeom>
          <a:noFill/>
          <a:ln>
            <a:noFill/>
          </a:ln>
        </p:spPr>
        <p:txBody>
          <a:bodyPr anchorCtr="0" anchor="t" bIns="34275" lIns="68575" spcFirstLastPara="1" rIns="68575" wrap="square" tIns="34275">
            <a:noAutofit/>
          </a:bodyPr>
          <a:lstStyle/>
          <a:p>
            <a:pPr indent="-158750" lvl="0" marL="152400" marR="0" rtl="0" algn="l">
              <a:spcBef>
                <a:spcPts val="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病床利用率・入所率の水準とその推移</a:t>
            </a:r>
            <a:endParaRPr b="0" i="0" sz="1100" u="none" cap="none" strike="noStrike">
              <a:solidFill>
                <a:schemeClr val="dk1"/>
              </a:solidFill>
              <a:latin typeface="Calibri"/>
              <a:ea typeface="Calibri"/>
              <a:cs typeface="Calibri"/>
              <a:sym typeface="Calibri"/>
            </a:endParaRPr>
          </a:p>
          <a:p>
            <a:pPr indent="-158750" lvl="0" marL="152400" marR="0" rtl="0" algn="l">
              <a:spcBef>
                <a:spcPts val="80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ショート・ロングの稼働量、空床の発生</a:t>
            </a:r>
            <a:endParaRPr b="0" i="0" sz="1100" u="none" cap="none" strike="noStrike">
              <a:solidFill>
                <a:schemeClr val="dk1"/>
              </a:solidFill>
              <a:latin typeface="Calibri"/>
              <a:ea typeface="Calibri"/>
              <a:cs typeface="Calibri"/>
              <a:sym typeface="Calibri"/>
            </a:endParaRPr>
          </a:p>
          <a:p>
            <a:pPr indent="-158750" lvl="0" marL="152400" marR="0" rtl="0" algn="l">
              <a:spcBef>
                <a:spcPts val="80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フロア単位での稼働の差</a:t>
            </a:r>
            <a:endParaRPr b="0" i="0" sz="1100" u="none" cap="none" strike="noStrike">
              <a:solidFill>
                <a:schemeClr val="dk1"/>
              </a:solidFill>
              <a:latin typeface="Calibri"/>
              <a:ea typeface="Calibri"/>
              <a:cs typeface="Calibri"/>
              <a:sym typeface="Calibri"/>
            </a:endParaRPr>
          </a:p>
        </p:txBody>
      </p:sp>
      <p:sp>
        <p:nvSpPr>
          <p:cNvPr id="77" name="Google Shape;77;p15"/>
          <p:cNvSpPr/>
          <p:nvPr/>
        </p:nvSpPr>
        <p:spPr>
          <a:xfrm>
            <a:off x="4766310" y="2023110"/>
            <a:ext cx="3737700" cy="2057400"/>
          </a:xfrm>
          <a:prstGeom prst="roundRect">
            <a:avLst>
              <a:gd fmla="val 2667" name="adj"/>
            </a:avLst>
          </a:prstGeom>
          <a:solidFill>
            <a:srgbClr val="1E3A5F"/>
          </a:solidFill>
          <a:ln>
            <a:noFill/>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5"/>
          <p:cNvSpPr/>
          <p:nvPr/>
        </p:nvSpPr>
        <p:spPr>
          <a:xfrm>
            <a:off x="5006340" y="2242566"/>
            <a:ext cx="377100" cy="377100"/>
          </a:xfrm>
          <a:prstGeom prst="ellipse">
            <a:avLst/>
          </a:prstGeom>
          <a:solidFill>
            <a:srgbClr val="8FC1E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79" name="Google Shape;79;p15"/>
          <p:cNvPicPr preferRelativeResize="0"/>
          <p:nvPr/>
        </p:nvPicPr>
        <p:blipFill rotWithShape="1">
          <a:blip r:embed="rId4">
            <a:alphaModFix/>
          </a:blip>
          <a:srcRect b="0" l="0" r="0" t="0"/>
          <a:stretch/>
        </p:blipFill>
        <p:spPr>
          <a:xfrm>
            <a:off x="5104409" y="2340635"/>
            <a:ext cx="181052" cy="181052"/>
          </a:xfrm>
          <a:prstGeom prst="rect">
            <a:avLst/>
          </a:prstGeom>
          <a:noFill/>
          <a:ln>
            <a:noFill/>
          </a:ln>
        </p:spPr>
      </p:pic>
      <p:sp>
        <p:nvSpPr>
          <p:cNvPr id="80" name="Google Shape;80;p15"/>
          <p:cNvSpPr/>
          <p:nvPr/>
        </p:nvSpPr>
        <p:spPr>
          <a:xfrm>
            <a:off x="5486400" y="2242566"/>
            <a:ext cx="2846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Noto Sans"/>
              <a:buNone/>
            </a:pPr>
            <a:r>
              <a:rPr b="1" i="0" lang="ja" sz="1400" u="none" cap="none" strike="noStrike">
                <a:solidFill>
                  <a:srgbClr val="FFFFFF"/>
                </a:solidFill>
                <a:latin typeface="Noto Sans"/>
                <a:ea typeface="Noto Sans"/>
                <a:cs typeface="Noto Sans"/>
                <a:sym typeface="Noto Sans"/>
              </a:rPr>
              <a:t>見えにくかったこと</a:t>
            </a:r>
            <a:endParaRPr b="0" i="0" sz="1400" u="none" cap="none" strike="noStrike">
              <a:solidFill>
                <a:schemeClr val="dk1"/>
              </a:solidFill>
              <a:latin typeface="Calibri"/>
              <a:ea typeface="Calibri"/>
              <a:cs typeface="Calibri"/>
              <a:sym typeface="Calibri"/>
            </a:endParaRPr>
          </a:p>
        </p:txBody>
      </p:sp>
      <p:sp>
        <p:nvSpPr>
          <p:cNvPr id="81" name="Google Shape;81;p15"/>
          <p:cNvSpPr/>
          <p:nvPr/>
        </p:nvSpPr>
        <p:spPr>
          <a:xfrm>
            <a:off x="5040630" y="2777490"/>
            <a:ext cx="3223500" cy="1166100"/>
          </a:xfrm>
          <a:prstGeom prst="rect">
            <a:avLst/>
          </a:prstGeom>
          <a:noFill/>
          <a:ln>
            <a:noFill/>
          </a:ln>
        </p:spPr>
        <p:txBody>
          <a:bodyPr anchorCtr="0" anchor="t" bIns="34275" lIns="68575" spcFirstLastPara="1" rIns="68575" wrap="square" tIns="34275">
            <a:noAutofit/>
          </a:bodyPr>
          <a:lstStyle/>
          <a:p>
            <a:pPr indent="-158750" lvl="0" marL="152400" marR="0" rtl="0" algn="l">
              <a:spcBef>
                <a:spcPts val="0"/>
              </a:spcBef>
              <a:spcAft>
                <a:spcPts val="0"/>
              </a:spcAft>
              <a:buClr>
                <a:srgbClr val="E4EEF7"/>
              </a:buClr>
              <a:buSzPts val="1100"/>
              <a:buFont typeface="Noto Sans"/>
              <a:buChar char="•"/>
            </a:pPr>
            <a:r>
              <a:rPr b="0" i="0" lang="ja" sz="1100" u="none" cap="none" strike="noStrike">
                <a:solidFill>
                  <a:srgbClr val="E4EEF7"/>
                </a:solidFill>
                <a:latin typeface="Noto Sans"/>
                <a:ea typeface="Noto Sans"/>
                <a:cs typeface="Noto Sans"/>
                <a:sym typeface="Noto Sans"/>
              </a:rPr>
              <a:t>利用者の流れのどこで止まっているのか</a:t>
            </a:r>
            <a:endParaRPr b="0" i="0" sz="1100" u="none" cap="none" strike="noStrike">
              <a:solidFill>
                <a:schemeClr val="dk1"/>
              </a:solidFill>
              <a:latin typeface="Calibri"/>
              <a:ea typeface="Calibri"/>
              <a:cs typeface="Calibri"/>
              <a:sym typeface="Calibri"/>
            </a:endParaRPr>
          </a:p>
          <a:p>
            <a:pPr indent="-158750" lvl="0" marL="152400" marR="0" rtl="0" algn="l">
              <a:spcBef>
                <a:spcPts val="800"/>
              </a:spcBef>
              <a:spcAft>
                <a:spcPts val="0"/>
              </a:spcAft>
              <a:buClr>
                <a:srgbClr val="E4EEF7"/>
              </a:buClr>
              <a:buSzPts val="1100"/>
              <a:buFont typeface="Noto Sans"/>
              <a:buChar char="•"/>
            </a:pPr>
            <a:r>
              <a:rPr b="0" i="0" lang="ja" sz="1100" u="none" cap="none" strike="noStrike">
                <a:solidFill>
                  <a:srgbClr val="E4EEF7"/>
                </a:solidFill>
                <a:latin typeface="Noto Sans"/>
                <a:ea typeface="Noto Sans"/>
                <a:cs typeface="Noto Sans"/>
                <a:sym typeface="Noto Sans"/>
              </a:rPr>
              <a:t>再利用・定期化につながっているか</a:t>
            </a:r>
            <a:endParaRPr b="0" i="0" sz="1100" u="none" cap="none" strike="noStrike">
              <a:solidFill>
                <a:schemeClr val="dk1"/>
              </a:solidFill>
              <a:latin typeface="Calibri"/>
              <a:ea typeface="Calibri"/>
              <a:cs typeface="Calibri"/>
              <a:sym typeface="Calibri"/>
            </a:endParaRPr>
          </a:p>
          <a:p>
            <a:pPr indent="-158750" lvl="0" marL="152400" marR="0" rtl="0" algn="l">
              <a:spcBef>
                <a:spcPts val="800"/>
              </a:spcBef>
              <a:spcAft>
                <a:spcPts val="0"/>
              </a:spcAft>
              <a:buClr>
                <a:srgbClr val="E4EEF7"/>
              </a:buClr>
              <a:buSzPts val="1100"/>
              <a:buFont typeface="Noto Sans"/>
              <a:buChar char="•"/>
            </a:pPr>
            <a:r>
              <a:rPr b="0" i="0" lang="ja" sz="1100" u="none" cap="none" strike="noStrike">
                <a:solidFill>
                  <a:srgbClr val="E4EEF7"/>
                </a:solidFill>
                <a:latin typeface="Noto Sans"/>
                <a:ea typeface="Noto Sans"/>
                <a:cs typeface="Noto Sans"/>
                <a:sym typeface="Noto Sans"/>
              </a:rPr>
              <a:t>デイから入所へ接続できているか</a:t>
            </a:r>
            <a:endParaRPr b="0" i="0" sz="1100" u="none" cap="none" strike="noStrike">
              <a:solidFill>
                <a:schemeClr val="dk1"/>
              </a:solidFill>
              <a:latin typeface="Calibri"/>
              <a:ea typeface="Calibri"/>
              <a:cs typeface="Calibri"/>
              <a:sym typeface="Calibri"/>
            </a:endParaRPr>
          </a:p>
        </p:txBody>
      </p:sp>
      <p:sp>
        <p:nvSpPr>
          <p:cNvPr id="82" name="Google Shape;82;p15"/>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83" name="Google Shape;83;p15"/>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6"/>
          <p:cNvSpPr/>
          <p:nvPr/>
        </p:nvSpPr>
        <p:spPr>
          <a:xfrm>
            <a:off x="617220" y="425196"/>
            <a:ext cx="425100" cy="425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90" name="Google Shape;90;p16"/>
          <p:cNvPicPr preferRelativeResize="0"/>
          <p:nvPr/>
        </p:nvPicPr>
        <p:blipFill rotWithShape="1">
          <a:blip r:embed="rId3">
            <a:alphaModFix/>
          </a:blip>
          <a:srcRect b="0" l="0" r="0" t="0"/>
          <a:stretch/>
        </p:blipFill>
        <p:spPr>
          <a:xfrm>
            <a:off x="727771" y="535747"/>
            <a:ext cx="204093" cy="204093"/>
          </a:xfrm>
          <a:prstGeom prst="rect">
            <a:avLst/>
          </a:prstGeom>
          <a:noFill/>
          <a:ln>
            <a:noFill/>
          </a:ln>
        </p:spPr>
      </p:pic>
      <p:sp>
        <p:nvSpPr>
          <p:cNvPr id="91" name="Google Shape;91;p16"/>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lang="ja" sz="800">
                <a:solidFill>
                  <a:srgbClr val="3A6FA5"/>
                </a:solidFill>
                <a:latin typeface="Noto Sans"/>
                <a:ea typeface="Noto Sans"/>
                <a:cs typeface="Noto Sans"/>
                <a:sym typeface="Noto Sans"/>
              </a:rPr>
              <a:t>SLIDE 3 ｜ 追加した視点</a:t>
            </a:r>
            <a:endParaRPr sz="1100"/>
          </a:p>
        </p:txBody>
      </p:sp>
      <p:sp>
        <p:nvSpPr>
          <p:cNvPr id="92" name="Google Shape;92;p16"/>
          <p:cNvSpPr/>
          <p:nvPr/>
        </p:nvSpPr>
        <p:spPr>
          <a:xfrm>
            <a:off x="1179576" y="617220"/>
            <a:ext cx="73245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2000"/>
              <a:buFont typeface="Noto Sans"/>
              <a:buNone/>
            </a:pPr>
            <a:r>
              <a:rPr b="1" lang="ja" sz="2000">
                <a:solidFill>
                  <a:srgbClr val="1B2A3A"/>
                </a:solidFill>
                <a:latin typeface="Noto Sans"/>
                <a:ea typeface="Noto Sans"/>
                <a:cs typeface="Noto Sans"/>
                <a:sym typeface="Noto Sans"/>
              </a:rPr>
              <a:t>今回追加した分析視点</a:t>
            </a:r>
            <a:endParaRPr sz="1100"/>
          </a:p>
        </p:txBody>
      </p:sp>
      <p:sp>
        <p:nvSpPr>
          <p:cNvPr id="93" name="Google Shape;93;p16"/>
          <p:cNvSpPr/>
          <p:nvPr/>
        </p:nvSpPr>
        <p:spPr>
          <a:xfrm>
            <a:off x="617220" y="1200150"/>
            <a:ext cx="7886700" cy="562200"/>
          </a:xfrm>
          <a:prstGeom prst="roundRect">
            <a:avLst>
              <a:gd fmla="val 9756" name="adj"/>
            </a:avLst>
          </a:prstGeom>
          <a:solidFill>
            <a:srgbClr val="EAF1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6"/>
          <p:cNvSpPr/>
          <p:nvPr/>
        </p:nvSpPr>
        <p:spPr>
          <a:xfrm>
            <a:off x="857250" y="1200150"/>
            <a:ext cx="7406400" cy="56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3A5F"/>
              </a:buClr>
              <a:buSzPts val="1000"/>
              <a:buFont typeface="Noto Sans"/>
              <a:buNone/>
            </a:pPr>
            <a:r>
              <a:rPr b="1" lang="ja" sz="1000">
                <a:solidFill>
                  <a:srgbClr val="1E3A5F"/>
                </a:solidFill>
                <a:latin typeface="Noto Sans"/>
                <a:ea typeface="Noto Sans"/>
                <a:cs typeface="Noto Sans"/>
                <a:sym typeface="Noto Sans"/>
              </a:rPr>
              <a:t>サービス別の件数だけでなく、利用者ごとに利用履歴を時系列で追い、次の利用につながったかを確認した。</a:t>
            </a:r>
            <a:endParaRPr sz="1100"/>
          </a:p>
        </p:txBody>
      </p:sp>
      <p:sp>
        <p:nvSpPr>
          <p:cNvPr id="95" name="Google Shape;95;p16"/>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アルボース ｜ ボトルネック分析（初回提案）</a:t>
            </a:r>
            <a:endParaRPr sz="1100"/>
          </a:p>
        </p:txBody>
      </p:sp>
      <p:sp>
        <p:nvSpPr>
          <p:cNvPr id="96" name="Google Shape;96;p16"/>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3</a:t>
            </a:r>
            <a:endParaRPr sz="1100"/>
          </a:p>
        </p:txBody>
      </p:sp>
      <p:sp>
        <p:nvSpPr>
          <p:cNvPr id="97" name="Google Shape;97;p16"/>
          <p:cNvSpPr/>
          <p:nvPr/>
        </p:nvSpPr>
        <p:spPr>
          <a:xfrm>
            <a:off x="514350" y="2000250"/>
            <a:ext cx="8115300" cy="2357700"/>
          </a:xfrm>
          <a:prstGeom prst="rect">
            <a:avLst/>
          </a:prstGeom>
          <a:solidFill>
            <a:srgbClr val="FFFFFF"/>
          </a:solidFill>
          <a:ln cap="flat" cmpd="sng" w="715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6"/>
          <p:cNvSpPr/>
          <p:nvPr/>
        </p:nvSpPr>
        <p:spPr>
          <a:xfrm>
            <a:off x="614363" y="2035969"/>
            <a:ext cx="7860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ja" sz="700">
                <a:solidFill>
                  <a:srgbClr val="3A6FA5"/>
                </a:solidFill>
                <a:latin typeface="Noto Sans"/>
                <a:ea typeface="Noto Sans"/>
                <a:cs typeface="Noto Sans"/>
                <a:sym typeface="Noto Sans"/>
              </a:rPr>
              <a:t>匿名利用者</a:t>
            </a:r>
            <a:endParaRPr sz="1100"/>
          </a:p>
        </p:txBody>
      </p:sp>
      <p:sp>
        <p:nvSpPr>
          <p:cNvPr id="99" name="Google Shape;99;p16"/>
          <p:cNvSpPr/>
          <p:nvPr/>
        </p:nvSpPr>
        <p:spPr>
          <a:xfrm>
            <a:off x="1528763" y="2035969"/>
            <a:ext cx="37149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ja" sz="700">
                <a:solidFill>
                  <a:srgbClr val="3A6FA5"/>
                </a:solidFill>
                <a:latin typeface="Noto Sans"/>
                <a:ea typeface="Noto Sans"/>
                <a:cs typeface="Noto Sans"/>
                <a:sym typeface="Noto Sans"/>
              </a:rPr>
              <a:t>日付つきの利用履歴</a:t>
            </a:r>
            <a:endParaRPr sz="1100"/>
          </a:p>
        </p:txBody>
      </p:sp>
      <p:sp>
        <p:nvSpPr>
          <p:cNvPr id="100" name="Google Shape;100;p16"/>
          <p:cNvSpPr/>
          <p:nvPr/>
        </p:nvSpPr>
        <p:spPr>
          <a:xfrm>
            <a:off x="6465094" y="2035969"/>
            <a:ext cx="16431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ja" sz="700">
                <a:solidFill>
                  <a:srgbClr val="3A6FA5"/>
                </a:solidFill>
                <a:latin typeface="Noto Sans"/>
                <a:ea typeface="Noto Sans"/>
                <a:cs typeface="Noto Sans"/>
                <a:sym typeface="Noto Sans"/>
              </a:rPr>
              <a:t>分析で見えたこと</a:t>
            </a:r>
            <a:endParaRPr sz="1100"/>
          </a:p>
        </p:txBody>
      </p:sp>
      <p:sp>
        <p:nvSpPr>
          <p:cNvPr id="101" name="Google Shape;101;p16"/>
          <p:cNvSpPr/>
          <p:nvPr/>
        </p:nvSpPr>
        <p:spPr>
          <a:xfrm>
            <a:off x="614363" y="2214563"/>
            <a:ext cx="7886700" cy="385800"/>
          </a:xfrm>
          <a:prstGeom prst="roundRect">
            <a:avLst>
              <a:gd fmla="val 14815" name="adj"/>
            </a:avLst>
          </a:prstGeom>
          <a:solidFill>
            <a:srgbClr val="F8FBFE"/>
          </a:solidFill>
          <a:ln cap="flat" cmpd="sng" w="7150">
            <a:solidFill>
              <a:srgbClr val="DCE7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6"/>
          <p:cNvSpPr/>
          <p:nvPr/>
        </p:nvSpPr>
        <p:spPr>
          <a:xfrm>
            <a:off x="757238" y="2321719"/>
            <a:ext cx="5859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800">
                <a:solidFill>
                  <a:srgbClr val="1E3A5F"/>
                </a:solidFill>
                <a:latin typeface="Noto Sans"/>
                <a:ea typeface="Noto Sans"/>
                <a:cs typeface="Noto Sans"/>
                <a:sym typeface="Noto Sans"/>
              </a:rPr>
              <a:t>利用者A</a:t>
            </a:r>
            <a:endParaRPr sz="1100"/>
          </a:p>
        </p:txBody>
      </p:sp>
      <p:sp>
        <p:nvSpPr>
          <p:cNvPr id="103" name="Google Shape;103;p16"/>
          <p:cNvSpPr/>
          <p:nvPr/>
        </p:nvSpPr>
        <p:spPr>
          <a:xfrm>
            <a:off x="1528763" y="2300288"/>
            <a:ext cx="10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6"/>
          <p:cNvSpPr/>
          <p:nvPr/>
        </p:nvSpPr>
        <p:spPr>
          <a:xfrm>
            <a:off x="1528763" y="2300288"/>
            <a:ext cx="457200" cy="214500"/>
          </a:xfrm>
          <a:prstGeom prst="roundRect">
            <a:avLst>
              <a:gd fmla="val 20000" name="adj"/>
            </a:avLst>
          </a:prstGeom>
          <a:solidFill>
            <a:srgbClr val="163250"/>
          </a:solidFill>
          <a:ln cap="flat" cmpd="sng" w="7150">
            <a:solidFill>
              <a:srgbClr val="16325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6"/>
          <p:cNvSpPr/>
          <p:nvPr/>
        </p:nvSpPr>
        <p:spPr>
          <a:xfrm>
            <a:off x="1571625" y="2321719"/>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4/12</a:t>
            </a:r>
            <a:endParaRPr sz="1100"/>
          </a:p>
        </p:txBody>
      </p:sp>
      <p:sp>
        <p:nvSpPr>
          <p:cNvPr id="106" name="Google Shape;106;p16"/>
          <p:cNvSpPr/>
          <p:nvPr/>
        </p:nvSpPr>
        <p:spPr>
          <a:xfrm>
            <a:off x="2043113" y="2321719"/>
            <a:ext cx="5001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FFFFFF"/>
                </a:solidFill>
                <a:latin typeface="Noto Sans"/>
                <a:ea typeface="Noto Sans"/>
                <a:cs typeface="Noto Sans"/>
                <a:sym typeface="Noto Sans"/>
              </a:rPr>
              <a:t>デイ利用</a:t>
            </a:r>
            <a:endParaRPr sz="1100"/>
          </a:p>
        </p:txBody>
      </p:sp>
      <p:sp>
        <p:nvSpPr>
          <p:cNvPr id="107" name="Google Shape;107;p16"/>
          <p:cNvSpPr/>
          <p:nvPr/>
        </p:nvSpPr>
        <p:spPr>
          <a:xfrm>
            <a:off x="2600325" y="2293144"/>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08" name="Google Shape;108;p16"/>
          <p:cNvSpPr/>
          <p:nvPr/>
        </p:nvSpPr>
        <p:spPr>
          <a:xfrm>
            <a:off x="2728913" y="2300288"/>
            <a:ext cx="1243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6"/>
          <p:cNvSpPr/>
          <p:nvPr/>
        </p:nvSpPr>
        <p:spPr>
          <a:xfrm>
            <a:off x="2728913" y="2300288"/>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6"/>
          <p:cNvSpPr/>
          <p:nvPr/>
        </p:nvSpPr>
        <p:spPr>
          <a:xfrm>
            <a:off x="2771775" y="2321719"/>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5/10</a:t>
            </a:r>
            <a:endParaRPr sz="1100"/>
          </a:p>
        </p:txBody>
      </p:sp>
      <p:sp>
        <p:nvSpPr>
          <p:cNvPr id="111" name="Google Shape;111;p16"/>
          <p:cNvSpPr/>
          <p:nvPr/>
        </p:nvSpPr>
        <p:spPr>
          <a:xfrm>
            <a:off x="3243263" y="2321719"/>
            <a:ext cx="6858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初回ショート</a:t>
            </a:r>
            <a:endParaRPr sz="1100"/>
          </a:p>
        </p:txBody>
      </p:sp>
      <p:sp>
        <p:nvSpPr>
          <p:cNvPr id="112" name="Google Shape;112;p16"/>
          <p:cNvSpPr/>
          <p:nvPr/>
        </p:nvSpPr>
        <p:spPr>
          <a:xfrm>
            <a:off x="3986213" y="2293144"/>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13" name="Google Shape;113;p16"/>
          <p:cNvSpPr/>
          <p:nvPr/>
        </p:nvSpPr>
        <p:spPr>
          <a:xfrm>
            <a:off x="4114800" y="2300288"/>
            <a:ext cx="13146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6"/>
          <p:cNvSpPr/>
          <p:nvPr/>
        </p:nvSpPr>
        <p:spPr>
          <a:xfrm>
            <a:off x="4114800" y="2300288"/>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6"/>
          <p:cNvSpPr/>
          <p:nvPr/>
        </p:nvSpPr>
        <p:spPr>
          <a:xfrm>
            <a:off x="4157663" y="2321719"/>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5/24</a:t>
            </a:r>
            <a:endParaRPr sz="1100"/>
          </a:p>
        </p:txBody>
      </p:sp>
      <p:sp>
        <p:nvSpPr>
          <p:cNvPr id="116" name="Google Shape;116;p16"/>
          <p:cNvSpPr/>
          <p:nvPr/>
        </p:nvSpPr>
        <p:spPr>
          <a:xfrm>
            <a:off x="4629150" y="2321719"/>
            <a:ext cx="7575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ショート再利用</a:t>
            </a:r>
            <a:endParaRPr sz="1100"/>
          </a:p>
        </p:txBody>
      </p:sp>
      <p:sp>
        <p:nvSpPr>
          <p:cNvPr id="117" name="Google Shape;117;p16"/>
          <p:cNvSpPr/>
          <p:nvPr/>
        </p:nvSpPr>
        <p:spPr>
          <a:xfrm>
            <a:off x="6357938" y="2264569"/>
            <a:ext cx="2000100" cy="2859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6"/>
          <p:cNvSpPr/>
          <p:nvPr/>
        </p:nvSpPr>
        <p:spPr>
          <a:xfrm>
            <a:off x="6472238" y="2307431"/>
            <a:ext cx="1771800" cy="200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再利用につながっている</a:t>
            </a:r>
            <a:endParaRPr sz="1100"/>
          </a:p>
        </p:txBody>
      </p:sp>
      <p:sp>
        <p:nvSpPr>
          <p:cNvPr id="119" name="Google Shape;119;p16"/>
          <p:cNvSpPr/>
          <p:nvPr/>
        </p:nvSpPr>
        <p:spPr>
          <a:xfrm>
            <a:off x="614363" y="2686050"/>
            <a:ext cx="7886700" cy="385800"/>
          </a:xfrm>
          <a:prstGeom prst="roundRect">
            <a:avLst>
              <a:gd fmla="val 14815" name="adj"/>
            </a:avLst>
          </a:prstGeom>
          <a:solidFill>
            <a:srgbClr val="F8FBFE"/>
          </a:solidFill>
          <a:ln cap="flat" cmpd="sng" w="7150">
            <a:solidFill>
              <a:srgbClr val="DCE7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6"/>
          <p:cNvSpPr/>
          <p:nvPr/>
        </p:nvSpPr>
        <p:spPr>
          <a:xfrm>
            <a:off x="757238" y="2793206"/>
            <a:ext cx="5859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800">
                <a:solidFill>
                  <a:srgbClr val="1E3A5F"/>
                </a:solidFill>
                <a:latin typeface="Noto Sans"/>
                <a:ea typeface="Noto Sans"/>
                <a:cs typeface="Noto Sans"/>
                <a:sym typeface="Noto Sans"/>
              </a:rPr>
              <a:t>利用者B</a:t>
            </a:r>
            <a:endParaRPr sz="1100"/>
          </a:p>
        </p:txBody>
      </p:sp>
      <p:sp>
        <p:nvSpPr>
          <p:cNvPr id="121" name="Google Shape;121;p16"/>
          <p:cNvSpPr/>
          <p:nvPr/>
        </p:nvSpPr>
        <p:spPr>
          <a:xfrm>
            <a:off x="1528763" y="2771775"/>
            <a:ext cx="1057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6"/>
          <p:cNvSpPr/>
          <p:nvPr/>
        </p:nvSpPr>
        <p:spPr>
          <a:xfrm>
            <a:off x="1528763" y="2771775"/>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6"/>
          <p:cNvSpPr/>
          <p:nvPr/>
        </p:nvSpPr>
        <p:spPr>
          <a:xfrm>
            <a:off x="1571625" y="2793206"/>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4/18</a:t>
            </a:r>
            <a:endParaRPr sz="1100"/>
          </a:p>
        </p:txBody>
      </p:sp>
      <p:sp>
        <p:nvSpPr>
          <p:cNvPr id="124" name="Google Shape;124;p16"/>
          <p:cNvSpPr/>
          <p:nvPr/>
        </p:nvSpPr>
        <p:spPr>
          <a:xfrm>
            <a:off x="2043113" y="2793206"/>
            <a:ext cx="5001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デイ利用</a:t>
            </a:r>
            <a:endParaRPr sz="1100"/>
          </a:p>
        </p:txBody>
      </p:sp>
      <p:sp>
        <p:nvSpPr>
          <p:cNvPr id="125" name="Google Shape;125;p16"/>
          <p:cNvSpPr/>
          <p:nvPr/>
        </p:nvSpPr>
        <p:spPr>
          <a:xfrm>
            <a:off x="2600325" y="2764631"/>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26" name="Google Shape;126;p16"/>
          <p:cNvSpPr/>
          <p:nvPr/>
        </p:nvSpPr>
        <p:spPr>
          <a:xfrm>
            <a:off x="2728913" y="2771775"/>
            <a:ext cx="1057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6"/>
          <p:cNvSpPr/>
          <p:nvPr/>
        </p:nvSpPr>
        <p:spPr>
          <a:xfrm>
            <a:off x="2728913" y="2771775"/>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6"/>
          <p:cNvSpPr/>
          <p:nvPr/>
        </p:nvSpPr>
        <p:spPr>
          <a:xfrm>
            <a:off x="2771775" y="2793206"/>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5/02</a:t>
            </a:r>
            <a:endParaRPr sz="1100"/>
          </a:p>
        </p:txBody>
      </p:sp>
      <p:sp>
        <p:nvSpPr>
          <p:cNvPr id="129" name="Google Shape;129;p16"/>
          <p:cNvSpPr/>
          <p:nvPr/>
        </p:nvSpPr>
        <p:spPr>
          <a:xfrm>
            <a:off x="3243263" y="2793206"/>
            <a:ext cx="5001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デイ利用</a:t>
            </a:r>
            <a:endParaRPr sz="1100"/>
          </a:p>
        </p:txBody>
      </p:sp>
      <p:sp>
        <p:nvSpPr>
          <p:cNvPr id="130" name="Google Shape;130;p16"/>
          <p:cNvSpPr/>
          <p:nvPr/>
        </p:nvSpPr>
        <p:spPr>
          <a:xfrm>
            <a:off x="3800475" y="2764631"/>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31" name="Google Shape;131;p16"/>
          <p:cNvSpPr/>
          <p:nvPr/>
        </p:nvSpPr>
        <p:spPr>
          <a:xfrm>
            <a:off x="3929063" y="2771775"/>
            <a:ext cx="1057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6"/>
          <p:cNvSpPr/>
          <p:nvPr/>
        </p:nvSpPr>
        <p:spPr>
          <a:xfrm>
            <a:off x="3929063" y="2771775"/>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6"/>
          <p:cNvSpPr/>
          <p:nvPr/>
        </p:nvSpPr>
        <p:spPr>
          <a:xfrm>
            <a:off x="3971925" y="2793206"/>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5/16</a:t>
            </a:r>
            <a:endParaRPr sz="1100"/>
          </a:p>
        </p:txBody>
      </p:sp>
      <p:sp>
        <p:nvSpPr>
          <p:cNvPr id="134" name="Google Shape;134;p16"/>
          <p:cNvSpPr/>
          <p:nvPr/>
        </p:nvSpPr>
        <p:spPr>
          <a:xfrm>
            <a:off x="4443413" y="2793206"/>
            <a:ext cx="5001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デイ利用</a:t>
            </a:r>
            <a:endParaRPr sz="1100"/>
          </a:p>
        </p:txBody>
      </p:sp>
      <p:sp>
        <p:nvSpPr>
          <p:cNvPr id="135" name="Google Shape;135;p16"/>
          <p:cNvSpPr/>
          <p:nvPr/>
        </p:nvSpPr>
        <p:spPr>
          <a:xfrm>
            <a:off x="6357938" y="2736056"/>
            <a:ext cx="2000100" cy="2859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6"/>
          <p:cNvSpPr/>
          <p:nvPr/>
        </p:nvSpPr>
        <p:spPr>
          <a:xfrm>
            <a:off x="6472238" y="2778919"/>
            <a:ext cx="1771800" cy="200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1B2A3A"/>
                </a:solidFill>
                <a:latin typeface="Noto Sans"/>
                <a:ea typeface="Noto Sans"/>
                <a:cs typeface="Noto Sans"/>
                <a:sym typeface="Noto Sans"/>
              </a:rPr>
              <a:t>デイ接点はあるがショート未利用</a:t>
            </a:r>
            <a:endParaRPr sz="1100"/>
          </a:p>
        </p:txBody>
      </p:sp>
      <p:sp>
        <p:nvSpPr>
          <p:cNvPr id="137" name="Google Shape;137;p16"/>
          <p:cNvSpPr/>
          <p:nvPr/>
        </p:nvSpPr>
        <p:spPr>
          <a:xfrm>
            <a:off x="614363" y="3157538"/>
            <a:ext cx="7886700" cy="385800"/>
          </a:xfrm>
          <a:prstGeom prst="roundRect">
            <a:avLst>
              <a:gd fmla="val 14815" name="adj"/>
            </a:avLst>
          </a:prstGeom>
          <a:solidFill>
            <a:srgbClr val="F8FBFE"/>
          </a:solidFill>
          <a:ln cap="flat" cmpd="sng" w="7150">
            <a:solidFill>
              <a:srgbClr val="DCE7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6"/>
          <p:cNvSpPr/>
          <p:nvPr/>
        </p:nvSpPr>
        <p:spPr>
          <a:xfrm>
            <a:off x="757238" y="3264694"/>
            <a:ext cx="5859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800">
                <a:solidFill>
                  <a:srgbClr val="1E3A5F"/>
                </a:solidFill>
                <a:latin typeface="Noto Sans"/>
                <a:ea typeface="Noto Sans"/>
                <a:cs typeface="Noto Sans"/>
                <a:sym typeface="Noto Sans"/>
              </a:rPr>
              <a:t>利用者C</a:t>
            </a:r>
            <a:endParaRPr sz="1100"/>
          </a:p>
        </p:txBody>
      </p:sp>
      <p:sp>
        <p:nvSpPr>
          <p:cNvPr id="139" name="Google Shape;139;p16"/>
          <p:cNvSpPr/>
          <p:nvPr/>
        </p:nvSpPr>
        <p:spPr>
          <a:xfrm>
            <a:off x="1528763" y="3243263"/>
            <a:ext cx="1243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6"/>
          <p:cNvSpPr/>
          <p:nvPr/>
        </p:nvSpPr>
        <p:spPr>
          <a:xfrm>
            <a:off x="1528763" y="3243263"/>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6"/>
          <p:cNvSpPr/>
          <p:nvPr/>
        </p:nvSpPr>
        <p:spPr>
          <a:xfrm>
            <a:off x="1571625" y="3264694"/>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4/05</a:t>
            </a:r>
            <a:endParaRPr sz="1100"/>
          </a:p>
        </p:txBody>
      </p:sp>
      <p:sp>
        <p:nvSpPr>
          <p:cNvPr id="142" name="Google Shape;142;p16"/>
          <p:cNvSpPr/>
          <p:nvPr/>
        </p:nvSpPr>
        <p:spPr>
          <a:xfrm>
            <a:off x="2043113" y="3264694"/>
            <a:ext cx="6858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ショート開始</a:t>
            </a:r>
            <a:endParaRPr sz="1100"/>
          </a:p>
        </p:txBody>
      </p:sp>
      <p:sp>
        <p:nvSpPr>
          <p:cNvPr id="143" name="Google Shape;143;p16"/>
          <p:cNvSpPr/>
          <p:nvPr/>
        </p:nvSpPr>
        <p:spPr>
          <a:xfrm>
            <a:off x="2786063" y="3236119"/>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44" name="Google Shape;144;p16"/>
          <p:cNvSpPr/>
          <p:nvPr/>
        </p:nvSpPr>
        <p:spPr>
          <a:xfrm>
            <a:off x="2914650" y="3243263"/>
            <a:ext cx="1243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6"/>
          <p:cNvSpPr/>
          <p:nvPr/>
        </p:nvSpPr>
        <p:spPr>
          <a:xfrm>
            <a:off x="2914650" y="3243263"/>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6"/>
          <p:cNvSpPr/>
          <p:nvPr/>
        </p:nvSpPr>
        <p:spPr>
          <a:xfrm>
            <a:off x="2957513" y="3264694"/>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4/20</a:t>
            </a:r>
            <a:endParaRPr sz="1100"/>
          </a:p>
        </p:txBody>
      </p:sp>
      <p:sp>
        <p:nvSpPr>
          <p:cNvPr id="147" name="Google Shape;147;p16"/>
          <p:cNvSpPr/>
          <p:nvPr/>
        </p:nvSpPr>
        <p:spPr>
          <a:xfrm>
            <a:off x="3429000" y="3264694"/>
            <a:ext cx="6858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15日以上利用</a:t>
            </a:r>
            <a:endParaRPr sz="1100"/>
          </a:p>
        </p:txBody>
      </p:sp>
      <p:sp>
        <p:nvSpPr>
          <p:cNvPr id="148" name="Google Shape;148;p16"/>
          <p:cNvSpPr/>
          <p:nvPr/>
        </p:nvSpPr>
        <p:spPr>
          <a:xfrm>
            <a:off x="4171950" y="3236119"/>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49" name="Google Shape;149;p16"/>
          <p:cNvSpPr/>
          <p:nvPr/>
        </p:nvSpPr>
        <p:spPr>
          <a:xfrm>
            <a:off x="4300538" y="3243263"/>
            <a:ext cx="12432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6"/>
          <p:cNvSpPr/>
          <p:nvPr/>
        </p:nvSpPr>
        <p:spPr>
          <a:xfrm>
            <a:off x="4300538" y="3243263"/>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6"/>
          <p:cNvSpPr/>
          <p:nvPr/>
        </p:nvSpPr>
        <p:spPr>
          <a:xfrm>
            <a:off x="4343400" y="3264694"/>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5月</a:t>
            </a:r>
            <a:endParaRPr sz="1100"/>
          </a:p>
        </p:txBody>
      </p:sp>
      <p:sp>
        <p:nvSpPr>
          <p:cNvPr id="152" name="Google Shape;152;p16"/>
          <p:cNvSpPr/>
          <p:nvPr/>
        </p:nvSpPr>
        <p:spPr>
          <a:xfrm>
            <a:off x="4814888" y="3264694"/>
            <a:ext cx="6858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ロング未転換</a:t>
            </a:r>
            <a:endParaRPr sz="1100"/>
          </a:p>
        </p:txBody>
      </p:sp>
      <p:sp>
        <p:nvSpPr>
          <p:cNvPr id="153" name="Google Shape;153;p16"/>
          <p:cNvSpPr/>
          <p:nvPr/>
        </p:nvSpPr>
        <p:spPr>
          <a:xfrm>
            <a:off x="6357938" y="3207544"/>
            <a:ext cx="2000100" cy="2859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6"/>
          <p:cNvSpPr/>
          <p:nvPr/>
        </p:nvSpPr>
        <p:spPr>
          <a:xfrm>
            <a:off x="6472238" y="3250406"/>
            <a:ext cx="1771800" cy="200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1B2A3A"/>
                </a:solidFill>
                <a:latin typeface="Noto Sans"/>
                <a:ea typeface="Noto Sans"/>
                <a:cs typeface="Noto Sans"/>
                <a:sym typeface="Noto Sans"/>
              </a:rPr>
              <a:t>ロング相談・定期利用の確認候補</a:t>
            </a:r>
            <a:endParaRPr sz="1100"/>
          </a:p>
        </p:txBody>
      </p:sp>
      <p:sp>
        <p:nvSpPr>
          <p:cNvPr id="155" name="Google Shape;155;p16"/>
          <p:cNvSpPr/>
          <p:nvPr/>
        </p:nvSpPr>
        <p:spPr>
          <a:xfrm>
            <a:off x="614363" y="3629025"/>
            <a:ext cx="7886700" cy="385800"/>
          </a:xfrm>
          <a:prstGeom prst="roundRect">
            <a:avLst>
              <a:gd fmla="val 14815" name="adj"/>
            </a:avLst>
          </a:prstGeom>
          <a:solidFill>
            <a:srgbClr val="F8FBFE"/>
          </a:solidFill>
          <a:ln cap="flat" cmpd="sng" w="7150">
            <a:solidFill>
              <a:srgbClr val="DCE7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6"/>
          <p:cNvSpPr/>
          <p:nvPr/>
        </p:nvSpPr>
        <p:spPr>
          <a:xfrm>
            <a:off x="757238" y="3736181"/>
            <a:ext cx="5859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800">
                <a:solidFill>
                  <a:srgbClr val="1E3A5F"/>
                </a:solidFill>
                <a:latin typeface="Noto Sans"/>
                <a:ea typeface="Noto Sans"/>
                <a:cs typeface="Noto Sans"/>
                <a:sym typeface="Noto Sans"/>
              </a:rPr>
              <a:t>利用者D</a:t>
            </a:r>
            <a:endParaRPr sz="1100"/>
          </a:p>
        </p:txBody>
      </p:sp>
      <p:sp>
        <p:nvSpPr>
          <p:cNvPr id="157" name="Google Shape;157;p16"/>
          <p:cNvSpPr/>
          <p:nvPr/>
        </p:nvSpPr>
        <p:spPr>
          <a:xfrm>
            <a:off x="1528763" y="3714750"/>
            <a:ext cx="13290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6"/>
          <p:cNvSpPr/>
          <p:nvPr/>
        </p:nvSpPr>
        <p:spPr>
          <a:xfrm>
            <a:off x="1528763" y="3714750"/>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16"/>
          <p:cNvSpPr/>
          <p:nvPr/>
        </p:nvSpPr>
        <p:spPr>
          <a:xfrm>
            <a:off x="1571625" y="3736181"/>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5/10</a:t>
            </a:r>
            <a:endParaRPr sz="1100"/>
          </a:p>
        </p:txBody>
      </p:sp>
      <p:sp>
        <p:nvSpPr>
          <p:cNvPr id="160" name="Google Shape;160;p16"/>
          <p:cNvSpPr/>
          <p:nvPr/>
        </p:nvSpPr>
        <p:spPr>
          <a:xfrm>
            <a:off x="2043113" y="3736181"/>
            <a:ext cx="7716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ショート利用</a:t>
            </a:r>
            <a:endParaRPr sz="1100"/>
          </a:p>
        </p:txBody>
      </p:sp>
      <p:sp>
        <p:nvSpPr>
          <p:cNvPr id="161" name="Google Shape;161;p16"/>
          <p:cNvSpPr/>
          <p:nvPr/>
        </p:nvSpPr>
        <p:spPr>
          <a:xfrm>
            <a:off x="2871788" y="3707606"/>
            <a:ext cx="200100" cy="2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rgbClr val="3A6FA5"/>
                </a:solidFill>
                <a:latin typeface="Noto Sans"/>
                <a:ea typeface="Noto Sans"/>
                <a:cs typeface="Noto Sans"/>
                <a:sym typeface="Noto Sans"/>
              </a:rPr>
              <a:t>→</a:t>
            </a:r>
            <a:endParaRPr sz="1100"/>
          </a:p>
        </p:txBody>
      </p:sp>
      <p:sp>
        <p:nvSpPr>
          <p:cNvPr id="162" name="Google Shape;162;p16"/>
          <p:cNvSpPr/>
          <p:nvPr/>
        </p:nvSpPr>
        <p:spPr>
          <a:xfrm>
            <a:off x="3000375" y="3714750"/>
            <a:ext cx="1128900" cy="2145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16"/>
          <p:cNvSpPr/>
          <p:nvPr/>
        </p:nvSpPr>
        <p:spPr>
          <a:xfrm>
            <a:off x="3000375" y="3714750"/>
            <a:ext cx="457200" cy="214500"/>
          </a:xfrm>
          <a:prstGeom prst="roundRect">
            <a:avLst>
              <a:gd fmla="val 20000" name="adj"/>
            </a:avLst>
          </a:prstGeom>
          <a:solidFill>
            <a:srgbClr val="1E3A5F"/>
          </a:solidFill>
          <a:ln cap="flat" cmpd="sng" w="7150">
            <a:solidFill>
              <a:srgbClr val="1E3A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6"/>
          <p:cNvSpPr/>
          <p:nvPr/>
        </p:nvSpPr>
        <p:spPr>
          <a:xfrm>
            <a:off x="3043238" y="3736181"/>
            <a:ext cx="371400" cy="1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FFFFFF"/>
                </a:solidFill>
                <a:latin typeface="Noto Sans"/>
                <a:ea typeface="Noto Sans"/>
                <a:cs typeface="Noto Sans"/>
                <a:sym typeface="Noto Sans"/>
              </a:rPr>
              <a:t>以後</a:t>
            </a:r>
            <a:endParaRPr sz="1100"/>
          </a:p>
        </p:txBody>
      </p:sp>
      <p:sp>
        <p:nvSpPr>
          <p:cNvPr id="165" name="Google Shape;165;p16"/>
          <p:cNvSpPr/>
          <p:nvPr/>
        </p:nvSpPr>
        <p:spPr>
          <a:xfrm>
            <a:off x="3514725" y="3736181"/>
            <a:ext cx="571500" cy="17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ja" sz="700">
                <a:solidFill>
                  <a:srgbClr val="1B2A3A"/>
                </a:solidFill>
                <a:latin typeface="Noto Sans"/>
                <a:ea typeface="Noto Sans"/>
                <a:cs typeface="Noto Sans"/>
                <a:sym typeface="Noto Sans"/>
              </a:rPr>
              <a:t>再利用なし</a:t>
            </a:r>
            <a:endParaRPr sz="1100"/>
          </a:p>
        </p:txBody>
      </p:sp>
      <p:sp>
        <p:nvSpPr>
          <p:cNvPr id="166" name="Google Shape;166;p16"/>
          <p:cNvSpPr/>
          <p:nvPr/>
        </p:nvSpPr>
        <p:spPr>
          <a:xfrm>
            <a:off x="6357938" y="3679031"/>
            <a:ext cx="2000100" cy="285900"/>
          </a:xfrm>
          <a:prstGeom prst="roundRect">
            <a:avLst>
              <a:gd fmla="val 20000" name="adj"/>
            </a:avLst>
          </a:prstGeom>
          <a:solidFill>
            <a:srgbClr val="EAF1F8"/>
          </a:solidFill>
          <a:ln cap="flat" cmpd="sng" w="7150">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6"/>
          <p:cNvSpPr/>
          <p:nvPr/>
        </p:nvSpPr>
        <p:spPr>
          <a:xfrm>
            <a:off x="6472238" y="3721894"/>
            <a:ext cx="1771800" cy="200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700">
                <a:solidFill>
                  <a:srgbClr val="1B2A3A"/>
                </a:solidFill>
                <a:latin typeface="Noto Sans"/>
                <a:ea typeface="Noto Sans"/>
                <a:cs typeface="Noto Sans"/>
                <a:sym typeface="Noto Sans"/>
              </a:rPr>
              <a:t>再利用フォローの確認候補</a:t>
            </a:r>
            <a:endParaRPr sz="1100"/>
          </a:p>
        </p:txBody>
      </p:sp>
      <p:sp>
        <p:nvSpPr>
          <p:cNvPr id="168" name="Google Shape;168;p16"/>
          <p:cNvSpPr/>
          <p:nvPr/>
        </p:nvSpPr>
        <p:spPr>
          <a:xfrm>
            <a:off x="614363" y="4229100"/>
            <a:ext cx="7886700" cy="243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rgbClr val="5E7589"/>
                </a:solidFill>
                <a:latin typeface="Noto Sans"/>
                <a:ea typeface="Noto Sans"/>
                <a:cs typeface="Noto Sans"/>
                <a:sym typeface="Noto Sans"/>
              </a:rPr>
              <a:t>利用者ごとの履歴を日付で追うことで、どこで流れが止まり、次に誰を確認すべきかを整理した。</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7"/>
          <p:cNvSpPr/>
          <p:nvPr/>
        </p:nvSpPr>
        <p:spPr>
          <a:xfrm>
            <a:off x="617220" y="425196"/>
            <a:ext cx="425100" cy="425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75" name="Google Shape;175;p17"/>
          <p:cNvPicPr preferRelativeResize="0"/>
          <p:nvPr/>
        </p:nvPicPr>
        <p:blipFill rotWithShape="1">
          <a:blip r:embed="rId3">
            <a:alphaModFix/>
          </a:blip>
          <a:srcRect b="0" l="0" r="0" t="0"/>
          <a:stretch/>
        </p:blipFill>
        <p:spPr>
          <a:xfrm>
            <a:off x="727771" y="535747"/>
            <a:ext cx="204093" cy="204093"/>
          </a:xfrm>
          <a:prstGeom prst="rect">
            <a:avLst/>
          </a:prstGeom>
          <a:noFill/>
          <a:ln>
            <a:noFill/>
          </a:ln>
        </p:spPr>
      </p:pic>
      <p:sp>
        <p:nvSpPr>
          <p:cNvPr id="176" name="Google Shape;176;p17"/>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SLIDE </a:t>
            </a:r>
            <a:r>
              <a:rPr b="1" lang="ja" sz="800">
                <a:solidFill>
                  <a:srgbClr val="3A6FA5"/>
                </a:solidFill>
                <a:latin typeface="Noto Sans"/>
                <a:ea typeface="Noto Sans"/>
                <a:cs typeface="Noto Sans"/>
                <a:sym typeface="Noto Sans"/>
              </a:rPr>
              <a:t>4</a:t>
            </a:r>
            <a:r>
              <a:rPr b="1" i="0" lang="ja" sz="800" u="none" cap="none" strike="noStrike">
                <a:solidFill>
                  <a:srgbClr val="3A6FA5"/>
                </a:solidFill>
                <a:latin typeface="Noto Sans"/>
                <a:ea typeface="Noto Sans"/>
                <a:cs typeface="Noto Sans"/>
                <a:sym typeface="Noto Sans"/>
              </a:rPr>
              <a:t> ｜ 確認対象</a:t>
            </a:r>
            <a:endParaRPr b="0" i="0" sz="800" u="none" cap="none" strike="noStrike">
              <a:solidFill>
                <a:schemeClr val="dk1"/>
              </a:solidFill>
              <a:latin typeface="Calibri"/>
              <a:ea typeface="Calibri"/>
              <a:cs typeface="Calibri"/>
              <a:sym typeface="Calibri"/>
            </a:endParaRPr>
          </a:p>
        </p:txBody>
      </p:sp>
      <p:sp>
        <p:nvSpPr>
          <p:cNvPr id="177" name="Google Shape;177;p17"/>
          <p:cNvSpPr/>
          <p:nvPr/>
        </p:nvSpPr>
        <p:spPr>
          <a:xfrm>
            <a:off x="1179576" y="617220"/>
            <a:ext cx="73245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2000"/>
              <a:buFont typeface="Noto Sans"/>
              <a:buNone/>
            </a:pPr>
            <a:r>
              <a:rPr b="1" i="0" lang="ja" sz="2000" u="none" cap="none" strike="noStrike">
                <a:solidFill>
                  <a:srgbClr val="1B2A3A"/>
                </a:solidFill>
                <a:latin typeface="Noto Sans"/>
                <a:ea typeface="Noto Sans"/>
                <a:cs typeface="Noto Sans"/>
                <a:sym typeface="Noto Sans"/>
              </a:rPr>
              <a:t>フォローすべき利用者層</a:t>
            </a:r>
            <a:endParaRPr b="0" i="0" sz="2000" u="none" cap="none" strike="noStrike">
              <a:solidFill>
                <a:schemeClr val="dk1"/>
              </a:solidFill>
              <a:latin typeface="Calibri"/>
              <a:ea typeface="Calibri"/>
              <a:cs typeface="Calibri"/>
              <a:sym typeface="Calibri"/>
            </a:endParaRPr>
          </a:p>
        </p:txBody>
      </p:sp>
      <p:sp>
        <p:nvSpPr>
          <p:cNvPr id="178" name="Google Shape;178;p17"/>
          <p:cNvSpPr/>
          <p:nvPr/>
        </p:nvSpPr>
        <p:spPr>
          <a:xfrm>
            <a:off x="617220" y="1200150"/>
            <a:ext cx="7886700" cy="562200"/>
          </a:xfrm>
          <a:prstGeom prst="roundRect">
            <a:avLst>
              <a:gd fmla="val 9756" name="adj"/>
            </a:avLst>
          </a:prstGeom>
          <a:solidFill>
            <a:srgbClr val="EAF1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17"/>
          <p:cNvSpPr/>
          <p:nvPr/>
        </p:nvSpPr>
        <p:spPr>
          <a:xfrm>
            <a:off x="857250" y="1200150"/>
            <a:ext cx="7406400" cy="56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3A5F"/>
              </a:buClr>
              <a:buSzPts val="1100"/>
              <a:buFont typeface="Noto Sans"/>
              <a:buNone/>
            </a:pPr>
            <a:r>
              <a:rPr b="1" i="0" lang="ja" sz="1100" u="none" cap="none" strike="noStrike">
                <a:solidFill>
                  <a:srgbClr val="1E3A5F"/>
                </a:solidFill>
                <a:latin typeface="Noto Sans"/>
                <a:ea typeface="Noto Sans"/>
                <a:cs typeface="Noto Sans"/>
                <a:sym typeface="Noto Sans"/>
              </a:rPr>
              <a:t>ボトルネックを利用者層に分解することで、優先的に確認すべき対象が具体化した。</a:t>
            </a:r>
            <a:endParaRPr b="0" i="0" sz="1100" u="none" cap="none" strike="noStrike">
              <a:solidFill>
                <a:schemeClr val="dk1"/>
              </a:solidFill>
              <a:latin typeface="Calibri"/>
              <a:ea typeface="Calibri"/>
              <a:cs typeface="Calibri"/>
              <a:sym typeface="Calibri"/>
            </a:endParaRPr>
          </a:p>
        </p:txBody>
      </p:sp>
      <p:sp>
        <p:nvSpPr>
          <p:cNvPr id="180" name="Google Shape;180;p17"/>
          <p:cNvSpPr/>
          <p:nvPr/>
        </p:nvSpPr>
        <p:spPr>
          <a:xfrm>
            <a:off x="617220" y="1906524"/>
            <a:ext cx="7886700" cy="548400"/>
          </a:xfrm>
          <a:prstGeom prst="roundRect">
            <a:avLst>
              <a:gd fmla="val 7500" name="adj"/>
            </a:avLst>
          </a:prstGeom>
          <a:solidFill>
            <a:srgbClr val="F4F8FC"/>
          </a:solidFill>
          <a:ln cap="flat" cmpd="sng" w="9525">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17"/>
          <p:cNvSpPr/>
          <p:nvPr/>
        </p:nvSpPr>
        <p:spPr>
          <a:xfrm>
            <a:off x="754380" y="2050542"/>
            <a:ext cx="788700" cy="260700"/>
          </a:xfrm>
          <a:prstGeom prst="roundRect">
            <a:avLst>
              <a:gd fmla="val 15789" name="adj"/>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17"/>
          <p:cNvSpPr/>
          <p:nvPr/>
        </p:nvSpPr>
        <p:spPr>
          <a:xfrm>
            <a:off x="754380" y="2050542"/>
            <a:ext cx="788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ja" sz="1000" u="none" cap="none" strike="noStrike">
                <a:solidFill>
                  <a:srgbClr val="FFFFFF"/>
                </a:solidFill>
                <a:latin typeface="Noto Sans"/>
                <a:ea typeface="Noto Sans"/>
                <a:cs typeface="Noto Sans"/>
                <a:sym typeface="Noto Sans"/>
              </a:rPr>
              <a:t>短期</a:t>
            </a:r>
            <a:endParaRPr b="0" i="0" sz="1000" u="none" cap="none" strike="noStrike">
              <a:solidFill>
                <a:schemeClr val="dk1"/>
              </a:solidFill>
              <a:latin typeface="Calibri"/>
              <a:ea typeface="Calibri"/>
              <a:cs typeface="Calibri"/>
              <a:sym typeface="Calibri"/>
            </a:endParaRPr>
          </a:p>
        </p:txBody>
      </p:sp>
      <p:sp>
        <p:nvSpPr>
          <p:cNvPr id="183" name="Google Shape;183;p17"/>
          <p:cNvSpPr/>
          <p:nvPr/>
        </p:nvSpPr>
        <p:spPr>
          <a:xfrm>
            <a:off x="1680210" y="1906524"/>
            <a:ext cx="21261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100"/>
              <a:buFont typeface="Noto Sans"/>
              <a:buNone/>
            </a:pPr>
            <a:r>
              <a:rPr b="1" i="0" lang="ja" sz="1100" u="none" cap="none" strike="noStrike">
                <a:solidFill>
                  <a:srgbClr val="1B2A3A"/>
                </a:solidFill>
                <a:latin typeface="Noto Sans"/>
                <a:ea typeface="Noto Sans"/>
                <a:cs typeface="Noto Sans"/>
                <a:sym typeface="Noto Sans"/>
              </a:rPr>
              <a:t>直近ショート利用者</a:t>
            </a:r>
            <a:endParaRPr b="0" i="0" sz="1100" u="none" cap="none" strike="noStrike">
              <a:solidFill>
                <a:schemeClr val="dk1"/>
              </a:solidFill>
              <a:latin typeface="Calibri"/>
              <a:ea typeface="Calibri"/>
              <a:cs typeface="Calibri"/>
              <a:sym typeface="Calibri"/>
            </a:endParaRPr>
          </a:p>
        </p:txBody>
      </p:sp>
      <p:sp>
        <p:nvSpPr>
          <p:cNvPr id="184" name="Google Shape;184;p17"/>
          <p:cNvSpPr/>
          <p:nvPr/>
        </p:nvSpPr>
        <p:spPr>
          <a:xfrm>
            <a:off x="3874770" y="1906524"/>
            <a:ext cx="4491900" cy="548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ショート経験はあるが利用日数が少ない層。再利用・追加利用の可能性を確認する。</a:t>
            </a:r>
            <a:endParaRPr b="0" i="0" sz="900" u="none" cap="none" strike="noStrike">
              <a:solidFill>
                <a:schemeClr val="dk1"/>
              </a:solidFill>
              <a:latin typeface="Calibri"/>
              <a:ea typeface="Calibri"/>
              <a:cs typeface="Calibri"/>
              <a:sym typeface="Calibri"/>
            </a:endParaRPr>
          </a:p>
        </p:txBody>
      </p:sp>
      <p:sp>
        <p:nvSpPr>
          <p:cNvPr id="185" name="Google Shape;185;p17"/>
          <p:cNvSpPr/>
          <p:nvPr/>
        </p:nvSpPr>
        <p:spPr>
          <a:xfrm>
            <a:off x="617220" y="2551176"/>
            <a:ext cx="7886700" cy="548400"/>
          </a:xfrm>
          <a:prstGeom prst="roundRect">
            <a:avLst>
              <a:gd fmla="val 7500" name="adj"/>
            </a:avLst>
          </a:prstGeom>
          <a:solidFill>
            <a:srgbClr val="F4F8FC"/>
          </a:solidFill>
          <a:ln cap="flat" cmpd="sng" w="9525">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17"/>
          <p:cNvSpPr/>
          <p:nvPr/>
        </p:nvSpPr>
        <p:spPr>
          <a:xfrm>
            <a:off x="754380" y="2695194"/>
            <a:ext cx="788700" cy="260700"/>
          </a:xfrm>
          <a:prstGeom prst="roundRect">
            <a:avLst>
              <a:gd fmla="val 15789" name="adj"/>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17"/>
          <p:cNvSpPr/>
          <p:nvPr/>
        </p:nvSpPr>
        <p:spPr>
          <a:xfrm>
            <a:off x="754380" y="2695194"/>
            <a:ext cx="788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ja" sz="1000" u="none" cap="none" strike="noStrike">
                <a:solidFill>
                  <a:srgbClr val="FFFFFF"/>
                </a:solidFill>
                <a:latin typeface="Noto Sans"/>
                <a:ea typeface="Noto Sans"/>
                <a:cs typeface="Noto Sans"/>
                <a:sym typeface="Noto Sans"/>
              </a:rPr>
              <a:t>中期</a:t>
            </a:r>
            <a:endParaRPr b="0" i="0" sz="1000" u="none" cap="none" strike="noStrike">
              <a:solidFill>
                <a:schemeClr val="dk1"/>
              </a:solidFill>
              <a:latin typeface="Calibri"/>
              <a:ea typeface="Calibri"/>
              <a:cs typeface="Calibri"/>
              <a:sym typeface="Calibri"/>
            </a:endParaRPr>
          </a:p>
        </p:txBody>
      </p:sp>
      <p:sp>
        <p:nvSpPr>
          <p:cNvPr id="188" name="Google Shape;188;p17"/>
          <p:cNvSpPr/>
          <p:nvPr/>
        </p:nvSpPr>
        <p:spPr>
          <a:xfrm>
            <a:off x="1680210" y="2551176"/>
            <a:ext cx="21261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100"/>
              <a:buFont typeface="Noto Sans"/>
              <a:buNone/>
            </a:pPr>
            <a:r>
              <a:rPr b="1" i="0" lang="ja" sz="1100" u="none" cap="none" strike="noStrike">
                <a:solidFill>
                  <a:srgbClr val="1B2A3A"/>
                </a:solidFill>
                <a:latin typeface="Noto Sans"/>
                <a:ea typeface="Noto Sans"/>
                <a:cs typeface="Noto Sans"/>
                <a:sym typeface="Noto Sans"/>
              </a:rPr>
              <a:t>ショート15日以上利用者</a:t>
            </a:r>
            <a:endParaRPr b="0" i="0" sz="1100" u="none" cap="none" strike="noStrike">
              <a:solidFill>
                <a:schemeClr val="dk1"/>
              </a:solidFill>
              <a:latin typeface="Calibri"/>
              <a:ea typeface="Calibri"/>
              <a:cs typeface="Calibri"/>
              <a:sym typeface="Calibri"/>
            </a:endParaRPr>
          </a:p>
        </p:txBody>
      </p:sp>
      <p:sp>
        <p:nvSpPr>
          <p:cNvPr id="189" name="Google Shape;189;p17"/>
          <p:cNvSpPr/>
          <p:nvPr/>
        </p:nvSpPr>
        <p:spPr>
          <a:xfrm>
            <a:off x="3874770" y="2551176"/>
            <a:ext cx="4491900" cy="548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泊まり経験があり施設利用への理解が一定ある層。安定利用とロング相談の可能性を確認する。</a:t>
            </a:r>
            <a:endParaRPr b="0" i="0" sz="900" u="none" cap="none" strike="noStrike">
              <a:solidFill>
                <a:schemeClr val="dk1"/>
              </a:solidFill>
              <a:latin typeface="Calibri"/>
              <a:ea typeface="Calibri"/>
              <a:cs typeface="Calibri"/>
              <a:sym typeface="Calibri"/>
            </a:endParaRPr>
          </a:p>
        </p:txBody>
      </p:sp>
      <p:sp>
        <p:nvSpPr>
          <p:cNvPr id="190" name="Google Shape;190;p17"/>
          <p:cNvSpPr/>
          <p:nvPr/>
        </p:nvSpPr>
        <p:spPr>
          <a:xfrm>
            <a:off x="617220" y="3195828"/>
            <a:ext cx="7886700" cy="548400"/>
          </a:xfrm>
          <a:prstGeom prst="roundRect">
            <a:avLst>
              <a:gd fmla="val 7500" name="adj"/>
            </a:avLst>
          </a:prstGeom>
          <a:solidFill>
            <a:srgbClr val="F4F8FC"/>
          </a:solidFill>
          <a:ln cap="flat" cmpd="sng" w="9525">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17"/>
          <p:cNvSpPr/>
          <p:nvPr/>
        </p:nvSpPr>
        <p:spPr>
          <a:xfrm>
            <a:off x="754380" y="3339846"/>
            <a:ext cx="788700" cy="260700"/>
          </a:xfrm>
          <a:prstGeom prst="roundRect">
            <a:avLst>
              <a:gd fmla="val 15789" name="adj"/>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17"/>
          <p:cNvSpPr/>
          <p:nvPr/>
        </p:nvSpPr>
        <p:spPr>
          <a:xfrm>
            <a:off x="754380" y="3339846"/>
            <a:ext cx="788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ja" sz="1000" u="none" cap="none" strike="noStrike">
                <a:solidFill>
                  <a:srgbClr val="FFFFFF"/>
                </a:solidFill>
                <a:latin typeface="Noto Sans"/>
                <a:ea typeface="Noto Sans"/>
                <a:cs typeface="Noto Sans"/>
                <a:sym typeface="Noto Sans"/>
              </a:rPr>
              <a:t>重点</a:t>
            </a:r>
            <a:endParaRPr b="0" i="0" sz="1000" u="none" cap="none" strike="noStrike">
              <a:solidFill>
                <a:schemeClr val="dk1"/>
              </a:solidFill>
              <a:latin typeface="Calibri"/>
              <a:ea typeface="Calibri"/>
              <a:cs typeface="Calibri"/>
              <a:sym typeface="Calibri"/>
            </a:endParaRPr>
          </a:p>
        </p:txBody>
      </p:sp>
      <p:sp>
        <p:nvSpPr>
          <p:cNvPr id="193" name="Google Shape;193;p17"/>
          <p:cNvSpPr/>
          <p:nvPr/>
        </p:nvSpPr>
        <p:spPr>
          <a:xfrm>
            <a:off x="1680210" y="3195828"/>
            <a:ext cx="21261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100"/>
              <a:buFont typeface="Noto Sans"/>
              <a:buNone/>
            </a:pPr>
            <a:r>
              <a:rPr b="1" i="0" lang="ja" sz="1100" u="none" cap="none" strike="noStrike">
                <a:solidFill>
                  <a:srgbClr val="1B2A3A"/>
                </a:solidFill>
                <a:latin typeface="Noto Sans"/>
                <a:ea typeface="Noto Sans"/>
                <a:cs typeface="Noto Sans"/>
                <a:sym typeface="Noto Sans"/>
              </a:rPr>
              <a:t>3F 候補</a:t>
            </a:r>
            <a:endParaRPr b="0" i="0" sz="1100" u="none" cap="none" strike="noStrike">
              <a:solidFill>
                <a:schemeClr val="dk1"/>
              </a:solidFill>
              <a:latin typeface="Calibri"/>
              <a:ea typeface="Calibri"/>
              <a:cs typeface="Calibri"/>
              <a:sym typeface="Calibri"/>
            </a:endParaRPr>
          </a:p>
        </p:txBody>
      </p:sp>
      <p:sp>
        <p:nvSpPr>
          <p:cNvPr id="194" name="Google Shape;194;p17"/>
          <p:cNvSpPr/>
          <p:nvPr/>
        </p:nvSpPr>
        <p:spPr>
          <a:xfrm>
            <a:off x="3874770" y="3195828"/>
            <a:ext cx="4491900" cy="548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空床が残る3Fは既存候補だけでは埋めにくく、新規ショート候補を広げる視点が必要。</a:t>
            </a:r>
            <a:endParaRPr b="0" i="0" sz="900" u="none" cap="none" strike="noStrike">
              <a:solidFill>
                <a:schemeClr val="dk1"/>
              </a:solidFill>
              <a:latin typeface="Calibri"/>
              <a:ea typeface="Calibri"/>
              <a:cs typeface="Calibri"/>
              <a:sym typeface="Calibri"/>
            </a:endParaRPr>
          </a:p>
        </p:txBody>
      </p:sp>
      <p:sp>
        <p:nvSpPr>
          <p:cNvPr id="195" name="Google Shape;195;p17"/>
          <p:cNvSpPr/>
          <p:nvPr/>
        </p:nvSpPr>
        <p:spPr>
          <a:xfrm>
            <a:off x="617220" y="3840480"/>
            <a:ext cx="7886700" cy="548400"/>
          </a:xfrm>
          <a:prstGeom prst="roundRect">
            <a:avLst>
              <a:gd fmla="val 7500" name="adj"/>
            </a:avLst>
          </a:prstGeom>
          <a:solidFill>
            <a:srgbClr val="F4F8FC"/>
          </a:solidFill>
          <a:ln cap="flat" cmpd="sng" w="9525">
            <a:solidFill>
              <a:srgbClr val="D2DE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17"/>
          <p:cNvSpPr/>
          <p:nvPr/>
        </p:nvSpPr>
        <p:spPr>
          <a:xfrm>
            <a:off x="754380" y="3984498"/>
            <a:ext cx="788700" cy="260700"/>
          </a:xfrm>
          <a:prstGeom prst="roundRect">
            <a:avLst>
              <a:gd fmla="val 15789" name="adj"/>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17"/>
          <p:cNvSpPr/>
          <p:nvPr/>
        </p:nvSpPr>
        <p:spPr>
          <a:xfrm>
            <a:off x="754380" y="3984498"/>
            <a:ext cx="7887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ja" sz="1000" u="none" cap="none" strike="noStrike">
                <a:solidFill>
                  <a:srgbClr val="FFFFFF"/>
                </a:solidFill>
                <a:latin typeface="Noto Sans"/>
                <a:ea typeface="Noto Sans"/>
                <a:cs typeface="Noto Sans"/>
                <a:sym typeface="Noto Sans"/>
              </a:rPr>
              <a:t>長期</a:t>
            </a:r>
            <a:endParaRPr b="0" i="0" sz="1000" u="none" cap="none" strike="noStrike">
              <a:solidFill>
                <a:schemeClr val="dk1"/>
              </a:solidFill>
              <a:latin typeface="Calibri"/>
              <a:ea typeface="Calibri"/>
              <a:cs typeface="Calibri"/>
              <a:sym typeface="Calibri"/>
            </a:endParaRPr>
          </a:p>
        </p:txBody>
      </p:sp>
      <p:sp>
        <p:nvSpPr>
          <p:cNvPr id="198" name="Google Shape;198;p17"/>
          <p:cNvSpPr/>
          <p:nvPr/>
        </p:nvSpPr>
        <p:spPr>
          <a:xfrm>
            <a:off x="1680210" y="3840480"/>
            <a:ext cx="21261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100"/>
              <a:buFont typeface="Noto Sans"/>
              <a:buNone/>
            </a:pPr>
            <a:r>
              <a:rPr b="1" i="0" lang="ja" sz="1100" u="none" cap="none" strike="noStrike">
                <a:solidFill>
                  <a:srgbClr val="1B2A3A"/>
                </a:solidFill>
                <a:latin typeface="Noto Sans"/>
                <a:ea typeface="Noto Sans"/>
                <a:cs typeface="Noto Sans"/>
                <a:sym typeface="Noto Sans"/>
              </a:rPr>
              <a:t>デイ高頻度者</a:t>
            </a:r>
            <a:endParaRPr b="0" i="0" sz="1100" u="none" cap="none" strike="noStrike">
              <a:solidFill>
                <a:schemeClr val="dk1"/>
              </a:solidFill>
              <a:latin typeface="Calibri"/>
              <a:ea typeface="Calibri"/>
              <a:cs typeface="Calibri"/>
              <a:sym typeface="Calibri"/>
            </a:endParaRPr>
          </a:p>
        </p:txBody>
      </p:sp>
      <p:sp>
        <p:nvSpPr>
          <p:cNvPr id="199" name="Google Shape;199;p17"/>
          <p:cNvSpPr/>
          <p:nvPr/>
        </p:nvSpPr>
        <p:spPr>
          <a:xfrm>
            <a:off x="3874770" y="3840480"/>
            <a:ext cx="4491900" cy="548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施設接点は強いが入所未利用の層。初回ショートにつながる母集団として見る。</a:t>
            </a:r>
            <a:endParaRPr b="0" i="0" sz="900" u="none" cap="none" strike="noStrike">
              <a:solidFill>
                <a:schemeClr val="dk1"/>
              </a:solidFill>
              <a:latin typeface="Calibri"/>
              <a:ea typeface="Calibri"/>
              <a:cs typeface="Calibri"/>
              <a:sym typeface="Calibri"/>
            </a:endParaRPr>
          </a:p>
        </p:txBody>
      </p:sp>
      <p:sp>
        <p:nvSpPr>
          <p:cNvPr id="200" name="Google Shape;200;p17"/>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201" name="Google Shape;201;p17"/>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8"/>
          <p:cNvSpPr/>
          <p:nvPr/>
        </p:nvSpPr>
        <p:spPr>
          <a:xfrm>
            <a:off x="617220" y="425196"/>
            <a:ext cx="425100" cy="425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08" name="Google Shape;208;p18"/>
          <p:cNvPicPr preferRelativeResize="0"/>
          <p:nvPr/>
        </p:nvPicPr>
        <p:blipFill rotWithShape="1">
          <a:blip r:embed="rId3">
            <a:alphaModFix/>
          </a:blip>
          <a:srcRect b="0" l="0" r="0" t="0"/>
          <a:stretch/>
        </p:blipFill>
        <p:spPr>
          <a:xfrm>
            <a:off x="727771" y="535747"/>
            <a:ext cx="204093" cy="204093"/>
          </a:xfrm>
          <a:prstGeom prst="rect">
            <a:avLst/>
          </a:prstGeom>
          <a:noFill/>
          <a:ln>
            <a:noFill/>
          </a:ln>
        </p:spPr>
      </p:pic>
      <p:sp>
        <p:nvSpPr>
          <p:cNvPr id="209" name="Google Shape;209;p18"/>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SLIDE </a:t>
            </a:r>
            <a:r>
              <a:rPr b="1" lang="ja" sz="800">
                <a:solidFill>
                  <a:srgbClr val="3A6FA5"/>
                </a:solidFill>
                <a:latin typeface="Noto Sans"/>
                <a:ea typeface="Noto Sans"/>
                <a:cs typeface="Noto Sans"/>
                <a:sym typeface="Noto Sans"/>
              </a:rPr>
              <a:t>5</a:t>
            </a:r>
            <a:r>
              <a:rPr b="1" i="0" lang="ja" sz="800" u="none" cap="none" strike="noStrike">
                <a:solidFill>
                  <a:srgbClr val="3A6FA5"/>
                </a:solidFill>
                <a:latin typeface="Noto Sans"/>
                <a:ea typeface="Noto Sans"/>
                <a:cs typeface="Noto Sans"/>
                <a:sym typeface="Noto Sans"/>
              </a:rPr>
              <a:t> ｜ 運用課題</a:t>
            </a:r>
            <a:endParaRPr b="0" i="0" sz="800" u="none" cap="none" strike="noStrike">
              <a:solidFill>
                <a:schemeClr val="dk1"/>
              </a:solidFill>
              <a:latin typeface="Calibri"/>
              <a:ea typeface="Calibri"/>
              <a:cs typeface="Calibri"/>
              <a:sym typeface="Calibri"/>
            </a:endParaRPr>
          </a:p>
        </p:txBody>
      </p:sp>
      <p:sp>
        <p:nvSpPr>
          <p:cNvPr id="210" name="Google Shape;210;p18"/>
          <p:cNvSpPr/>
          <p:nvPr/>
        </p:nvSpPr>
        <p:spPr>
          <a:xfrm>
            <a:off x="1179576" y="617220"/>
            <a:ext cx="73245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2000"/>
              <a:buFont typeface="Noto Sans"/>
              <a:buNone/>
            </a:pPr>
            <a:r>
              <a:rPr b="1" i="0" lang="ja" sz="2000" u="none" cap="none" strike="noStrike">
                <a:solidFill>
                  <a:srgbClr val="1B2A3A"/>
                </a:solidFill>
                <a:latin typeface="Noto Sans"/>
                <a:ea typeface="Noto Sans"/>
                <a:cs typeface="Noto Sans"/>
                <a:sym typeface="Noto Sans"/>
              </a:rPr>
              <a:t>継続運用に向けた課題</a:t>
            </a:r>
            <a:endParaRPr b="0" i="0" sz="2000" u="none" cap="none" strike="noStrike">
              <a:solidFill>
                <a:schemeClr val="dk1"/>
              </a:solidFill>
              <a:latin typeface="Calibri"/>
              <a:ea typeface="Calibri"/>
              <a:cs typeface="Calibri"/>
              <a:sym typeface="Calibri"/>
            </a:endParaRPr>
          </a:p>
        </p:txBody>
      </p:sp>
      <p:sp>
        <p:nvSpPr>
          <p:cNvPr id="211" name="Google Shape;211;p18"/>
          <p:cNvSpPr/>
          <p:nvPr/>
        </p:nvSpPr>
        <p:spPr>
          <a:xfrm>
            <a:off x="617220" y="1200150"/>
            <a:ext cx="7886700" cy="562200"/>
          </a:xfrm>
          <a:prstGeom prst="roundRect">
            <a:avLst>
              <a:gd fmla="val 9756" name="adj"/>
            </a:avLst>
          </a:prstGeom>
          <a:solidFill>
            <a:srgbClr val="EAF1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18"/>
          <p:cNvSpPr/>
          <p:nvPr/>
        </p:nvSpPr>
        <p:spPr>
          <a:xfrm>
            <a:off x="857250" y="1200150"/>
            <a:ext cx="7406400" cy="56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3A5F"/>
              </a:buClr>
              <a:buSzPts val="1100"/>
              <a:buFont typeface="Noto Sans"/>
              <a:buNone/>
            </a:pPr>
            <a:r>
              <a:rPr b="1" i="0" lang="ja" sz="1100" u="none" cap="none" strike="noStrike">
                <a:solidFill>
                  <a:srgbClr val="1E3A5F"/>
                </a:solidFill>
                <a:latin typeface="Noto Sans"/>
                <a:ea typeface="Noto Sans"/>
                <a:cs typeface="Noto Sans"/>
                <a:sym typeface="Noto Sans"/>
              </a:rPr>
              <a:t>利用者単位の追跡は有効だった一方で、まだ手作業が多く、継続的に回せる仕組みにはなっていない。</a:t>
            </a:r>
            <a:endParaRPr b="0" i="0" sz="1100" u="none" cap="none" strike="noStrike">
              <a:solidFill>
                <a:schemeClr val="dk1"/>
              </a:solidFill>
              <a:latin typeface="Calibri"/>
              <a:ea typeface="Calibri"/>
              <a:cs typeface="Calibri"/>
              <a:sym typeface="Calibri"/>
            </a:endParaRPr>
          </a:p>
        </p:txBody>
      </p:sp>
      <p:sp>
        <p:nvSpPr>
          <p:cNvPr id="213" name="Google Shape;213;p18"/>
          <p:cNvSpPr/>
          <p:nvPr/>
        </p:nvSpPr>
        <p:spPr>
          <a:xfrm>
            <a:off x="617220" y="2023110"/>
            <a:ext cx="2400300" cy="2126100"/>
          </a:xfrm>
          <a:prstGeom prst="roundRect">
            <a:avLst>
              <a:gd fmla="val 2581"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18"/>
          <p:cNvSpPr/>
          <p:nvPr/>
        </p:nvSpPr>
        <p:spPr>
          <a:xfrm>
            <a:off x="857250" y="2242566"/>
            <a:ext cx="377100" cy="377100"/>
          </a:xfrm>
          <a:prstGeom prst="ellipse">
            <a:avLst/>
          </a:prstGeom>
          <a:solidFill>
            <a:srgbClr val="3A6F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15" name="Google Shape;215;p18"/>
          <p:cNvPicPr preferRelativeResize="0"/>
          <p:nvPr/>
        </p:nvPicPr>
        <p:blipFill rotWithShape="1">
          <a:blip r:embed="rId4">
            <a:alphaModFix/>
          </a:blip>
          <a:srcRect b="0" l="0" r="0" t="0"/>
          <a:stretch/>
        </p:blipFill>
        <p:spPr>
          <a:xfrm>
            <a:off x="955319" y="2340635"/>
            <a:ext cx="181052" cy="181052"/>
          </a:xfrm>
          <a:prstGeom prst="rect">
            <a:avLst/>
          </a:prstGeom>
          <a:noFill/>
          <a:ln>
            <a:noFill/>
          </a:ln>
        </p:spPr>
      </p:pic>
      <p:sp>
        <p:nvSpPr>
          <p:cNvPr id="216" name="Google Shape;216;p18"/>
          <p:cNvSpPr/>
          <p:nvPr/>
        </p:nvSpPr>
        <p:spPr>
          <a:xfrm>
            <a:off x="1316736" y="2242566"/>
            <a:ext cx="1577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200"/>
              <a:buFont typeface="Noto Sans"/>
              <a:buNone/>
            </a:pPr>
            <a:r>
              <a:rPr b="1" i="0" lang="ja" sz="1200" u="none" cap="none" strike="noStrike">
                <a:solidFill>
                  <a:srgbClr val="1B2A3A"/>
                </a:solidFill>
                <a:latin typeface="Noto Sans"/>
                <a:ea typeface="Noto Sans"/>
                <a:cs typeface="Noto Sans"/>
                <a:sym typeface="Noto Sans"/>
              </a:rPr>
              <a:t>今回できたこと</a:t>
            </a:r>
            <a:endParaRPr b="0" i="0" sz="1200" u="none" cap="none" strike="noStrike">
              <a:solidFill>
                <a:schemeClr val="dk1"/>
              </a:solidFill>
              <a:latin typeface="Calibri"/>
              <a:ea typeface="Calibri"/>
              <a:cs typeface="Calibri"/>
              <a:sym typeface="Calibri"/>
            </a:endParaRPr>
          </a:p>
        </p:txBody>
      </p:sp>
      <p:sp>
        <p:nvSpPr>
          <p:cNvPr id="217" name="Google Shape;217;p18"/>
          <p:cNvSpPr/>
          <p:nvPr/>
        </p:nvSpPr>
        <p:spPr>
          <a:xfrm>
            <a:off x="891540" y="2811780"/>
            <a:ext cx="1885800" cy="1200300"/>
          </a:xfrm>
          <a:prstGeom prst="rect">
            <a:avLst/>
          </a:prstGeom>
          <a:noFill/>
          <a:ln>
            <a:noFill/>
          </a:ln>
        </p:spPr>
        <p:txBody>
          <a:bodyPr anchorCtr="0" anchor="t" bIns="34275" lIns="68575" spcFirstLastPara="1" rIns="68575" wrap="square" tIns="34275">
            <a:noAutofit/>
          </a:bodyPr>
          <a:lstStyle/>
          <a:p>
            <a:pPr indent="-139700" lvl="0" marL="139700" marR="0" rtl="0" algn="l">
              <a:spcBef>
                <a:spcPts val="0"/>
              </a:spcBef>
              <a:spcAft>
                <a:spcPts val="0"/>
              </a:spcAft>
              <a:buClr>
                <a:srgbClr val="1B2A3A"/>
              </a:buClr>
              <a:buSzPts val="1000"/>
              <a:buFont typeface="Noto Sans"/>
              <a:buChar char="•"/>
            </a:pPr>
            <a:r>
              <a:rPr b="0" i="0" lang="ja" sz="1000" u="none" cap="none" strike="noStrike">
                <a:solidFill>
                  <a:srgbClr val="1B2A3A"/>
                </a:solidFill>
                <a:latin typeface="Noto Sans"/>
                <a:ea typeface="Noto Sans"/>
                <a:cs typeface="Noto Sans"/>
                <a:sym typeface="Noto Sans"/>
              </a:rPr>
              <a:t>利用者単位での流れの追跡</a:t>
            </a:r>
            <a:endParaRPr b="0" i="0" sz="1000" u="none" cap="none" strike="noStrike">
              <a:solidFill>
                <a:schemeClr val="dk1"/>
              </a:solidFill>
              <a:latin typeface="Calibri"/>
              <a:ea typeface="Calibri"/>
              <a:cs typeface="Calibri"/>
              <a:sym typeface="Calibri"/>
            </a:endParaRPr>
          </a:p>
          <a:p>
            <a:pPr indent="-139700" lvl="0" marL="139700" marR="0" rtl="0" algn="l">
              <a:spcBef>
                <a:spcPts val="700"/>
              </a:spcBef>
              <a:spcAft>
                <a:spcPts val="0"/>
              </a:spcAft>
              <a:buClr>
                <a:srgbClr val="1B2A3A"/>
              </a:buClr>
              <a:buSzPts val="1000"/>
              <a:buFont typeface="Noto Sans"/>
              <a:buChar char="•"/>
            </a:pPr>
            <a:r>
              <a:rPr b="0" i="0" lang="ja" sz="1000" u="none" cap="none" strike="noStrike">
                <a:solidFill>
                  <a:srgbClr val="1B2A3A"/>
                </a:solidFill>
                <a:latin typeface="Noto Sans"/>
                <a:ea typeface="Noto Sans"/>
                <a:cs typeface="Noto Sans"/>
                <a:sym typeface="Noto Sans"/>
              </a:rPr>
              <a:t>ボトルネックの構造的な整理</a:t>
            </a:r>
            <a:endParaRPr b="0" i="0" sz="1000" u="none" cap="none" strike="noStrike">
              <a:solidFill>
                <a:schemeClr val="dk1"/>
              </a:solidFill>
              <a:latin typeface="Calibri"/>
              <a:ea typeface="Calibri"/>
              <a:cs typeface="Calibri"/>
              <a:sym typeface="Calibri"/>
            </a:endParaRPr>
          </a:p>
          <a:p>
            <a:pPr indent="-139700" lvl="0" marL="139700" marR="0" rtl="0" algn="l">
              <a:spcBef>
                <a:spcPts val="700"/>
              </a:spcBef>
              <a:spcAft>
                <a:spcPts val="0"/>
              </a:spcAft>
              <a:buClr>
                <a:srgbClr val="1B2A3A"/>
              </a:buClr>
              <a:buSzPts val="1000"/>
              <a:buFont typeface="Noto Sans"/>
              <a:buChar char="•"/>
            </a:pPr>
            <a:r>
              <a:rPr b="0" i="0" lang="ja" sz="1000" u="none" cap="none" strike="noStrike">
                <a:solidFill>
                  <a:srgbClr val="1B2A3A"/>
                </a:solidFill>
                <a:latin typeface="Noto Sans"/>
                <a:ea typeface="Noto Sans"/>
                <a:cs typeface="Noto Sans"/>
                <a:sym typeface="Noto Sans"/>
              </a:rPr>
              <a:t>確認すべき利用者層の特定</a:t>
            </a:r>
            <a:endParaRPr b="0" i="0" sz="1000" u="none" cap="none" strike="noStrike">
              <a:solidFill>
                <a:schemeClr val="dk1"/>
              </a:solidFill>
              <a:latin typeface="Calibri"/>
              <a:ea typeface="Calibri"/>
              <a:cs typeface="Calibri"/>
              <a:sym typeface="Calibri"/>
            </a:endParaRPr>
          </a:p>
        </p:txBody>
      </p:sp>
      <p:sp>
        <p:nvSpPr>
          <p:cNvPr id="218" name="Google Shape;218;p18"/>
          <p:cNvSpPr/>
          <p:nvPr/>
        </p:nvSpPr>
        <p:spPr>
          <a:xfrm>
            <a:off x="3360420" y="2023110"/>
            <a:ext cx="2400300" cy="2126100"/>
          </a:xfrm>
          <a:prstGeom prst="roundRect">
            <a:avLst>
              <a:gd fmla="val 2581"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18"/>
          <p:cNvSpPr/>
          <p:nvPr/>
        </p:nvSpPr>
        <p:spPr>
          <a:xfrm>
            <a:off x="3600450" y="2242566"/>
            <a:ext cx="377100" cy="377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20" name="Google Shape;220;p18"/>
          <p:cNvPicPr preferRelativeResize="0"/>
          <p:nvPr/>
        </p:nvPicPr>
        <p:blipFill rotWithShape="1">
          <a:blip r:embed="rId3">
            <a:alphaModFix/>
          </a:blip>
          <a:srcRect b="0" l="0" r="0" t="0"/>
          <a:stretch/>
        </p:blipFill>
        <p:spPr>
          <a:xfrm>
            <a:off x="3698519" y="2340635"/>
            <a:ext cx="181052" cy="181052"/>
          </a:xfrm>
          <a:prstGeom prst="rect">
            <a:avLst/>
          </a:prstGeom>
          <a:noFill/>
          <a:ln>
            <a:noFill/>
          </a:ln>
        </p:spPr>
      </p:pic>
      <p:sp>
        <p:nvSpPr>
          <p:cNvPr id="221" name="Google Shape;221;p18"/>
          <p:cNvSpPr/>
          <p:nvPr/>
        </p:nvSpPr>
        <p:spPr>
          <a:xfrm>
            <a:off x="4059936" y="2242566"/>
            <a:ext cx="1577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200"/>
              <a:buFont typeface="Noto Sans"/>
              <a:buNone/>
            </a:pPr>
            <a:r>
              <a:rPr b="1" i="0" lang="ja" sz="1200" u="none" cap="none" strike="noStrike">
                <a:solidFill>
                  <a:srgbClr val="1B2A3A"/>
                </a:solidFill>
                <a:latin typeface="Noto Sans"/>
                <a:ea typeface="Noto Sans"/>
                <a:cs typeface="Noto Sans"/>
                <a:sym typeface="Noto Sans"/>
              </a:rPr>
              <a:t>残っている課題</a:t>
            </a:r>
            <a:endParaRPr b="0" i="0" sz="1200" u="none" cap="none" strike="noStrike">
              <a:solidFill>
                <a:schemeClr val="dk1"/>
              </a:solidFill>
              <a:latin typeface="Calibri"/>
              <a:ea typeface="Calibri"/>
              <a:cs typeface="Calibri"/>
              <a:sym typeface="Calibri"/>
            </a:endParaRPr>
          </a:p>
        </p:txBody>
      </p:sp>
      <p:sp>
        <p:nvSpPr>
          <p:cNvPr id="222" name="Google Shape;222;p18"/>
          <p:cNvSpPr/>
          <p:nvPr/>
        </p:nvSpPr>
        <p:spPr>
          <a:xfrm>
            <a:off x="3634740" y="2811780"/>
            <a:ext cx="1885800" cy="1200300"/>
          </a:xfrm>
          <a:prstGeom prst="rect">
            <a:avLst/>
          </a:prstGeom>
          <a:noFill/>
          <a:ln>
            <a:noFill/>
          </a:ln>
        </p:spPr>
        <p:txBody>
          <a:bodyPr anchorCtr="0" anchor="t" bIns="34275" lIns="68575" spcFirstLastPara="1" rIns="68575" wrap="square" tIns="34275">
            <a:noAutofit/>
          </a:bodyPr>
          <a:lstStyle/>
          <a:p>
            <a:pPr indent="-139700" lvl="0" marL="139700" marR="0" rtl="0" algn="l">
              <a:spcBef>
                <a:spcPts val="700"/>
              </a:spcBef>
              <a:spcAft>
                <a:spcPts val="0"/>
              </a:spcAft>
              <a:buClr>
                <a:srgbClr val="1B2A3A"/>
              </a:buClr>
              <a:buSzPts val="1000"/>
              <a:buFont typeface="Noto Sans"/>
              <a:buChar char="•"/>
            </a:pPr>
            <a:r>
              <a:rPr lang="ja" sz="1000">
                <a:solidFill>
                  <a:srgbClr val="1B2A3A"/>
                </a:solidFill>
                <a:latin typeface="Noto Sans"/>
                <a:ea typeface="Noto Sans"/>
                <a:cs typeface="Noto Sans"/>
                <a:sym typeface="Noto Sans"/>
              </a:rPr>
              <a:t>利用者単位の分析が手動中心</a:t>
            </a:r>
            <a:endParaRPr sz="1000">
              <a:solidFill>
                <a:srgbClr val="1B2A3A"/>
              </a:solidFill>
              <a:latin typeface="Noto Sans"/>
              <a:ea typeface="Noto Sans"/>
              <a:cs typeface="Noto Sans"/>
              <a:sym typeface="Noto Sans"/>
            </a:endParaRPr>
          </a:p>
          <a:p>
            <a:pPr indent="-139700" lvl="0" marL="139700" marR="0" rtl="0" algn="l">
              <a:spcBef>
                <a:spcPts val="700"/>
              </a:spcBef>
              <a:spcAft>
                <a:spcPts val="0"/>
              </a:spcAft>
              <a:buClr>
                <a:srgbClr val="1B2A3A"/>
              </a:buClr>
              <a:buSzPts val="1000"/>
              <a:buFont typeface="Noto Sans"/>
              <a:buChar char="•"/>
            </a:pPr>
            <a:r>
              <a:rPr lang="ja" sz="1000">
                <a:solidFill>
                  <a:srgbClr val="1B2A3A"/>
                </a:solidFill>
                <a:latin typeface="Noto Sans"/>
                <a:ea typeface="Noto Sans"/>
                <a:cs typeface="Noto Sans"/>
                <a:sym typeface="Noto Sans"/>
              </a:rPr>
              <a:t>現場情報とリアルタイムに連動していない</a:t>
            </a:r>
            <a:endParaRPr sz="1000">
              <a:solidFill>
                <a:srgbClr val="1B2A3A"/>
              </a:solidFill>
              <a:latin typeface="Noto Sans"/>
              <a:ea typeface="Noto Sans"/>
              <a:cs typeface="Noto Sans"/>
              <a:sym typeface="Noto Sans"/>
            </a:endParaRPr>
          </a:p>
        </p:txBody>
      </p:sp>
      <p:sp>
        <p:nvSpPr>
          <p:cNvPr id="223" name="Google Shape;223;p18"/>
          <p:cNvSpPr/>
          <p:nvPr/>
        </p:nvSpPr>
        <p:spPr>
          <a:xfrm>
            <a:off x="6103620" y="2023110"/>
            <a:ext cx="2400300" cy="2126100"/>
          </a:xfrm>
          <a:prstGeom prst="roundRect">
            <a:avLst>
              <a:gd fmla="val 2581"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18"/>
          <p:cNvSpPr/>
          <p:nvPr/>
        </p:nvSpPr>
        <p:spPr>
          <a:xfrm>
            <a:off x="6343650" y="2242566"/>
            <a:ext cx="377100" cy="377100"/>
          </a:xfrm>
          <a:prstGeom prst="ellipse">
            <a:avLst/>
          </a:prstGeom>
          <a:solidFill>
            <a:srgbClr val="3A6F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25" name="Google Shape;225;p18"/>
          <p:cNvPicPr preferRelativeResize="0"/>
          <p:nvPr/>
        </p:nvPicPr>
        <p:blipFill rotWithShape="1">
          <a:blip r:embed="rId5">
            <a:alphaModFix/>
          </a:blip>
          <a:srcRect b="0" l="0" r="0" t="0"/>
          <a:stretch/>
        </p:blipFill>
        <p:spPr>
          <a:xfrm>
            <a:off x="6441719" y="2340635"/>
            <a:ext cx="181052" cy="181052"/>
          </a:xfrm>
          <a:prstGeom prst="rect">
            <a:avLst/>
          </a:prstGeom>
          <a:noFill/>
          <a:ln>
            <a:noFill/>
          </a:ln>
        </p:spPr>
      </p:pic>
      <p:sp>
        <p:nvSpPr>
          <p:cNvPr id="226" name="Google Shape;226;p18"/>
          <p:cNvSpPr/>
          <p:nvPr/>
        </p:nvSpPr>
        <p:spPr>
          <a:xfrm>
            <a:off x="6803136" y="2242566"/>
            <a:ext cx="1577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200"/>
              <a:buFont typeface="Noto Sans"/>
              <a:buNone/>
            </a:pPr>
            <a:r>
              <a:rPr b="1" i="0" lang="ja" sz="1200" u="none" cap="none" strike="noStrike">
                <a:solidFill>
                  <a:srgbClr val="1B2A3A"/>
                </a:solidFill>
                <a:latin typeface="Noto Sans"/>
                <a:ea typeface="Noto Sans"/>
                <a:cs typeface="Noto Sans"/>
                <a:sym typeface="Noto Sans"/>
              </a:rPr>
              <a:t>必要なこと</a:t>
            </a:r>
            <a:endParaRPr b="0" i="0" sz="1200" u="none" cap="none" strike="noStrike">
              <a:solidFill>
                <a:schemeClr val="dk1"/>
              </a:solidFill>
              <a:latin typeface="Calibri"/>
              <a:ea typeface="Calibri"/>
              <a:cs typeface="Calibri"/>
              <a:sym typeface="Calibri"/>
            </a:endParaRPr>
          </a:p>
        </p:txBody>
      </p:sp>
      <p:sp>
        <p:nvSpPr>
          <p:cNvPr id="227" name="Google Shape;227;p18"/>
          <p:cNvSpPr/>
          <p:nvPr/>
        </p:nvSpPr>
        <p:spPr>
          <a:xfrm>
            <a:off x="6377940" y="2811780"/>
            <a:ext cx="1885800" cy="1200300"/>
          </a:xfrm>
          <a:prstGeom prst="rect">
            <a:avLst/>
          </a:prstGeom>
          <a:noFill/>
          <a:ln>
            <a:noFill/>
          </a:ln>
        </p:spPr>
        <p:txBody>
          <a:bodyPr anchorCtr="0" anchor="t" bIns="34275" lIns="68575" spcFirstLastPara="1" rIns="68575" wrap="square" tIns="34275">
            <a:noAutofit/>
          </a:bodyPr>
          <a:lstStyle/>
          <a:p>
            <a:pPr indent="-139700" lvl="0" marL="139700" marR="0" rtl="0" algn="l">
              <a:spcBef>
                <a:spcPts val="700"/>
              </a:spcBef>
              <a:spcAft>
                <a:spcPts val="0"/>
              </a:spcAft>
              <a:buClr>
                <a:srgbClr val="1B2A3A"/>
              </a:buClr>
              <a:buSzPts val="1000"/>
              <a:buFont typeface="Noto Sans"/>
              <a:buChar char="•"/>
            </a:pPr>
            <a:r>
              <a:rPr lang="ja" sz="1000">
                <a:solidFill>
                  <a:srgbClr val="1B2A3A"/>
                </a:solidFill>
                <a:latin typeface="Noto Sans"/>
                <a:ea typeface="Noto Sans"/>
                <a:cs typeface="Noto Sans"/>
                <a:sym typeface="Noto Sans"/>
              </a:rPr>
              <a:t>利用者分析の更新ルール</a:t>
            </a:r>
            <a:endParaRPr sz="1000">
              <a:solidFill>
                <a:srgbClr val="1B2A3A"/>
              </a:solidFill>
              <a:latin typeface="Noto Sans"/>
              <a:ea typeface="Noto Sans"/>
              <a:cs typeface="Noto Sans"/>
              <a:sym typeface="Noto Sans"/>
            </a:endParaRPr>
          </a:p>
          <a:p>
            <a:pPr indent="-139700" lvl="0" marL="139700" marR="0" rtl="0" algn="l">
              <a:spcBef>
                <a:spcPts val="700"/>
              </a:spcBef>
              <a:spcAft>
                <a:spcPts val="0"/>
              </a:spcAft>
              <a:buClr>
                <a:srgbClr val="1B2A3A"/>
              </a:buClr>
              <a:buSzPts val="1000"/>
              <a:buFont typeface="Noto Sans"/>
              <a:buChar char="•"/>
            </a:pPr>
            <a:r>
              <a:rPr lang="ja" sz="1000">
                <a:solidFill>
                  <a:srgbClr val="1B2A3A"/>
                </a:solidFill>
                <a:latin typeface="Noto Sans"/>
                <a:ea typeface="Noto Sans"/>
                <a:cs typeface="Noto Sans"/>
                <a:sym typeface="Noto Sans"/>
              </a:rPr>
              <a:t>現場情報との連携方法</a:t>
            </a:r>
            <a:endParaRPr sz="1000">
              <a:solidFill>
                <a:srgbClr val="1B2A3A"/>
              </a:solidFill>
              <a:latin typeface="Noto Sans"/>
              <a:ea typeface="Noto Sans"/>
              <a:cs typeface="Noto Sans"/>
              <a:sym typeface="Noto Sans"/>
            </a:endParaRPr>
          </a:p>
          <a:p>
            <a:pPr indent="-139700" lvl="0" marL="139700" marR="0" rtl="0" algn="l">
              <a:spcBef>
                <a:spcPts val="700"/>
              </a:spcBef>
              <a:spcAft>
                <a:spcPts val="0"/>
              </a:spcAft>
              <a:buClr>
                <a:srgbClr val="1B2A3A"/>
              </a:buClr>
              <a:buSzPts val="1000"/>
              <a:buFont typeface="Noto Sans"/>
              <a:buChar char="•"/>
            </a:pPr>
            <a:r>
              <a:rPr b="0" i="0" lang="ja" sz="1000" u="none" cap="none" strike="noStrike">
                <a:solidFill>
                  <a:srgbClr val="1B2A3A"/>
                </a:solidFill>
                <a:latin typeface="Noto Sans"/>
                <a:ea typeface="Noto Sans"/>
                <a:cs typeface="Noto Sans"/>
                <a:sym typeface="Noto Sans"/>
              </a:rPr>
              <a:t>確認→対応→改善の運用ループ</a:t>
            </a:r>
            <a:endParaRPr b="0" i="0" sz="1000" u="none" cap="none" strike="noStrike">
              <a:solidFill>
                <a:schemeClr val="dk1"/>
              </a:solidFill>
              <a:latin typeface="Calibri"/>
              <a:ea typeface="Calibri"/>
              <a:cs typeface="Calibri"/>
              <a:sym typeface="Calibri"/>
            </a:endParaRPr>
          </a:p>
        </p:txBody>
      </p:sp>
      <p:sp>
        <p:nvSpPr>
          <p:cNvPr id="228" name="Google Shape;228;p18"/>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229" name="Google Shape;229;p18"/>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9"/>
          <p:cNvSpPr/>
          <p:nvPr/>
        </p:nvSpPr>
        <p:spPr>
          <a:xfrm>
            <a:off x="617220" y="425196"/>
            <a:ext cx="425100" cy="4251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36" name="Google Shape;236;p19"/>
          <p:cNvPicPr preferRelativeResize="0"/>
          <p:nvPr/>
        </p:nvPicPr>
        <p:blipFill rotWithShape="1">
          <a:blip r:embed="rId3">
            <a:alphaModFix/>
          </a:blip>
          <a:srcRect b="0" l="0" r="0" t="0"/>
          <a:stretch/>
        </p:blipFill>
        <p:spPr>
          <a:xfrm>
            <a:off x="727771" y="535747"/>
            <a:ext cx="204093" cy="204093"/>
          </a:xfrm>
          <a:prstGeom prst="rect">
            <a:avLst/>
          </a:prstGeom>
          <a:noFill/>
          <a:ln>
            <a:noFill/>
          </a:ln>
        </p:spPr>
      </p:pic>
      <p:sp>
        <p:nvSpPr>
          <p:cNvPr id="237" name="Google Shape;237;p19"/>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SLIDE </a:t>
            </a:r>
            <a:r>
              <a:rPr b="1" lang="ja" sz="800">
                <a:solidFill>
                  <a:srgbClr val="3A6FA5"/>
                </a:solidFill>
                <a:latin typeface="Noto Sans"/>
                <a:ea typeface="Noto Sans"/>
                <a:cs typeface="Noto Sans"/>
                <a:sym typeface="Noto Sans"/>
              </a:rPr>
              <a:t>6</a:t>
            </a:r>
            <a:r>
              <a:rPr b="1" i="0" lang="ja" sz="800" u="none" cap="none" strike="noStrike">
                <a:solidFill>
                  <a:srgbClr val="3A6FA5"/>
                </a:solidFill>
                <a:latin typeface="Noto Sans"/>
                <a:ea typeface="Noto Sans"/>
                <a:cs typeface="Noto Sans"/>
                <a:sym typeface="Noto Sans"/>
              </a:rPr>
              <a:t> </a:t>
            </a:r>
            <a:r>
              <a:rPr b="1" i="0" lang="ja" sz="800" u="none" cap="none" strike="noStrike">
                <a:solidFill>
                  <a:srgbClr val="3A6FA5"/>
                </a:solidFill>
                <a:latin typeface="Noto Sans"/>
                <a:ea typeface="Noto Sans"/>
                <a:cs typeface="Noto Sans"/>
                <a:sym typeface="Noto Sans"/>
              </a:rPr>
              <a:t>｜ 次フェーズ</a:t>
            </a:r>
            <a:endParaRPr b="0" i="0" sz="800" u="none" cap="none" strike="noStrike">
              <a:solidFill>
                <a:schemeClr val="dk1"/>
              </a:solidFill>
              <a:latin typeface="Calibri"/>
              <a:ea typeface="Calibri"/>
              <a:cs typeface="Calibri"/>
              <a:sym typeface="Calibri"/>
            </a:endParaRPr>
          </a:p>
        </p:txBody>
      </p:sp>
      <p:sp>
        <p:nvSpPr>
          <p:cNvPr id="238" name="Google Shape;238;p19"/>
          <p:cNvSpPr/>
          <p:nvPr/>
        </p:nvSpPr>
        <p:spPr>
          <a:xfrm>
            <a:off x="1179576" y="617220"/>
            <a:ext cx="73245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2000"/>
              <a:buFont typeface="Noto Sans"/>
              <a:buNone/>
            </a:pPr>
            <a:r>
              <a:rPr b="1" i="0" lang="ja" sz="2000" u="none" cap="none" strike="noStrike">
                <a:solidFill>
                  <a:srgbClr val="1B2A3A"/>
                </a:solidFill>
                <a:latin typeface="Noto Sans"/>
                <a:ea typeface="Noto Sans"/>
                <a:cs typeface="Noto Sans"/>
                <a:sym typeface="Noto Sans"/>
              </a:rPr>
              <a:t>次フェーズの進め方</a:t>
            </a:r>
            <a:endParaRPr b="0" i="0" sz="2000" u="none" cap="none" strike="noStrike">
              <a:solidFill>
                <a:schemeClr val="dk1"/>
              </a:solidFill>
              <a:latin typeface="Calibri"/>
              <a:ea typeface="Calibri"/>
              <a:cs typeface="Calibri"/>
              <a:sym typeface="Calibri"/>
            </a:endParaRPr>
          </a:p>
        </p:txBody>
      </p:sp>
      <p:sp>
        <p:nvSpPr>
          <p:cNvPr id="239" name="Google Shape;239;p19"/>
          <p:cNvSpPr/>
          <p:nvPr/>
        </p:nvSpPr>
        <p:spPr>
          <a:xfrm>
            <a:off x="617220" y="1200150"/>
            <a:ext cx="7886700" cy="562200"/>
          </a:xfrm>
          <a:prstGeom prst="roundRect">
            <a:avLst>
              <a:gd fmla="val 9756" name="adj"/>
            </a:avLst>
          </a:prstGeom>
          <a:solidFill>
            <a:srgbClr val="EAF1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19"/>
          <p:cNvSpPr/>
          <p:nvPr/>
        </p:nvSpPr>
        <p:spPr>
          <a:xfrm>
            <a:off x="857250" y="1200150"/>
            <a:ext cx="7406400" cy="56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3A5F"/>
              </a:buClr>
              <a:buSzPts val="1100"/>
              <a:buFont typeface="Noto Sans"/>
              <a:buNone/>
            </a:pPr>
            <a:r>
              <a:rPr b="1" i="0" lang="ja" sz="1100" u="none" cap="none" strike="noStrike">
                <a:solidFill>
                  <a:srgbClr val="1E3A5F"/>
                </a:solidFill>
                <a:latin typeface="Noto Sans"/>
                <a:ea typeface="Noto Sans"/>
                <a:cs typeface="Noto Sans"/>
                <a:sym typeface="Noto Sans"/>
              </a:rPr>
              <a:t>ボトルネック解決のための現場DXと、利用者追跡・フォロー管理のシステム化を並行して進める。</a:t>
            </a:r>
            <a:endParaRPr b="0" i="0" sz="1100" u="none" cap="none" strike="noStrike">
              <a:solidFill>
                <a:schemeClr val="dk1"/>
              </a:solidFill>
              <a:latin typeface="Calibri"/>
              <a:ea typeface="Calibri"/>
              <a:cs typeface="Calibri"/>
              <a:sym typeface="Calibri"/>
            </a:endParaRPr>
          </a:p>
        </p:txBody>
      </p:sp>
      <p:sp>
        <p:nvSpPr>
          <p:cNvPr id="241" name="Google Shape;241;p19"/>
          <p:cNvSpPr/>
          <p:nvPr/>
        </p:nvSpPr>
        <p:spPr>
          <a:xfrm>
            <a:off x="617225" y="2023099"/>
            <a:ext cx="3737700" cy="2499600"/>
          </a:xfrm>
          <a:prstGeom prst="roundRect">
            <a:avLst>
              <a:gd fmla="val 2540" name="adj"/>
            </a:avLst>
          </a:prstGeom>
          <a:solidFill>
            <a:srgbClr val="1E3A5F"/>
          </a:solidFill>
          <a:ln cap="flat" cmpd="sng" w="9525">
            <a:solidFill>
              <a:srgbClr val="1E3A5F"/>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19"/>
          <p:cNvSpPr/>
          <p:nvPr/>
        </p:nvSpPr>
        <p:spPr>
          <a:xfrm>
            <a:off x="925830" y="2297430"/>
            <a:ext cx="480300" cy="480300"/>
          </a:xfrm>
          <a:prstGeom prst="ellipse">
            <a:avLst/>
          </a:prstGeom>
          <a:solidFill>
            <a:srgbClr val="3A6F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43" name="Google Shape;243;p19"/>
          <p:cNvPicPr preferRelativeResize="0"/>
          <p:nvPr/>
        </p:nvPicPr>
        <p:blipFill rotWithShape="1">
          <a:blip r:embed="rId4">
            <a:alphaModFix/>
          </a:blip>
          <a:srcRect b="0" l="0" r="0" t="0"/>
          <a:stretch/>
        </p:blipFill>
        <p:spPr>
          <a:xfrm>
            <a:off x="1050646" y="2422246"/>
            <a:ext cx="230428" cy="230428"/>
          </a:xfrm>
          <a:prstGeom prst="rect">
            <a:avLst/>
          </a:prstGeom>
          <a:noFill/>
          <a:ln>
            <a:noFill/>
          </a:ln>
        </p:spPr>
      </p:pic>
      <p:sp>
        <p:nvSpPr>
          <p:cNvPr id="244" name="Google Shape;244;p19"/>
          <p:cNvSpPr/>
          <p:nvPr/>
        </p:nvSpPr>
        <p:spPr>
          <a:xfrm>
            <a:off x="1535250" y="2297319"/>
            <a:ext cx="26403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Noto Sans"/>
              <a:buNone/>
            </a:pPr>
            <a:r>
              <a:rPr b="1" i="0" lang="ja" sz="1400" u="none" cap="none" strike="noStrike">
                <a:solidFill>
                  <a:srgbClr val="FFFFFF"/>
                </a:solidFill>
                <a:latin typeface="Noto Sans"/>
                <a:ea typeface="Noto Sans"/>
                <a:cs typeface="Noto Sans"/>
                <a:sym typeface="Noto Sans"/>
              </a:rPr>
              <a:t>現場DX</a:t>
            </a:r>
            <a:endParaRPr b="0" i="0" sz="1400" u="none" cap="none" strike="noStrike">
              <a:solidFill>
                <a:schemeClr val="dk1"/>
              </a:solidFill>
              <a:latin typeface="Calibri"/>
              <a:ea typeface="Calibri"/>
              <a:cs typeface="Calibri"/>
              <a:sym typeface="Calibri"/>
            </a:endParaRPr>
          </a:p>
        </p:txBody>
      </p:sp>
      <p:sp>
        <p:nvSpPr>
          <p:cNvPr id="245" name="Google Shape;245;p19"/>
          <p:cNvSpPr/>
          <p:nvPr/>
        </p:nvSpPr>
        <p:spPr>
          <a:xfrm>
            <a:off x="925830" y="3086100"/>
            <a:ext cx="3120300" cy="480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7E5F2"/>
              </a:buClr>
              <a:buSzPts val="900"/>
              <a:buFont typeface="Noto Sans"/>
              <a:buNone/>
            </a:pPr>
            <a:r>
              <a:rPr b="0" i="0" lang="ja" sz="900" u="none" cap="none" strike="noStrike">
                <a:solidFill>
                  <a:srgbClr val="D7E5F2"/>
                </a:solidFill>
                <a:latin typeface="Noto Sans"/>
                <a:ea typeface="Noto Sans"/>
                <a:cs typeface="Noto Sans"/>
                <a:sym typeface="Noto Sans"/>
              </a:rPr>
              <a:t>現場の確認・対応の流れに沿って、ボトルネック解消の打ち手を実装する。</a:t>
            </a:r>
            <a:endParaRPr b="0" i="0" sz="900" u="none" cap="none" strike="noStrike">
              <a:solidFill>
                <a:schemeClr val="dk1"/>
              </a:solidFill>
              <a:latin typeface="Calibri"/>
              <a:ea typeface="Calibri"/>
              <a:cs typeface="Calibri"/>
              <a:sym typeface="Calibri"/>
            </a:endParaRPr>
          </a:p>
        </p:txBody>
      </p:sp>
      <p:sp>
        <p:nvSpPr>
          <p:cNvPr id="246" name="Google Shape;246;p19"/>
          <p:cNvSpPr/>
          <p:nvPr/>
        </p:nvSpPr>
        <p:spPr>
          <a:xfrm>
            <a:off x="925830" y="3600450"/>
            <a:ext cx="3120300" cy="514500"/>
          </a:xfrm>
          <a:prstGeom prst="rect">
            <a:avLst/>
          </a:prstGeom>
          <a:noFill/>
          <a:ln>
            <a:noFill/>
          </a:ln>
        </p:spPr>
        <p:txBody>
          <a:bodyPr anchorCtr="0" anchor="t" bIns="34275" lIns="68575" spcFirstLastPara="1" rIns="68575" wrap="square" tIns="34275">
            <a:noAutofit/>
          </a:bodyPr>
          <a:lstStyle/>
          <a:p>
            <a:pPr indent="-133350" lvl="0" marL="139700" marR="0" rtl="0" algn="l">
              <a:spcBef>
                <a:spcPts val="0"/>
              </a:spcBef>
              <a:spcAft>
                <a:spcPts val="0"/>
              </a:spcAft>
              <a:buClr>
                <a:srgbClr val="EAF1F8"/>
              </a:buClr>
              <a:buSzPts val="900"/>
              <a:buFont typeface="Noto Sans"/>
              <a:buChar char="•"/>
            </a:pPr>
            <a:r>
              <a:rPr b="0" i="0" lang="ja" sz="900" u="none" cap="none" strike="noStrike">
                <a:solidFill>
                  <a:srgbClr val="EAF1F8"/>
                </a:solidFill>
                <a:latin typeface="Noto Sans"/>
                <a:ea typeface="Noto Sans"/>
                <a:cs typeface="Noto Sans"/>
                <a:sym typeface="Noto Sans"/>
              </a:rPr>
              <a:t>候補者の自動抽出・更新</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EAF1F8"/>
              </a:buClr>
              <a:buSzPts val="900"/>
              <a:buFont typeface="Noto Sans"/>
              <a:buChar char="•"/>
            </a:pPr>
            <a:r>
              <a:rPr b="0" i="0" lang="ja" sz="900" u="none" cap="none" strike="noStrike">
                <a:solidFill>
                  <a:srgbClr val="EAF1F8"/>
                </a:solidFill>
                <a:latin typeface="Noto Sans"/>
                <a:ea typeface="Noto Sans"/>
                <a:cs typeface="Noto Sans"/>
                <a:sym typeface="Noto Sans"/>
              </a:rPr>
              <a:t>現場で使えるフォロー画面</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EAF1F8"/>
              </a:buClr>
              <a:buSzPts val="900"/>
              <a:buFont typeface="Noto Sans"/>
              <a:buChar char="•"/>
            </a:pPr>
            <a:r>
              <a:rPr b="0" i="0" lang="ja" sz="900" u="none" cap="none" strike="noStrike">
                <a:solidFill>
                  <a:srgbClr val="EAF1F8"/>
                </a:solidFill>
                <a:latin typeface="Noto Sans"/>
                <a:ea typeface="Noto Sans"/>
                <a:cs typeface="Noto Sans"/>
                <a:sym typeface="Noto Sans"/>
              </a:rPr>
              <a:t>確認・対応の記録</a:t>
            </a:r>
            <a:endParaRPr b="0" i="0" sz="900" u="none" cap="none" strike="noStrike">
              <a:solidFill>
                <a:schemeClr val="dk1"/>
              </a:solidFill>
              <a:latin typeface="Calibri"/>
              <a:ea typeface="Calibri"/>
              <a:cs typeface="Calibri"/>
              <a:sym typeface="Calibri"/>
            </a:endParaRPr>
          </a:p>
        </p:txBody>
      </p:sp>
      <p:sp>
        <p:nvSpPr>
          <p:cNvPr id="247" name="Google Shape;247;p19"/>
          <p:cNvSpPr/>
          <p:nvPr/>
        </p:nvSpPr>
        <p:spPr>
          <a:xfrm>
            <a:off x="4766300" y="2023098"/>
            <a:ext cx="3784200" cy="2499600"/>
          </a:xfrm>
          <a:prstGeom prst="roundRect">
            <a:avLst>
              <a:gd fmla="val 2540" name="adj"/>
            </a:avLst>
          </a:prstGeom>
          <a:solidFill>
            <a:srgbClr val="EAF1F8"/>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19"/>
          <p:cNvSpPr/>
          <p:nvPr/>
        </p:nvSpPr>
        <p:spPr>
          <a:xfrm>
            <a:off x="5074920" y="2297430"/>
            <a:ext cx="480300" cy="4803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49" name="Google Shape;249;p19"/>
          <p:cNvPicPr preferRelativeResize="0"/>
          <p:nvPr/>
        </p:nvPicPr>
        <p:blipFill rotWithShape="1">
          <a:blip r:embed="rId5">
            <a:alphaModFix/>
          </a:blip>
          <a:srcRect b="0" l="0" r="0" t="0"/>
          <a:stretch/>
        </p:blipFill>
        <p:spPr>
          <a:xfrm>
            <a:off x="5199736" y="2422246"/>
            <a:ext cx="230428" cy="230428"/>
          </a:xfrm>
          <a:prstGeom prst="rect">
            <a:avLst/>
          </a:prstGeom>
          <a:noFill/>
          <a:ln>
            <a:noFill/>
          </a:ln>
        </p:spPr>
      </p:pic>
      <p:sp>
        <p:nvSpPr>
          <p:cNvPr id="250" name="Google Shape;250;p19"/>
          <p:cNvSpPr/>
          <p:nvPr/>
        </p:nvSpPr>
        <p:spPr>
          <a:xfrm>
            <a:off x="5692140" y="2297430"/>
            <a:ext cx="2640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t/>
            </a:r>
            <a:endParaRPr b="0" i="0" sz="800" u="none" cap="none" strike="noStrike">
              <a:solidFill>
                <a:schemeClr val="dk1"/>
              </a:solidFill>
              <a:latin typeface="Calibri"/>
              <a:ea typeface="Calibri"/>
              <a:cs typeface="Calibri"/>
              <a:sym typeface="Calibri"/>
            </a:endParaRPr>
          </a:p>
        </p:txBody>
      </p:sp>
      <p:sp>
        <p:nvSpPr>
          <p:cNvPr id="251" name="Google Shape;251;p19"/>
          <p:cNvSpPr/>
          <p:nvPr/>
        </p:nvSpPr>
        <p:spPr>
          <a:xfrm>
            <a:off x="5692140" y="2297431"/>
            <a:ext cx="26403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A"/>
              </a:buClr>
              <a:buSzPts val="1400"/>
              <a:buFont typeface="Noto Sans"/>
              <a:buNone/>
            </a:pPr>
            <a:r>
              <a:rPr b="1" i="0" lang="ja" sz="1400" u="none" cap="none" strike="noStrike">
                <a:solidFill>
                  <a:srgbClr val="1B2A3A"/>
                </a:solidFill>
                <a:latin typeface="Noto Sans"/>
                <a:ea typeface="Noto Sans"/>
                <a:cs typeface="Noto Sans"/>
                <a:sym typeface="Noto Sans"/>
              </a:rPr>
              <a:t>追跡・フォロー管理の</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A"/>
              </a:buClr>
              <a:buSzPts val="1400"/>
              <a:buFont typeface="Noto Sans"/>
              <a:buNone/>
            </a:pPr>
            <a:r>
              <a:rPr b="1" i="0" lang="ja" sz="1400" u="none" cap="none" strike="noStrike">
                <a:solidFill>
                  <a:srgbClr val="1B2A3A"/>
                </a:solidFill>
                <a:latin typeface="Noto Sans"/>
                <a:ea typeface="Noto Sans"/>
                <a:cs typeface="Noto Sans"/>
                <a:sym typeface="Noto Sans"/>
              </a:rPr>
              <a:t>システム化</a:t>
            </a:r>
            <a:endParaRPr b="0" i="0" sz="1400" u="none" cap="none" strike="noStrike">
              <a:solidFill>
                <a:schemeClr val="dk1"/>
              </a:solidFill>
              <a:latin typeface="Calibri"/>
              <a:ea typeface="Calibri"/>
              <a:cs typeface="Calibri"/>
              <a:sym typeface="Calibri"/>
            </a:endParaRPr>
          </a:p>
        </p:txBody>
      </p:sp>
      <p:sp>
        <p:nvSpPr>
          <p:cNvPr id="252" name="Google Shape;252;p19"/>
          <p:cNvSpPr/>
          <p:nvPr/>
        </p:nvSpPr>
        <p:spPr>
          <a:xfrm>
            <a:off x="5074920" y="3086100"/>
            <a:ext cx="3120300" cy="480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利用者の段階移行を継続的に追える仕組みを整える。</a:t>
            </a:r>
            <a:endParaRPr b="0" i="0" sz="900" u="none" cap="none" strike="noStrike">
              <a:solidFill>
                <a:schemeClr val="dk1"/>
              </a:solidFill>
              <a:latin typeface="Calibri"/>
              <a:ea typeface="Calibri"/>
              <a:cs typeface="Calibri"/>
              <a:sym typeface="Calibri"/>
            </a:endParaRPr>
          </a:p>
        </p:txBody>
      </p:sp>
      <p:sp>
        <p:nvSpPr>
          <p:cNvPr id="253" name="Google Shape;253;p19"/>
          <p:cNvSpPr/>
          <p:nvPr/>
        </p:nvSpPr>
        <p:spPr>
          <a:xfrm>
            <a:off x="5074920" y="3600450"/>
            <a:ext cx="3120300" cy="514500"/>
          </a:xfrm>
          <a:prstGeom prst="rect">
            <a:avLst/>
          </a:prstGeom>
          <a:noFill/>
          <a:ln>
            <a:noFill/>
          </a:ln>
        </p:spPr>
        <p:txBody>
          <a:bodyPr anchorCtr="0" anchor="t" bIns="34275" lIns="68575" spcFirstLastPara="1" rIns="68575" wrap="square" tIns="34275">
            <a:noAutofit/>
          </a:bodyPr>
          <a:lstStyle/>
          <a:p>
            <a:pPr indent="-133350" lvl="0" marL="139700" marR="0" rtl="0" algn="l">
              <a:spcBef>
                <a:spcPts val="0"/>
              </a:spcBef>
              <a:spcAft>
                <a:spcPts val="0"/>
              </a:spcAft>
              <a:buClr>
                <a:srgbClr val="1B2A3A"/>
              </a:buClr>
              <a:buSzPts val="900"/>
              <a:buFont typeface="Noto Sans"/>
              <a:buChar char="•"/>
            </a:pPr>
            <a:r>
              <a:rPr b="0" i="0" lang="ja" sz="900" u="none" cap="none" strike="noStrike">
                <a:solidFill>
                  <a:srgbClr val="1B2A3A"/>
                </a:solidFill>
                <a:latin typeface="Noto Sans"/>
                <a:ea typeface="Noto Sans"/>
                <a:cs typeface="Noto Sans"/>
                <a:sym typeface="Noto Sans"/>
              </a:rPr>
              <a:t>段階移行のモニタリング</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1B2A3A"/>
              </a:buClr>
              <a:buSzPts val="900"/>
              <a:buFont typeface="Noto Sans"/>
              <a:buChar char="•"/>
            </a:pPr>
            <a:r>
              <a:rPr b="0" i="0" lang="ja" sz="900" u="none" cap="none" strike="noStrike">
                <a:solidFill>
                  <a:srgbClr val="1B2A3A"/>
                </a:solidFill>
                <a:latin typeface="Noto Sans"/>
                <a:ea typeface="Noto Sans"/>
                <a:cs typeface="Noto Sans"/>
                <a:sym typeface="Noto Sans"/>
              </a:rPr>
              <a:t>層別フォローの管理</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1B2A3A"/>
              </a:buClr>
              <a:buSzPts val="900"/>
              <a:buFont typeface="Noto Sans"/>
              <a:buChar char="•"/>
            </a:pPr>
            <a:r>
              <a:rPr b="0" i="0" lang="ja" sz="900" u="none" cap="none" strike="noStrike">
                <a:solidFill>
                  <a:srgbClr val="1B2A3A"/>
                </a:solidFill>
                <a:latin typeface="Noto Sans"/>
                <a:ea typeface="Noto Sans"/>
                <a:cs typeface="Noto Sans"/>
                <a:sym typeface="Noto Sans"/>
              </a:rPr>
              <a:t>改善状況の可視化</a:t>
            </a:r>
            <a:endParaRPr b="0" i="0" sz="900" u="none" cap="none" strike="noStrike">
              <a:solidFill>
                <a:schemeClr val="dk1"/>
              </a:solidFill>
              <a:latin typeface="Calibri"/>
              <a:ea typeface="Calibri"/>
              <a:cs typeface="Calibri"/>
              <a:sym typeface="Calibri"/>
            </a:endParaRPr>
          </a:p>
        </p:txBody>
      </p:sp>
      <p:sp>
        <p:nvSpPr>
          <p:cNvPr id="254" name="Google Shape;254;p19"/>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255" name="Google Shape;255;p19"/>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5F"/>
        </a:solidFill>
      </p:bgPr>
    </p:bg>
    <p:spTree>
      <p:nvGrpSpPr>
        <p:cNvPr id="260" name="Shape 260"/>
        <p:cNvGrpSpPr/>
        <p:nvPr/>
      </p:nvGrpSpPr>
      <p:grpSpPr>
        <a:xfrm>
          <a:off x="0" y="0"/>
          <a:ext cx="0" cy="0"/>
          <a:chOff x="0" y="0"/>
          <a:chExt cx="0" cy="0"/>
        </a:xfrm>
      </p:grpSpPr>
      <p:sp>
        <p:nvSpPr>
          <p:cNvPr id="261" name="Google Shape;261;p20"/>
          <p:cNvSpPr/>
          <p:nvPr/>
        </p:nvSpPr>
        <p:spPr>
          <a:xfrm>
            <a:off x="0" y="0"/>
            <a:ext cx="9121200" cy="1166100"/>
          </a:xfrm>
          <a:prstGeom prst="rect">
            <a:avLst/>
          </a:prstGeom>
          <a:solidFill>
            <a:srgbClr val="152B4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0"/>
          <p:cNvSpPr/>
          <p:nvPr/>
        </p:nvSpPr>
        <p:spPr>
          <a:xfrm>
            <a:off x="617220" y="411480"/>
            <a:ext cx="425100" cy="425100"/>
          </a:xfrm>
          <a:prstGeom prst="ellipse">
            <a:avLst/>
          </a:prstGeom>
          <a:solidFill>
            <a:srgbClr val="8FC1E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63" name="Google Shape;263;p20"/>
          <p:cNvPicPr preferRelativeResize="0"/>
          <p:nvPr/>
        </p:nvPicPr>
        <p:blipFill rotWithShape="1">
          <a:blip r:embed="rId3">
            <a:alphaModFix/>
          </a:blip>
          <a:srcRect b="0" l="0" r="0" t="0"/>
          <a:stretch/>
        </p:blipFill>
        <p:spPr>
          <a:xfrm>
            <a:off x="727771" y="522031"/>
            <a:ext cx="204093" cy="204093"/>
          </a:xfrm>
          <a:prstGeom prst="rect">
            <a:avLst/>
          </a:prstGeom>
          <a:noFill/>
          <a:ln>
            <a:noFill/>
          </a:ln>
        </p:spPr>
      </p:pic>
      <p:sp>
        <p:nvSpPr>
          <p:cNvPr id="264" name="Google Shape;264;p20"/>
          <p:cNvSpPr/>
          <p:nvPr/>
        </p:nvSpPr>
        <p:spPr>
          <a:xfrm>
            <a:off x="1179576" y="41148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800"/>
              <a:buFont typeface="Noto Sans"/>
              <a:buNone/>
            </a:pPr>
            <a:r>
              <a:rPr b="1" i="0" lang="ja" sz="800" u="none" cap="none" strike="noStrike">
                <a:solidFill>
                  <a:srgbClr val="8FC1E3"/>
                </a:solidFill>
                <a:latin typeface="Noto Sans"/>
                <a:ea typeface="Noto Sans"/>
                <a:cs typeface="Noto Sans"/>
                <a:sym typeface="Noto Sans"/>
              </a:rPr>
              <a:t>SLIDE </a:t>
            </a:r>
            <a:r>
              <a:rPr b="1" lang="ja" sz="800">
                <a:solidFill>
                  <a:srgbClr val="8FC1E3"/>
                </a:solidFill>
                <a:latin typeface="Noto Sans"/>
                <a:ea typeface="Noto Sans"/>
                <a:cs typeface="Noto Sans"/>
                <a:sym typeface="Noto Sans"/>
              </a:rPr>
              <a:t>7</a:t>
            </a:r>
            <a:r>
              <a:rPr b="1" i="0" lang="ja" sz="800" u="none" cap="none" strike="noStrike">
                <a:solidFill>
                  <a:srgbClr val="8FC1E3"/>
                </a:solidFill>
                <a:latin typeface="Noto Sans"/>
                <a:ea typeface="Noto Sans"/>
                <a:cs typeface="Noto Sans"/>
                <a:sym typeface="Noto Sans"/>
              </a:rPr>
              <a:t> ｜ 今後の姿勢</a:t>
            </a:r>
            <a:endParaRPr b="0" i="0" sz="800" u="none" cap="none" strike="noStrike">
              <a:solidFill>
                <a:schemeClr val="dk1"/>
              </a:solidFill>
              <a:latin typeface="Calibri"/>
              <a:ea typeface="Calibri"/>
              <a:cs typeface="Calibri"/>
              <a:sym typeface="Calibri"/>
            </a:endParaRPr>
          </a:p>
        </p:txBody>
      </p:sp>
      <p:sp>
        <p:nvSpPr>
          <p:cNvPr id="265" name="Google Shape;265;p20"/>
          <p:cNvSpPr/>
          <p:nvPr/>
        </p:nvSpPr>
        <p:spPr>
          <a:xfrm>
            <a:off x="1179576" y="617220"/>
            <a:ext cx="68580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Noto Sans"/>
              <a:buNone/>
            </a:pPr>
            <a:r>
              <a:rPr b="1" i="0" lang="ja" sz="2100" u="none" cap="none" strike="noStrike">
                <a:solidFill>
                  <a:srgbClr val="FFFFFF"/>
                </a:solidFill>
                <a:latin typeface="Noto Sans"/>
                <a:ea typeface="Noto Sans"/>
                <a:cs typeface="Noto Sans"/>
                <a:sym typeface="Noto Sans"/>
              </a:rPr>
              <a:t>現場に根ざしたDXへ</a:t>
            </a:r>
            <a:endParaRPr b="0" i="0" sz="2100" u="none" cap="none" strike="noStrike">
              <a:solidFill>
                <a:schemeClr val="dk1"/>
              </a:solidFill>
              <a:latin typeface="Calibri"/>
              <a:ea typeface="Calibri"/>
              <a:cs typeface="Calibri"/>
              <a:sym typeface="Calibri"/>
            </a:endParaRPr>
          </a:p>
        </p:txBody>
      </p:sp>
      <p:sp>
        <p:nvSpPr>
          <p:cNvPr id="266" name="Google Shape;266;p20"/>
          <p:cNvSpPr/>
          <p:nvPr/>
        </p:nvSpPr>
        <p:spPr>
          <a:xfrm>
            <a:off x="617220" y="1371600"/>
            <a:ext cx="7886700" cy="7545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E4EEF7"/>
              </a:buClr>
              <a:buSzPts val="1200"/>
              <a:buFont typeface="Noto Sans"/>
              <a:buNone/>
            </a:pPr>
            <a:r>
              <a:rPr b="0" i="0" lang="ja" sz="1200" u="none" cap="none" strike="noStrike">
                <a:solidFill>
                  <a:srgbClr val="E4EEF7"/>
                </a:solidFill>
                <a:latin typeface="Noto Sans"/>
                <a:ea typeface="Noto Sans"/>
                <a:cs typeface="Noto Sans"/>
                <a:sym typeface="Noto Sans"/>
              </a:rPr>
              <a:t>今回はボトルネックの特定が中心で、現場に密着した改善の実行までは十分に踏み込めなかった。</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4EEF7"/>
              </a:buClr>
              <a:buSzPts val="1200"/>
              <a:buFont typeface="Noto Sans"/>
              <a:buNone/>
            </a:pPr>
            <a:r>
              <a:rPr b="0" i="0" lang="ja" sz="1200" u="none" cap="none" strike="noStrike">
                <a:solidFill>
                  <a:srgbClr val="E4EEF7"/>
                </a:solidFill>
                <a:latin typeface="Noto Sans"/>
                <a:ea typeface="Noto Sans"/>
                <a:cs typeface="Noto Sans"/>
                <a:sym typeface="Noto Sans"/>
              </a:rPr>
              <a:t>今後はより現場感のあるDXを推進し、現場で「</a:t>
            </a:r>
            <a:r>
              <a:rPr lang="ja" sz="1200">
                <a:solidFill>
                  <a:srgbClr val="E4EEF7"/>
                </a:solidFill>
                <a:latin typeface="Noto Sans"/>
                <a:ea typeface="Noto Sans"/>
                <a:cs typeface="Noto Sans"/>
                <a:sym typeface="Noto Sans"/>
              </a:rPr>
              <a:t>分析</a:t>
            </a:r>
            <a:r>
              <a:rPr b="0" i="0" lang="ja" sz="1200" u="none" cap="none" strike="noStrike">
                <a:solidFill>
                  <a:srgbClr val="E4EEF7"/>
                </a:solidFill>
                <a:latin typeface="Noto Sans"/>
                <a:ea typeface="Noto Sans"/>
                <a:cs typeface="Noto Sans"/>
                <a:sym typeface="Noto Sans"/>
              </a:rPr>
              <a:t>・</a:t>
            </a:r>
            <a:r>
              <a:rPr lang="ja" sz="1200">
                <a:solidFill>
                  <a:srgbClr val="E4EEF7"/>
                </a:solidFill>
                <a:latin typeface="Noto Sans"/>
                <a:ea typeface="Noto Sans"/>
                <a:cs typeface="Noto Sans"/>
                <a:sym typeface="Noto Sans"/>
              </a:rPr>
              <a:t>解決・</a:t>
            </a:r>
            <a:r>
              <a:rPr b="0" i="0" lang="ja" sz="1200" u="none" cap="none" strike="noStrike">
                <a:solidFill>
                  <a:srgbClr val="E4EEF7"/>
                </a:solidFill>
                <a:latin typeface="Noto Sans"/>
                <a:ea typeface="Noto Sans"/>
                <a:cs typeface="Noto Sans"/>
                <a:sym typeface="Noto Sans"/>
              </a:rPr>
              <a:t>改善」が回り続ける状態を目指す。</a:t>
            </a:r>
            <a:endParaRPr b="0" i="0" sz="1200" u="none" cap="none" strike="noStrike">
              <a:solidFill>
                <a:schemeClr val="dk1"/>
              </a:solidFill>
              <a:latin typeface="Calibri"/>
              <a:ea typeface="Calibri"/>
              <a:cs typeface="Calibri"/>
              <a:sym typeface="Calibri"/>
            </a:endParaRPr>
          </a:p>
        </p:txBody>
      </p:sp>
      <p:sp>
        <p:nvSpPr>
          <p:cNvPr id="267" name="Google Shape;267;p20"/>
          <p:cNvSpPr/>
          <p:nvPr/>
        </p:nvSpPr>
        <p:spPr>
          <a:xfrm>
            <a:off x="641223" y="2537460"/>
            <a:ext cx="1337400" cy="788700"/>
          </a:xfrm>
          <a:prstGeom prst="roundRect">
            <a:avLst>
              <a:gd fmla="val 8696" name="adj"/>
            </a:avLst>
          </a:prstGeom>
          <a:solidFill>
            <a:srgbClr val="FFFFFF">
              <a:alpha val="12160"/>
            </a:srgbClr>
          </a:solidFill>
          <a:ln cap="flat" cmpd="sng" w="9525">
            <a:solidFill>
              <a:srgbClr val="8FC1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0"/>
          <p:cNvSpPr/>
          <p:nvPr/>
        </p:nvSpPr>
        <p:spPr>
          <a:xfrm>
            <a:off x="641223" y="2537460"/>
            <a:ext cx="13374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Noto Sans"/>
              <a:buNone/>
            </a:pPr>
            <a:r>
              <a:rPr b="1" i="0" lang="ja" sz="1100" u="none" cap="none" strike="noStrike">
                <a:solidFill>
                  <a:srgbClr val="FFFFFF"/>
                </a:solidFill>
                <a:latin typeface="Noto Sans"/>
                <a:ea typeface="Noto Sans"/>
                <a:cs typeface="Noto Sans"/>
                <a:sym typeface="Noto Sans"/>
              </a:rPr>
              <a:t>分析</a:t>
            </a:r>
            <a:endParaRPr b="0" i="0" sz="1100" u="none" cap="none" strike="noStrike">
              <a:solidFill>
                <a:schemeClr val="dk1"/>
              </a:solidFill>
              <a:latin typeface="Calibri"/>
              <a:ea typeface="Calibri"/>
              <a:cs typeface="Calibri"/>
              <a:sym typeface="Calibri"/>
            </a:endParaRPr>
          </a:p>
        </p:txBody>
      </p:sp>
      <p:sp>
        <p:nvSpPr>
          <p:cNvPr id="269" name="Google Shape;269;p20"/>
          <p:cNvSpPr/>
          <p:nvPr/>
        </p:nvSpPr>
        <p:spPr>
          <a:xfrm>
            <a:off x="1964817" y="2537460"/>
            <a:ext cx="3156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1E3"/>
              </a:buClr>
              <a:buSzPts val="1800"/>
              <a:buFont typeface="Calibri"/>
              <a:buNone/>
            </a:pPr>
            <a:r>
              <a:rPr b="1" i="0" lang="ja" sz="1800" u="none" cap="none" strike="noStrike">
                <a:solidFill>
                  <a:srgbClr val="8FC1E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70" name="Google Shape;270;p20"/>
          <p:cNvSpPr/>
          <p:nvPr/>
        </p:nvSpPr>
        <p:spPr>
          <a:xfrm>
            <a:off x="2266569" y="2537460"/>
            <a:ext cx="1337400" cy="788700"/>
          </a:xfrm>
          <a:prstGeom prst="roundRect">
            <a:avLst>
              <a:gd fmla="val 8696" name="adj"/>
            </a:avLst>
          </a:prstGeom>
          <a:solidFill>
            <a:srgbClr val="FFFFFF">
              <a:alpha val="12160"/>
            </a:srgbClr>
          </a:solidFill>
          <a:ln cap="flat" cmpd="sng" w="9525">
            <a:solidFill>
              <a:srgbClr val="8FC1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20"/>
          <p:cNvSpPr/>
          <p:nvPr/>
        </p:nvSpPr>
        <p:spPr>
          <a:xfrm>
            <a:off x="2266569" y="2537460"/>
            <a:ext cx="13374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Noto Sans"/>
              <a:buNone/>
            </a:pPr>
            <a:r>
              <a:rPr b="1" lang="ja" sz="1100">
                <a:solidFill>
                  <a:srgbClr val="FFFFFF"/>
                </a:solidFill>
                <a:latin typeface="Noto Sans"/>
                <a:ea typeface="Noto Sans"/>
                <a:cs typeface="Noto Sans"/>
                <a:sym typeface="Noto Sans"/>
              </a:rPr>
              <a:t>ボトルネック</a:t>
            </a:r>
            <a:br>
              <a:rPr b="1" lang="ja" sz="1100">
                <a:solidFill>
                  <a:srgbClr val="FFFFFF"/>
                </a:solidFill>
                <a:latin typeface="Noto Sans"/>
                <a:ea typeface="Noto Sans"/>
                <a:cs typeface="Noto Sans"/>
                <a:sym typeface="Noto Sans"/>
              </a:rPr>
            </a:br>
            <a:r>
              <a:rPr b="1" i="0" lang="ja" sz="1100" u="none" cap="none" strike="noStrike">
                <a:solidFill>
                  <a:srgbClr val="FFFFFF"/>
                </a:solidFill>
                <a:latin typeface="Noto Sans"/>
                <a:ea typeface="Noto Sans"/>
                <a:cs typeface="Noto Sans"/>
                <a:sym typeface="Noto Sans"/>
              </a:rPr>
              <a:t>候補抽出</a:t>
            </a:r>
            <a:endParaRPr b="0" i="0" sz="1100" u="none" cap="none" strike="noStrike">
              <a:solidFill>
                <a:schemeClr val="dk1"/>
              </a:solidFill>
              <a:latin typeface="Calibri"/>
              <a:ea typeface="Calibri"/>
              <a:cs typeface="Calibri"/>
              <a:sym typeface="Calibri"/>
            </a:endParaRPr>
          </a:p>
        </p:txBody>
      </p:sp>
      <p:sp>
        <p:nvSpPr>
          <p:cNvPr id="272" name="Google Shape;272;p20"/>
          <p:cNvSpPr/>
          <p:nvPr/>
        </p:nvSpPr>
        <p:spPr>
          <a:xfrm>
            <a:off x="3590163" y="2537460"/>
            <a:ext cx="3156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1E3"/>
              </a:buClr>
              <a:buSzPts val="1800"/>
              <a:buFont typeface="Calibri"/>
              <a:buNone/>
            </a:pPr>
            <a:r>
              <a:rPr b="1" i="0" lang="ja" sz="1800" u="none" cap="none" strike="noStrike">
                <a:solidFill>
                  <a:srgbClr val="8FC1E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73" name="Google Shape;273;p20"/>
          <p:cNvSpPr/>
          <p:nvPr/>
        </p:nvSpPr>
        <p:spPr>
          <a:xfrm>
            <a:off x="3891915" y="2537460"/>
            <a:ext cx="1337400" cy="788700"/>
          </a:xfrm>
          <a:prstGeom prst="roundRect">
            <a:avLst>
              <a:gd fmla="val 8696" name="adj"/>
            </a:avLst>
          </a:prstGeom>
          <a:solidFill>
            <a:srgbClr val="FFFFFF">
              <a:alpha val="12160"/>
            </a:srgbClr>
          </a:solidFill>
          <a:ln cap="flat" cmpd="sng" w="9525">
            <a:solidFill>
              <a:srgbClr val="8FC1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20"/>
          <p:cNvSpPr/>
          <p:nvPr/>
        </p:nvSpPr>
        <p:spPr>
          <a:xfrm>
            <a:off x="3891915" y="2537460"/>
            <a:ext cx="13374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Noto Sans"/>
              <a:buNone/>
            </a:pPr>
            <a:r>
              <a:rPr b="1" i="0" lang="ja" sz="1100" u="none" cap="none" strike="noStrike">
                <a:solidFill>
                  <a:srgbClr val="FFFFFF"/>
                </a:solidFill>
                <a:latin typeface="Noto Sans"/>
                <a:ea typeface="Noto Sans"/>
                <a:cs typeface="Noto Sans"/>
                <a:sym typeface="Noto Sans"/>
              </a:rPr>
              <a:t>現場確認</a:t>
            </a:r>
            <a:endParaRPr b="0" i="0" sz="1100" u="none" cap="none" strike="noStrike">
              <a:solidFill>
                <a:schemeClr val="dk1"/>
              </a:solidFill>
              <a:latin typeface="Calibri"/>
              <a:ea typeface="Calibri"/>
              <a:cs typeface="Calibri"/>
              <a:sym typeface="Calibri"/>
            </a:endParaRPr>
          </a:p>
        </p:txBody>
      </p:sp>
      <p:sp>
        <p:nvSpPr>
          <p:cNvPr id="275" name="Google Shape;275;p20"/>
          <p:cNvSpPr/>
          <p:nvPr/>
        </p:nvSpPr>
        <p:spPr>
          <a:xfrm>
            <a:off x="5215509" y="2537460"/>
            <a:ext cx="3156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1E3"/>
              </a:buClr>
              <a:buSzPts val="1800"/>
              <a:buFont typeface="Calibri"/>
              <a:buNone/>
            </a:pPr>
            <a:r>
              <a:rPr b="1" i="0" lang="ja" sz="1800" u="none" cap="none" strike="noStrike">
                <a:solidFill>
                  <a:srgbClr val="8FC1E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76" name="Google Shape;276;p20"/>
          <p:cNvSpPr/>
          <p:nvPr/>
        </p:nvSpPr>
        <p:spPr>
          <a:xfrm>
            <a:off x="5517261" y="2537460"/>
            <a:ext cx="1337400" cy="788700"/>
          </a:xfrm>
          <a:prstGeom prst="roundRect">
            <a:avLst>
              <a:gd fmla="val 8696" name="adj"/>
            </a:avLst>
          </a:prstGeom>
          <a:solidFill>
            <a:srgbClr val="FFFFFF">
              <a:alpha val="12160"/>
            </a:srgbClr>
          </a:solidFill>
          <a:ln cap="flat" cmpd="sng" w="9525">
            <a:solidFill>
              <a:srgbClr val="8FC1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20"/>
          <p:cNvSpPr/>
          <p:nvPr/>
        </p:nvSpPr>
        <p:spPr>
          <a:xfrm>
            <a:off x="5517261" y="2537460"/>
            <a:ext cx="13374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Noto Sans"/>
              <a:buNone/>
            </a:pPr>
            <a:r>
              <a:rPr b="1" lang="ja" sz="1100">
                <a:solidFill>
                  <a:srgbClr val="FFFFFF"/>
                </a:solidFill>
                <a:latin typeface="Noto Sans"/>
                <a:ea typeface="Noto Sans"/>
                <a:cs typeface="Noto Sans"/>
                <a:sym typeface="Noto Sans"/>
              </a:rPr>
              <a:t>ボトルネック解決</a:t>
            </a:r>
            <a:endParaRPr b="0" i="0" sz="1100" u="none" cap="none" strike="noStrike">
              <a:solidFill>
                <a:schemeClr val="dk1"/>
              </a:solidFill>
              <a:latin typeface="Calibri"/>
              <a:ea typeface="Calibri"/>
              <a:cs typeface="Calibri"/>
              <a:sym typeface="Calibri"/>
            </a:endParaRPr>
          </a:p>
        </p:txBody>
      </p:sp>
      <p:sp>
        <p:nvSpPr>
          <p:cNvPr id="278" name="Google Shape;278;p20"/>
          <p:cNvSpPr/>
          <p:nvPr/>
        </p:nvSpPr>
        <p:spPr>
          <a:xfrm>
            <a:off x="6840855" y="2537460"/>
            <a:ext cx="3156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1E3"/>
              </a:buClr>
              <a:buSzPts val="1800"/>
              <a:buFont typeface="Calibri"/>
              <a:buNone/>
            </a:pPr>
            <a:r>
              <a:rPr b="1" i="0" lang="ja" sz="1800" u="none" cap="none" strike="noStrike">
                <a:solidFill>
                  <a:srgbClr val="8FC1E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79" name="Google Shape;279;p20"/>
          <p:cNvSpPr/>
          <p:nvPr/>
        </p:nvSpPr>
        <p:spPr>
          <a:xfrm>
            <a:off x="7142607" y="2537460"/>
            <a:ext cx="1337400" cy="788700"/>
          </a:xfrm>
          <a:prstGeom prst="roundRect">
            <a:avLst>
              <a:gd fmla="val 8696" name="adj"/>
            </a:avLst>
          </a:prstGeom>
          <a:solidFill>
            <a:srgbClr val="FFFFFF">
              <a:alpha val="12160"/>
            </a:srgbClr>
          </a:solidFill>
          <a:ln cap="flat" cmpd="sng" w="9525">
            <a:solidFill>
              <a:srgbClr val="8FC1E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0"/>
          <p:cNvSpPr/>
          <p:nvPr/>
        </p:nvSpPr>
        <p:spPr>
          <a:xfrm>
            <a:off x="7142607" y="2537460"/>
            <a:ext cx="1337400" cy="7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Noto Sans"/>
              <a:buNone/>
            </a:pPr>
            <a:r>
              <a:rPr b="1" lang="ja" sz="1100">
                <a:solidFill>
                  <a:srgbClr val="FFFFFF"/>
                </a:solidFill>
                <a:latin typeface="Noto Sans"/>
                <a:ea typeface="Noto Sans"/>
                <a:cs typeface="Noto Sans"/>
                <a:sym typeface="Noto Sans"/>
              </a:rPr>
              <a:t>再分析</a:t>
            </a:r>
            <a:endParaRPr b="0" i="0" sz="1100" u="none" cap="none" strike="noStrike">
              <a:solidFill>
                <a:schemeClr val="dk1"/>
              </a:solidFill>
              <a:latin typeface="Calibri"/>
              <a:ea typeface="Calibri"/>
              <a:cs typeface="Calibri"/>
              <a:sym typeface="Calibri"/>
            </a:endParaRPr>
          </a:p>
        </p:txBody>
      </p:sp>
      <p:sp>
        <p:nvSpPr>
          <p:cNvPr id="281" name="Google Shape;281;p20"/>
          <p:cNvSpPr/>
          <p:nvPr/>
        </p:nvSpPr>
        <p:spPr>
          <a:xfrm>
            <a:off x="617220" y="3531870"/>
            <a:ext cx="7886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1E3"/>
              </a:buClr>
              <a:buSzPts val="1100"/>
              <a:buFont typeface="Noto Sans"/>
              <a:buNone/>
            </a:pPr>
            <a:r>
              <a:rPr b="0" i="0" lang="ja" sz="1100" u="none" cap="none" strike="noStrike">
                <a:solidFill>
                  <a:srgbClr val="8FC1E3"/>
                </a:solidFill>
                <a:latin typeface="Noto Sans"/>
                <a:ea typeface="Noto Sans"/>
                <a:cs typeface="Noto Sans"/>
                <a:sym typeface="Noto Sans"/>
              </a:rPr>
              <a:t>分析で終わらせず、現場で</a:t>
            </a:r>
            <a:r>
              <a:rPr lang="ja" sz="1100">
                <a:solidFill>
                  <a:srgbClr val="8FC1E3"/>
                </a:solidFill>
                <a:latin typeface="Noto Sans"/>
                <a:ea typeface="Noto Sans"/>
                <a:cs typeface="Noto Sans"/>
                <a:sym typeface="Noto Sans"/>
              </a:rPr>
              <a:t>分析・解決・改善</a:t>
            </a:r>
            <a:r>
              <a:rPr b="0" i="0" lang="ja" sz="1100" u="none" cap="none" strike="noStrike">
                <a:solidFill>
                  <a:srgbClr val="8FC1E3"/>
                </a:solidFill>
                <a:latin typeface="Noto Sans"/>
                <a:ea typeface="Noto Sans"/>
                <a:cs typeface="Noto Sans"/>
                <a:sym typeface="Noto Sans"/>
              </a:rPr>
              <a:t>が回り続けるサイクルへ。</a:t>
            </a:r>
            <a:endParaRPr b="0" i="0" sz="1100" u="none" cap="none" strike="noStrike">
              <a:solidFill>
                <a:schemeClr val="dk1"/>
              </a:solidFill>
              <a:latin typeface="Calibri"/>
              <a:ea typeface="Calibri"/>
              <a:cs typeface="Calibri"/>
              <a:sym typeface="Calibri"/>
            </a:endParaRPr>
          </a:p>
        </p:txBody>
      </p:sp>
      <p:sp>
        <p:nvSpPr>
          <p:cNvPr id="282" name="Google Shape;282;p20"/>
          <p:cNvSpPr/>
          <p:nvPr/>
        </p:nvSpPr>
        <p:spPr>
          <a:xfrm>
            <a:off x="617220" y="4663440"/>
            <a:ext cx="7543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800"/>
              <a:buFont typeface="Noto Sans"/>
              <a:buNone/>
            </a:pPr>
            <a:r>
              <a:rPr lang="ja" sz="800">
                <a:solidFill>
                  <a:srgbClr val="8FC1E3"/>
                </a:solidFill>
                <a:latin typeface="Noto Sans"/>
                <a:ea typeface="Noto Sans"/>
                <a:cs typeface="Noto Sans"/>
                <a:sym typeface="Noto Sans"/>
              </a:rPr>
              <a:t> </a:t>
            </a:r>
            <a:r>
              <a:rPr b="0" i="0" lang="ja" sz="800" u="none" cap="none" strike="noStrike">
                <a:solidFill>
                  <a:srgbClr val="8FC1E3"/>
                </a:solidFill>
                <a:latin typeface="Noto Sans"/>
                <a:ea typeface="Noto Sans"/>
                <a:cs typeface="Noto Sans"/>
                <a:sym typeface="Noto Sans"/>
              </a:rPr>
              <a:t>アルボース ｜ </a:t>
            </a:r>
            <a:r>
              <a:rPr lang="ja" sz="800">
                <a:solidFill>
                  <a:srgbClr val="8FC1E3"/>
                </a:solidFill>
                <a:latin typeface="Noto Sans"/>
                <a:ea typeface="Noto Sans"/>
                <a:cs typeface="Noto Sans"/>
                <a:sym typeface="Noto Sans"/>
              </a:rPr>
              <a:t>ボトルネック分析（初回提案）</a:t>
            </a:r>
            <a:endParaRPr sz="800">
              <a:solidFill>
                <a:srgbClr val="8FC1E3"/>
              </a:solidFill>
              <a:latin typeface="Noto Sans"/>
              <a:ea typeface="Noto Sans"/>
              <a:cs typeface="Noto Sans"/>
              <a:sym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5F"/>
        </a:solidFill>
      </p:bgPr>
    </p:bg>
    <p:spTree>
      <p:nvGrpSpPr>
        <p:cNvPr id="287" name="Shape 287"/>
        <p:cNvGrpSpPr/>
        <p:nvPr/>
      </p:nvGrpSpPr>
      <p:grpSpPr>
        <a:xfrm>
          <a:off x="0" y="0"/>
          <a:ext cx="0" cy="0"/>
          <a:chOff x="0" y="0"/>
          <a:chExt cx="0" cy="0"/>
        </a:xfrm>
      </p:grpSpPr>
      <p:sp>
        <p:nvSpPr>
          <p:cNvPr id="288" name="Google Shape;288;p21"/>
          <p:cNvSpPr/>
          <p:nvPr/>
        </p:nvSpPr>
        <p:spPr>
          <a:xfrm>
            <a:off x="617220" y="1851660"/>
            <a:ext cx="2743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500"/>
              <a:buFont typeface="Noto Sans"/>
              <a:buNone/>
            </a:pPr>
            <a:r>
              <a:rPr b="1" i="0" lang="ja" sz="4500" u="none" cap="none" strike="noStrike">
                <a:solidFill>
                  <a:srgbClr val="FFFFFF"/>
                </a:solidFill>
                <a:latin typeface="Noto Sans"/>
                <a:ea typeface="Noto Sans"/>
                <a:cs typeface="Noto Sans"/>
                <a:sym typeface="Noto Sans"/>
              </a:rPr>
              <a:t>付録</a:t>
            </a:r>
            <a:endParaRPr b="0" i="0" sz="4500" u="none" cap="none" strike="noStrike">
              <a:solidFill>
                <a:schemeClr val="dk1"/>
              </a:solidFill>
              <a:latin typeface="Calibri"/>
              <a:ea typeface="Calibri"/>
              <a:cs typeface="Calibri"/>
              <a:sym typeface="Calibri"/>
            </a:endParaRPr>
          </a:p>
        </p:txBody>
      </p:sp>
      <p:sp>
        <p:nvSpPr>
          <p:cNvPr id="289" name="Google Shape;289;p21"/>
          <p:cNvSpPr/>
          <p:nvPr/>
        </p:nvSpPr>
        <p:spPr>
          <a:xfrm>
            <a:off x="617220" y="2606040"/>
            <a:ext cx="685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1E3"/>
              </a:buClr>
              <a:buSzPts val="1400"/>
              <a:buFont typeface="Noto Sans"/>
              <a:buNone/>
            </a:pPr>
            <a:r>
              <a:rPr b="0" i="0" lang="ja" sz="1400" u="none" cap="none" strike="noStrike">
                <a:solidFill>
                  <a:srgbClr val="8FC1E3"/>
                </a:solidFill>
                <a:latin typeface="Noto Sans"/>
                <a:ea typeface="Noto Sans"/>
                <a:cs typeface="Noto Sans"/>
                <a:sym typeface="Noto Sans"/>
              </a:rPr>
              <a:t>数字編 ｜ 本編の補足データ</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2"/>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A1 ｜ 分析前提</a:t>
            </a:r>
            <a:endParaRPr b="0" i="0" sz="800" u="none" cap="none" strike="noStrike">
              <a:solidFill>
                <a:schemeClr val="dk1"/>
              </a:solidFill>
              <a:latin typeface="Calibri"/>
              <a:ea typeface="Calibri"/>
              <a:cs typeface="Calibri"/>
              <a:sym typeface="Calibri"/>
            </a:endParaRPr>
          </a:p>
        </p:txBody>
      </p:sp>
      <p:sp>
        <p:nvSpPr>
          <p:cNvPr id="296" name="Google Shape;296;p22"/>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分析前提と対象</a:t>
            </a:r>
            <a:endParaRPr b="0" i="0" sz="1800" u="none" cap="none" strike="noStrike">
              <a:solidFill>
                <a:schemeClr val="dk1"/>
              </a:solidFill>
              <a:latin typeface="Calibri"/>
              <a:ea typeface="Calibri"/>
              <a:cs typeface="Calibri"/>
              <a:sym typeface="Calibri"/>
            </a:endParaRPr>
          </a:p>
        </p:txBody>
      </p:sp>
      <p:graphicFrame>
        <p:nvGraphicFramePr>
          <p:cNvPr id="297" name="Google Shape;297;p22"/>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2057400"/>
                <a:gridCol w="5829300"/>
              </a:tblGrid>
              <a:tr h="425200">
                <a:tc>
                  <a:txBody>
                    <a:bodyPr/>
                    <a:lstStyle/>
                    <a:p>
                      <a:pPr indent="0" lvl="0" marL="0" marR="0" rtl="0" algn="l">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項目</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l">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内容</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対象</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A"/>
                        </a:buClr>
                        <a:buSzPts val="900"/>
                        <a:buFont typeface="Noto Sans"/>
                        <a:buNone/>
                      </a:pPr>
                      <a:r>
                        <a:rPr lang="ja" sz="900">
                          <a:solidFill>
                            <a:srgbClr val="1B2A3A"/>
                          </a:solidFill>
                          <a:latin typeface="Noto Sans"/>
                          <a:ea typeface="Noto Sans"/>
                          <a:cs typeface="Noto Sans"/>
                          <a:sym typeface="Noto Sans"/>
                        </a:rPr>
                        <a:t> </a:t>
                      </a:r>
                      <a:r>
                        <a:rPr lang="ja" sz="900" u="none" cap="none" strike="noStrike">
                          <a:solidFill>
                            <a:srgbClr val="1B2A3A"/>
                          </a:solidFill>
                          <a:latin typeface="Noto Sans"/>
                          <a:ea typeface="Noto Sans"/>
                          <a:cs typeface="Noto Sans"/>
                          <a:sym typeface="Noto Sans"/>
                        </a:rPr>
                        <a:t>アルボースのデイ／ショート／ロング利用履歴</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目的指標</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ショートステイ ＋ ロングステイ ／ 100床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入所日次データ</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2025-04-01 〜 2026-05-31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デイサービスデータ</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2025-04-01 〜 2026-06-08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定員</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100床（2F 54床／3F 36床／ユニット 10床）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備考</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分類不明の入所データは入所率指標から除外</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bl>
          </a:graphicData>
        </a:graphic>
      </p:graphicFrame>
      <p:sp>
        <p:nvSpPr>
          <p:cNvPr id="298" name="Google Shape;298;p22"/>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299" name="Google Shape;299;p22"/>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23"/>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A2 ｜ 現状</a:t>
            </a:r>
            <a:endParaRPr b="0" i="0" sz="800" u="none" cap="none" strike="noStrike">
              <a:solidFill>
                <a:schemeClr val="dk1"/>
              </a:solidFill>
              <a:latin typeface="Calibri"/>
              <a:ea typeface="Calibri"/>
              <a:cs typeface="Calibri"/>
              <a:sym typeface="Calibri"/>
            </a:endParaRPr>
          </a:p>
        </p:txBody>
      </p:sp>
      <p:sp>
        <p:nvSpPr>
          <p:cNvPr id="306" name="Google Shape;306;p23"/>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現状の入所率（2026年4-5月）</a:t>
            </a:r>
            <a:endParaRPr b="0" i="0" sz="1800" u="none" cap="none" strike="noStrike">
              <a:solidFill>
                <a:schemeClr val="dk1"/>
              </a:solidFill>
              <a:latin typeface="Calibri"/>
              <a:ea typeface="Calibri"/>
              <a:cs typeface="Calibri"/>
              <a:sym typeface="Calibri"/>
            </a:endParaRPr>
          </a:p>
        </p:txBody>
      </p:sp>
      <p:graphicFrame>
        <p:nvGraphicFramePr>
          <p:cNvPr id="307" name="Google Shape;307;p23"/>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3771900"/>
                <a:gridCol w="2057400"/>
              </a:tblGrid>
              <a:tr h="3429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指標</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数値</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ショート＋ロング入所率</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95.0%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98%到達に必要な追加床日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180床日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1日あたり必要な追加稼働</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約3.0床/日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対象期間 / 総床日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61日間 / 6,100床日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ロング床日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5,200床日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598床日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ショート＋ロング床日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5,798床日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08" name="Google Shape;308;p23"/>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09" name="Google Shape;309;p23"/>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4"/>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A3 ｜ 前年比較</a:t>
            </a:r>
            <a:endParaRPr b="0" i="0" sz="800" u="none" cap="none" strike="noStrike">
              <a:solidFill>
                <a:schemeClr val="dk1"/>
              </a:solidFill>
              <a:latin typeface="Calibri"/>
              <a:ea typeface="Calibri"/>
              <a:cs typeface="Calibri"/>
              <a:sym typeface="Calibri"/>
            </a:endParaRPr>
          </a:p>
        </p:txBody>
      </p:sp>
      <p:sp>
        <p:nvSpPr>
          <p:cNvPr id="316" name="Google Shape;316;p24"/>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前年同期間比較（4-5月）</a:t>
            </a:r>
            <a:endParaRPr b="0" i="0" sz="1800" u="none" cap="none" strike="noStrike">
              <a:solidFill>
                <a:schemeClr val="dk1"/>
              </a:solidFill>
              <a:latin typeface="Calibri"/>
              <a:ea typeface="Calibri"/>
              <a:cs typeface="Calibri"/>
              <a:sym typeface="Calibri"/>
            </a:endParaRPr>
          </a:p>
        </p:txBody>
      </p:sp>
      <p:graphicFrame>
        <p:nvGraphicFramePr>
          <p:cNvPr id="317" name="Google Shape;317;p24"/>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2194550"/>
                <a:gridCol w="1371600"/>
                <a:gridCol w="1371600"/>
                <a:gridCol w="2263150"/>
                <a:gridCol w="685800"/>
              </a:tblGrid>
              <a:tr h="3772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期間</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ショート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ショート＋ロング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入所率</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2025年4-5月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5,169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763</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5,932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97.2%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2026年4-5月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5,200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598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5,798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95.0%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差分</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-165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-134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-2.2pt</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18" name="Google Shape;318;p24"/>
          <p:cNvSpPr/>
          <p:nvPr/>
        </p:nvSpPr>
        <p:spPr>
          <a:xfrm>
            <a:off x="617220" y="2811780"/>
            <a:ext cx="7886700" cy="61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入所率低下を前年差で見ると、主因はロング不足ではなくショート稼働の低下（ショート床日 -165）。ロング床日はむしろ +31。</a:t>
            </a:r>
            <a:endParaRPr b="0" i="0" sz="900" u="none" cap="none" strike="noStrike">
              <a:solidFill>
                <a:schemeClr val="dk1"/>
              </a:solidFill>
              <a:latin typeface="Calibri"/>
              <a:ea typeface="Calibri"/>
              <a:cs typeface="Calibri"/>
              <a:sym typeface="Calibri"/>
            </a:endParaRPr>
          </a:p>
        </p:txBody>
      </p:sp>
      <p:sp>
        <p:nvSpPr>
          <p:cNvPr id="319" name="Google Shape;319;p24"/>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20" name="Google Shape;320;p24"/>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5"/>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A4 ｜ フロア別</a:t>
            </a:r>
            <a:endParaRPr b="0" i="0" sz="800" u="none" cap="none" strike="noStrike">
              <a:solidFill>
                <a:schemeClr val="dk1"/>
              </a:solidFill>
              <a:latin typeface="Calibri"/>
              <a:ea typeface="Calibri"/>
              <a:cs typeface="Calibri"/>
              <a:sym typeface="Calibri"/>
            </a:endParaRPr>
          </a:p>
        </p:txBody>
      </p:sp>
      <p:sp>
        <p:nvSpPr>
          <p:cNvPr id="327" name="Google Shape;327;p25"/>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フロア別の現状</a:t>
            </a:r>
            <a:endParaRPr b="0" i="0" sz="1800" u="none" cap="none" strike="noStrike">
              <a:solidFill>
                <a:schemeClr val="dk1"/>
              </a:solidFill>
              <a:latin typeface="Calibri"/>
              <a:ea typeface="Calibri"/>
              <a:cs typeface="Calibri"/>
              <a:sym typeface="Calibri"/>
            </a:endParaRPr>
          </a:p>
        </p:txBody>
      </p:sp>
      <p:graphicFrame>
        <p:nvGraphicFramePr>
          <p:cNvPr id="328" name="Google Shape;328;p25"/>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1645925"/>
                <a:gridCol w="1028700"/>
                <a:gridCol w="1165850"/>
                <a:gridCol w="1371600"/>
                <a:gridCol w="1234450"/>
                <a:gridCol w="1440200"/>
              </a:tblGrid>
              <a:tr h="3772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フロア</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定員</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入所率</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平均入所床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平均空床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平均ショート床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96.0%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51.9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93.9%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33.8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ユニット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93.9%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0.6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29" name="Google Shape;329;p25"/>
          <p:cNvSpPr/>
          <p:nvPr/>
        </p:nvSpPr>
        <p:spPr>
          <a:xfrm>
            <a:off x="617220" y="2777490"/>
            <a:ext cx="7886700" cy="61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数値は床/日（定員・入所率を除く）。3Fは平均2.2床/日の空きがある一方、平均ショート床は2.4床/日に留まる。既存ショート候補だけでは埋めきれない可能性があり、新規ショート候補を広げる視点が必要。</a:t>
            </a:r>
            <a:endParaRPr b="0" i="0" sz="900" u="none" cap="none" strike="noStrike">
              <a:solidFill>
                <a:schemeClr val="dk1"/>
              </a:solidFill>
              <a:latin typeface="Calibri"/>
              <a:ea typeface="Calibri"/>
              <a:cs typeface="Calibri"/>
              <a:sym typeface="Calibri"/>
            </a:endParaRPr>
          </a:p>
        </p:txBody>
      </p:sp>
      <p:sp>
        <p:nvSpPr>
          <p:cNvPr id="330" name="Google Shape;330;p25"/>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31" name="Google Shape;331;p25"/>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26"/>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A5 ｜ 流入経路</a:t>
            </a:r>
            <a:endParaRPr b="0" i="0" sz="800" u="none" cap="none" strike="noStrike">
              <a:solidFill>
                <a:schemeClr val="dk1"/>
              </a:solidFill>
              <a:latin typeface="Calibri"/>
              <a:ea typeface="Calibri"/>
              <a:cs typeface="Calibri"/>
              <a:sym typeface="Calibri"/>
            </a:endParaRPr>
          </a:p>
        </p:txBody>
      </p:sp>
      <p:sp>
        <p:nvSpPr>
          <p:cNvPr id="338" name="Google Shape;338;p26"/>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ロング入所前の流入経路（2F/3F）</a:t>
            </a:r>
            <a:endParaRPr b="0" i="0" sz="1800" u="none" cap="none" strike="noStrike">
              <a:solidFill>
                <a:schemeClr val="dk1"/>
              </a:solidFill>
              <a:latin typeface="Calibri"/>
              <a:ea typeface="Calibri"/>
              <a:cs typeface="Calibri"/>
              <a:sym typeface="Calibri"/>
            </a:endParaRPr>
          </a:p>
        </p:txBody>
      </p:sp>
      <p:graphicFrame>
        <p:nvGraphicFramePr>
          <p:cNvPr id="339" name="Google Shape;339;p26"/>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3154700"/>
                <a:gridCol w="1097300"/>
                <a:gridCol w="1165850"/>
                <a:gridCol w="1097300"/>
                <a:gridCol w="1097300"/>
              </a:tblGrid>
              <a:tr h="3429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流入経路</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件数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構成比</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2F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3F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51.3%</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13</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ロング直接 / 履歴なし</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35.9%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デイ→ショート→ロング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7.7%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デイ→ロング直接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429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ショート＋デイ→ロング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40" name="Google Shape;340;p26"/>
          <p:cNvSpPr/>
          <p:nvPr/>
        </p:nvSpPr>
        <p:spPr>
          <a:xfrm>
            <a:off x="617220" y="3429000"/>
            <a:ext cx="7886700" cy="61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最多経路はショート→ロング。デイ利用者は、ロングへ直接つなげる対象というより、まず初回ショートにつなげる母集団として見るのが自然。</a:t>
            </a:r>
            <a:endParaRPr b="0" i="0" sz="900" u="none" cap="none" strike="noStrike">
              <a:solidFill>
                <a:schemeClr val="dk1"/>
              </a:solidFill>
              <a:latin typeface="Calibri"/>
              <a:ea typeface="Calibri"/>
              <a:cs typeface="Calibri"/>
              <a:sym typeface="Calibri"/>
            </a:endParaRPr>
          </a:p>
        </p:txBody>
      </p:sp>
      <p:sp>
        <p:nvSpPr>
          <p:cNvPr id="341" name="Google Shape;341;p26"/>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42" name="Google Shape;342;p26"/>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27"/>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A6 ｜ デイ利用者</a:t>
            </a:r>
            <a:endParaRPr b="0" i="0" sz="800" u="none" cap="none" strike="noStrike">
              <a:solidFill>
                <a:schemeClr val="dk1"/>
              </a:solidFill>
              <a:latin typeface="Calibri"/>
              <a:ea typeface="Calibri"/>
              <a:cs typeface="Calibri"/>
              <a:sym typeface="Calibri"/>
            </a:endParaRPr>
          </a:p>
        </p:txBody>
      </p:sp>
      <p:sp>
        <p:nvSpPr>
          <p:cNvPr id="349" name="Google Shape;349;p27"/>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デイ利用者の位置づけ</a:t>
            </a:r>
            <a:endParaRPr b="0" i="0" sz="1800" u="none" cap="none" strike="noStrike">
              <a:solidFill>
                <a:schemeClr val="dk1"/>
              </a:solidFill>
              <a:latin typeface="Calibri"/>
              <a:ea typeface="Calibri"/>
              <a:cs typeface="Calibri"/>
              <a:sym typeface="Calibri"/>
            </a:endParaRPr>
          </a:p>
        </p:txBody>
      </p:sp>
      <p:sp>
        <p:nvSpPr>
          <p:cNvPr id="350" name="Google Shape;350;p27"/>
          <p:cNvSpPr/>
          <p:nvPr/>
        </p:nvSpPr>
        <p:spPr>
          <a:xfrm>
            <a:off x="617220" y="1131570"/>
            <a:ext cx="37719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000"/>
              <a:buFont typeface="Noto Sans"/>
              <a:buNone/>
            </a:pPr>
            <a:r>
              <a:rPr b="1" i="0" lang="ja" sz="1000" u="none" cap="none" strike="noStrike">
                <a:solidFill>
                  <a:srgbClr val="1E3A5F"/>
                </a:solidFill>
                <a:latin typeface="Noto Sans"/>
                <a:ea typeface="Noto Sans"/>
                <a:cs typeface="Noto Sans"/>
                <a:sym typeface="Noto Sans"/>
              </a:rPr>
              <a:t>利用区分（n=151）</a:t>
            </a:r>
            <a:endParaRPr b="0" i="0" sz="1000" u="none" cap="none" strike="noStrike">
              <a:solidFill>
                <a:schemeClr val="dk1"/>
              </a:solidFill>
              <a:latin typeface="Calibri"/>
              <a:ea typeface="Calibri"/>
              <a:cs typeface="Calibri"/>
              <a:sym typeface="Calibri"/>
            </a:endParaRPr>
          </a:p>
        </p:txBody>
      </p:sp>
      <p:graphicFrame>
        <p:nvGraphicFramePr>
          <p:cNvPr id="351" name="Google Shape;351;p27"/>
          <p:cNvGraphicFramePr/>
          <p:nvPr/>
        </p:nvGraphicFramePr>
        <p:xfrm>
          <a:off x="617220" y="1405890"/>
          <a:ext cx="3000000" cy="3000000"/>
        </p:xfrm>
        <a:graphic>
          <a:graphicData uri="http://schemas.openxmlformats.org/drawingml/2006/table">
            <a:tbl>
              <a:tblPr>
                <a:noFill/>
                <a:tableStyleId>{43D2D4E0-5D17-468C-9A56-99068DBDCAB3}</a:tableStyleId>
              </a:tblPr>
              <a:tblGrid>
                <a:gridCol w="2811800"/>
                <a:gridCol w="960125"/>
              </a:tblGrid>
              <a:tr h="3772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区分</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人数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デイ利用者 全体</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151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直近1年でショート/ロング利用あり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直近1年でショート/ロング未利用</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52" name="Google Shape;352;p27"/>
          <p:cNvSpPr/>
          <p:nvPr/>
        </p:nvSpPr>
        <p:spPr>
          <a:xfrm>
            <a:off x="4732020" y="1131570"/>
            <a:ext cx="37719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000"/>
              <a:buFont typeface="Noto Sans"/>
              <a:buNone/>
            </a:pPr>
            <a:r>
              <a:rPr b="1" i="0" lang="ja" sz="1000" u="none" cap="none" strike="noStrike">
                <a:solidFill>
                  <a:srgbClr val="1E3A5F"/>
                </a:solidFill>
                <a:latin typeface="Noto Sans"/>
                <a:ea typeface="Noto Sans"/>
                <a:cs typeface="Noto Sans"/>
                <a:sym typeface="Noto Sans"/>
              </a:rPr>
              <a:t>入所への接続状況</a:t>
            </a:r>
            <a:endParaRPr b="0" i="0" sz="1000" u="none" cap="none" strike="noStrike">
              <a:solidFill>
                <a:schemeClr val="dk1"/>
              </a:solidFill>
              <a:latin typeface="Calibri"/>
              <a:ea typeface="Calibri"/>
              <a:cs typeface="Calibri"/>
              <a:sym typeface="Calibri"/>
            </a:endParaRPr>
          </a:p>
        </p:txBody>
      </p:sp>
      <p:graphicFrame>
        <p:nvGraphicFramePr>
          <p:cNvPr id="353" name="Google Shape;353;p27"/>
          <p:cNvGraphicFramePr/>
          <p:nvPr/>
        </p:nvGraphicFramePr>
        <p:xfrm>
          <a:off x="4732020" y="1405890"/>
          <a:ext cx="3000000" cy="3000000"/>
        </p:xfrm>
        <a:graphic>
          <a:graphicData uri="http://schemas.openxmlformats.org/drawingml/2006/table">
            <a:tbl>
              <a:tblPr>
                <a:noFill/>
                <a:tableStyleId>{43D2D4E0-5D17-468C-9A56-99068DBDCAB3}</a:tableStyleId>
              </a:tblPr>
              <a:tblGrid>
                <a:gridCol w="1988825"/>
                <a:gridCol w="891550"/>
                <a:gridCol w="891550"/>
              </a:tblGrid>
              <a:tr h="377200">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指標</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人数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全デイ比</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デイ後ショート利用</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27.8%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デイ→ショート→ロング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7720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デイ→ロング直接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54" name="Google Shape;354;p27"/>
          <p:cNvSpPr/>
          <p:nvPr/>
        </p:nvSpPr>
        <p:spPr>
          <a:xfrm>
            <a:off x="617220" y="3154680"/>
            <a:ext cx="7886700" cy="61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デイ利用者数そのものは入所率指標には直接入らない。94名は直近1年でショート/ロング未利用。入所率改善には、デイ高頻度者の中から初回ショートにつながり得る層を見つけることが重要。</a:t>
            </a:r>
            <a:endParaRPr b="0" i="0" sz="900" u="none" cap="none" strike="noStrike">
              <a:solidFill>
                <a:schemeClr val="dk1"/>
              </a:solidFill>
              <a:latin typeface="Calibri"/>
              <a:ea typeface="Calibri"/>
              <a:cs typeface="Calibri"/>
              <a:sym typeface="Calibri"/>
            </a:endParaRPr>
          </a:p>
        </p:txBody>
      </p:sp>
      <p:sp>
        <p:nvSpPr>
          <p:cNvPr id="355" name="Google Shape;355;p27"/>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56" name="Google Shape;356;p27"/>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8"/>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A7 ｜ ロング転換</a:t>
            </a:r>
            <a:endParaRPr b="0" i="0" sz="800" u="none" cap="none" strike="noStrike">
              <a:solidFill>
                <a:schemeClr val="dk1"/>
              </a:solidFill>
              <a:latin typeface="Calibri"/>
              <a:ea typeface="Calibri"/>
              <a:cs typeface="Calibri"/>
              <a:sym typeface="Calibri"/>
            </a:endParaRPr>
          </a:p>
        </p:txBody>
      </p:sp>
      <p:sp>
        <p:nvSpPr>
          <p:cNvPr id="363" name="Google Shape;363;p28"/>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ショート利用日数とロング転換</a:t>
            </a:r>
            <a:endParaRPr b="0" i="0" sz="1800" u="none" cap="none" strike="noStrike">
              <a:solidFill>
                <a:schemeClr val="dk1"/>
              </a:solidFill>
              <a:latin typeface="Calibri"/>
              <a:ea typeface="Calibri"/>
              <a:cs typeface="Calibri"/>
              <a:sym typeface="Calibri"/>
            </a:endParaRPr>
          </a:p>
        </p:txBody>
      </p:sp>
      <p:graphicFrame>
        <p:nvGraphicFramePr>
          <p:cNvPr id="364" name="Google Shape;364;p28"/>
          <p:cNvGraphicFramePr/>
          <p:nvPr/>
        </p:nvGraphicFramePr>
        <p:xfrm>
          <a:off x="617220" y="1165860"/>
          <a:ext cx="3000000" cy="3000000"/>
        </p:xfrm>
        <a:graphic>
          <a:graphicData uri="http://schemas.openxmlformats.org/drawingml/2006/table">
            <a:tbl>
              <a:tblPr>
                <a:noFill/>
                <a:tableStyleId>{43D2D4E0-5D17-468C-9A56-99068DBDCAB3}</a:tableStyleId>
              </a:tblPr>
              <a:tblGrid>
                <a:gridCol w="2057400"/>
                <a:gridCol w="1371600"/>
                <a:gridCol w="1371600"/>
                <a:gridCol w="1371600"/>
              </a:tblGrid>
              <a:tr h="315475">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ショート利用日数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人数</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ロング転換</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c>
                  <a:txBody>
                    <a:bodyPr/>
                    <a:lstStyle/>
                    <a:p>
                      <a:pPr indent="0" lvl="0" marL="0" marR="0" rtl="0" algn="ctr">
                        <a:spcBef>
                          <a:spcPts val="0"/>
                        </a:spcBef>
                        <a:spcAft>
                          <a:spcPts val="0"/>
                        </a:spcAft>
                        <a:buClr>
                          <a:srgbClr val="FFFFFF"/>
                        </a:buClr>
                        <a:buSzPts val="900"/>
                        <a:buFont typeface="Noto Sans"/>
                        <a:buNone/>
                      </a:pPr>
                      <a:r>
                        <a:rPr b="1" lang="ja" sz="900" u="none" cap="none" strike="noStrike">
                          <a:solidFill>
                            <a:srgbClr val="FFFFFF"/>
                          </a:solidFill>
                          <a:latin typeface="Noto Sans"/>
                          <a:ea typeface="Noto Sans"/>
                          <a:cs typeface="Noto Sans"/>
                          <a:sym typeface="Noto Sans"/>
                        </a:rPr>
                        <a:t>転換率</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1E3A5F"/>
                    </a:solidFill>
                  </a:tcPr>
                </a:tc>
              </a:tr>
              <a:tr h="315475">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1-3日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0.0%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15475">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4-7日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23.5%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15475">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8-14日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15475">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15-30日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58.7%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4F8FC"/>
                    </a:solidFill>
                  </a:tcPr>
                </a:tc>
              </a:tr>
              <a:tr h="315475">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31日以上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43.2%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65" name="Google Shape;365;p28"/>
          <p:cNvSpPr/>
          <p:nvPr/>
        </p:nvSpPr>
        <p:spPr>
          <a:xfrm>
            <a:off x="617220" y="3120390"/>
            <a:ext cx="7886700" cy="61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ショート15日以上の利用者は90名、うちロング転換46名（転換率51.1%）。ただし優先順位は転換率だけで決めず、短期の床日増・中期の安定稼働・長期の母集団作りを分けて考える。</a:t>
            </a:r>
            <a:endParaRPr b="0" i="0" sz="900" u="none" cap="none" strike="noStrike">
              <a:solidFill>
                <a:schemeClr val="dk1"/>
              </a:solidFill>
              <a:latin typeface="Calibri"/>
              <a:ea typeface="Calibri"/>
              <a:cs typeface="Calibri"/>
              <a:sym typeface="Calibri"/>
            </a:endParaRPr>
          </a:p>
        </p:txBody>
      </p:sp>
      <p:sp>
        <p:nvSpPr>
          <p:cNvPr id="366" name="Google Shape;366;p28"/>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67" name="Google Shape;367;p28"/>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9"/>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A8 ｜ フォロー候補</a:t>
            </a:r>
            <a:endParaRPr b="0" i="0" sz="800" u="none" cap="none" strike="noStrike">
              <a:solidFill>
                <a:schemeClr val="dk1"/>
              </a:solidFill>
              <a:latin typeface="Calibri"/>
              <a:ea typeface="Calibri"/>
              <a:cs typeface="Calibri"/>
              <a:sym typeface="Calibri"/>
            </a:endParaRPr>
          </a:p>
        </p:txBody>
      </p:sp>
      <p:sp>
        <p:nvSpPr>
          <p:cNvPr id="374" name="Google Shape;374;p29"/>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優先フォロー候補の人数</a:t>
            </a:r>
            <a:endParaRPr b="0" i="0" sz="1800" u="none" cap="none" strike="noStrike">
              <a:solidFill>
                <a:schemeClr val="dk1"/>
              </a:solidFill>
              <a:latin typeface="Calibri"/>
              <a:ea typeface="Calibri"/>
              <a:cs typeface="Calibri"/>
              <a:sym typeface="Calibri"/>
            </a:endParaRPr>
          </a:p>
        </p:txBody>
      </p:sp>
      <p:sp>
        <p:nvSpPr>
          <p:cNvPr id="375" name="Google Shape;375;p29"/>
          <p:cNvSpPr/>
          <p:nvPr/>
        </p:nvSpPr>
        <p:spPr>
          <a:xfrm>
            <a:off x="617220" y="1200150"/>
            <a:ext cx="2400300" cy="2400300"/>
          </a:xfrm>
          <a:prstGeom prst="roundRect">
            <a:avLst>
              <a:gd fmla="val 2286"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6" name="Google Shape;376;p29"/>
          <p:cNvSpPr/>
          <p:nvPr/>
        </p:nvSpPr>
        <p:spPr>
          <a:xfrm>
            <a:off x="857250" y="1392174"/>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300"/>
              <a:buFont typeface="Noto Sans"/>
              <a:buNone/>
            </a:pPr>
            <a:r>
              <a:rPr b="1" i="0" lang="ja" sz="1300" u="none" cap="none" strike="noStrike">
                <a:solidFill>
                  <a:srgbClr val="1E3A5F"/>
                </a:solidFill>
                <a:latin typeface="Noto Sans"/>
                <a:ea typeface="Noto Sans"/>
                <a:cs typeface="Noto Sans"/>
                <a:sym typeface="Noto Sans"/>
              </a:rPr>
              <a:t>短期</a:t>
            </a:r>
            <a:endParaRPr b="0" i="0" sz="1300" u="none" cap="none" strike="noStrike">
              <a:solidFill>
                <a:schemeClr val="dk1"/>
              </a:solidFill>
              <a:latin typeface="Calibri"/>
              <a:ea typeface="Calibri"/>
              <a:cs typeface="Calibri"/>
              <a:sym typeface="Calibri"/>
            </a:endParaRPr>
          </a:p>
        </p:txBody>
      </p:sp>
      <p:sp>
        <p:nvSpPr>
          <p:cNvPr id="377" name="Google Shape;377;p29"/>
          <p:cNvSpPr/>
          <p:nvPr/>
        </p:nvSpPr>
        <p:spPr>
          <a:xfrm>
            <a:off x="857250" y="1693926"/>
            <a:ext cx="1920300" cy="41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直近ショート1-14日・ロング未転換</a:t>
            </a:r>
            <a:endParaRPr b="0" i="0" sz="900" u="none" cap="none" strike="noStrike">
              <a:solidFill>
                <a:schemeClr val="dk1"/>
              </a:solidFill>
              <a:latin typeface="Calibri"/>
              <a:ea typeface="Calibri"/>
              <a:cs typeface="Calibri"/>
              <a:sym typeface="Calibri"/>
            </a:endParaRPr>
          </a:p>
        </p:txBody>
      </p:sp>
      <p:graphicFrame>
        <p:nvGraphicFramePr>
          <p:cNvPr id="378" name="Google Shape;378;p29"/>
          <p:cNvGraphicFramePr/>
          <p:nvPr/>
        </p:nvGraphicFramePr>
        <p:xfrm>
          <a:off x="857250" y="2194560"/>
          <a:ext cx="3000000" cy="3000000"/>
        </p:xfrm>
        <a:graphic>
          <a:graphicData uri="http://schemas.openxmlformats.org/drawingml/2006/table">
            <a:tbl>
              <a:tblPr>
                <a:noFill/>
                <a:tableStyleId>{43D2D4E0-5D17-468C-9A56-99068DBDCAB3}</a:tableStyleId>
              </a:tblPr>
              <a:tblGrid>
                <a:gridCol w="1234450"/>
                <a:gridCol w="685800"/>
              </a:tblGrid>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ユニット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b="1" lang="ja" sz="900" u="none" cap="none" strike="noStrike">
                          <a:solidFill>
                            <a:srgbClr val="1B2A3A"/>
                          </a:solidFill>
                          <a:latin typeface="Noto Sans"/>
                          <a:ea typeface="Noto Sans"/>
                          <a:cs typeface="Noto Sans"/>
                          <a:sym typeface="Noto Sans"/>
                        </a:rPr>
                        <a:t>合計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F6FB2"/>
                        </a:buClr>
                        <a:buSzPts val="900"/>
                        <a:buFont typeface="Noto Sans"/>
                        <a:buNone/>
                      </a:pPr>
                      <a:r>
                        <a:rPr b="1" lang="ja" sz="900" u="none" cap="none" strike="noStrike">
                          <a:solidFill>
                            <a:srgbClr val="1F6FB2"/>
                          </a:solidFill>
                          <a:latin typeface="Noto Sans"/>
                          <a:ea typeface="Noto Sans"/>
                          <a:cs typeface="Noto Sans"/>
                          <a:sym typeface="Noto Sans"/>
                        </a:rPr>
                        <a:t>14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79" name="Google Shape;379;p29"/>
          <p:cNvSpPr/>
          <p:nvPr/>
        </p:nvSpPr>
        <p:spPr>
          <a:xfrm>
            <a:off x="3360420" y="1200150"/>
            <a:ext cx="2400300" cy="2400300"/>
          </a:xfrm>
          <a:prstGeom prst="roundRect">
            <a:avLst>
              <a:gd fmla="val 2286"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0" name="Google Shape;380;p29"/>
          <p:cNvSpPr/>
          <p:nvPr/>
        </p:nvSpPr>
        <p:spPr>
          <a:xfrm>
            <a:off x="3600450" y="1392174"/>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300"/>
              <a:buFont typeface="Noto Sans"/>
              <a:buNone/>
            </a:pPr>
            <a:r>
              <a:rPr b="1" i="0" lang="ja" sz="1300" u="none" cap="none" strike="noStrike">
                <a:solidFill>
                  <a:srgbClr val="1E3A5F"/>
                </a:solidFill>
                <a:latin typeface="Noto Sans"/>
                <a:ea typeface="Noto Sans"/>
                <a:cs typeface="Noto Sans"/>
                <a:sym typeface="Noto Sans"/>
              </a:rPr>
              <a:t>中期</a:t>
            </a:r>
            <a:endParaRPr b="0" i="0" sz="1300" u="none" cap="none" strike="noStrike">
              <a:solidFill>
                <a:schemeClr val="dk1"/>
              </a:solidFill>
              <a:latin typeface="Calibri"/>
              <a:ea typeface="Calibri"/>
              <a:cs typeface="Calibri"/>
              <a:sym typeface="Calibri"/>
            </a:endParaRPr>
          </a:p>
        </p:txBody>
      </p:sp>
      <p:sp>
        <p:nvSpPr>
          <p:cNvPr id="381" name="Google Shape;381;p29"/>
          <p:cNvSpPr/>
          <p:nvPr/>
        </p:nvSpPr>
        <p:spPr>
          <a:xfrm>
            <a:off x="3600450" y="1693926"/>
            <a:ext cx="1920300" cy="41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直近ショート15日以上・ロング未転換</a:t>
            </a:r>
            <a:endParaRPr b="0" i="0" sz="900" u="none" cap="none" strike="noStrike">
              <a:solidFill>
                <a:schemeClr val="dk1"/>
              </a:solidFill>
              <a:latin typeface="Calibri"/>
              <a:ea typeface="Calibri"/>
              <a:cs typeface="Calibri"/>
              <a:sym typeface="Calibri"/>
            </a:endParaRPr>
          </a:p>
        </p:txBody>
      </p:sp>
      <p:graphicFrame>
        <p:nvGraphicFramePr>
          <p:cNvPr id="382" name="Google Shape;382;p29"/>
          <p:cNvGraphicFramePr/>
          <p:nvPr/>
        </p:nvGraphicFramePr>
        <p:xfrm>
          <a:off x="3600450" y="2194560"/>
          <a:ext cx="3000000" cy="3000000"/>
        </p:xfrm>
        <a:graphic>
          <a:graphicData uri="http://schemas.openxmlformats.org/drawingml/2006/table">
            <a:tbl>
              <a:tblPr>
                <a:noFill/>
                <a:tableStyleId>{43D2D4E0-5D17-468C-9A56-99068DBDCAB3}</a:tableStyleId>
              </a:tblPr>
              <a:tblGrid>
                <a:gridCol w="1234450"/>
                <a:gridCol w="685800"/>
              </a:tblGrid>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17</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3F</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5</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ユニット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2</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b="1" lang="ja" sz="900" u="none" cap="none" strike="noStrike">
                          <a:solidFill>
                            <a:srgbClr val="1B2A3A"/>
                          </a:solidFill>
                          <a:latin typeface="Noto Sans"/>
                          <a:ea typeface="Noto Sans"/>
                          <a:cs typeface="Noto Sans"/>
                          <a:sym typeface="Noto Sans"/>
                        </a:rPr>
                        <a:t>合計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F6FB2"/>
                        </a:buClr>
                        <a:buSzPts val="900"/>
                        <a:buFont typeface="Noto Sans"/>
                        <a:buNone/>
                      </a:pPr>
                      <a:r>
                        <a:rPr b="1" lang="ja" sz="900" u="none" cap="none" strike="noStrike">
                          <a:solidFill>
                            <a:srgbClr val="1F6FB2"/>
                          </a:solidFill>
                          <a:latin typeface="Noto Sans"/>
                          <a:ea typeface="Noto Sans"/>
                          <a:cs typeface="Noto Sans"/>
                          <a:sym typeface="Noto Sans"/>
                        </a:rPr>
                        <a:t>24</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83" name="Google Shape;383;p29"/>
          <p:cNvSpPr/>
          <p:nvPr/>
        </p:nvSpPr>
        <p:spPr>
          <a:xfrm>
            <a:off x="6103620" y="1200150"/>
            <a:ext cx="2400300" cy="2400300"/>
          </a:xfrm>
          <a:prstGeom prst="roundRect">
            <a:avLst>
              <a:gd fmla="val 2286" name="adj"/>
            </a:avLst>
          </a:prstGeom>
          <a:solidFill>
            <a:srgbClr val="F4F8FC"/>
          </a:solidFill>
          <a:ln cap="flat" cmpd="sng" w="9525">
            <a:solidFill>
              <a:srgbClr val="D2DEEA"/>
            </a:solidFill>
            <a:prstDash val="solid"/>
            <a:round/>
            <a:headEnd len="sm" w="sm" type="none"/>
            <a:tailEnd len="sm" w="sm" type="none"/>
          </a:ln>
          <a:effectLst>
            <a:outerShdw blurRad="66675" rotWithShape="0" algn="bl" dir="5400000" dist="1905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4" name="Google Shape;384;p29"/>
          <p:cNvSpPr/>
          <p:nvPr/>
        </p:nvSpPr>
        <p:spPr>
          <a:xfrm>
            <a:off x="6343650" y="1392174"/>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300"/>
              <a:buFont typeface="Noto Sans"/>
              <a:buNone/>
            </a:pPr>
            <a:r>
              <a:rPr b="1" i="0" lang="ja" sz="1300" u="none" cap="none" strike="noStrike">
                <a:solidFill>
                  <a:srgbClr val="1E3A5F"/>
                </a:solidFill>
                <a:latin typeface="Noto Sans"/>
                <a:ea typeface="Noto Sans"/>
                <a:cs typeface="Noto Sans"/>
                <a:sym typeface="Noto Sans"/>
              </a:rPr>
              <a:t>長期</a:t>
            </a:r>
            <a:endParaRPr b="0" i="0" sz="1300" u="none" cap="none" strike="noStrike">
              <a:solidFill>
                <a:schemeClr val="dk1"/>
              </a:solidFill>
              <a:latin typeface="Calibri"/>
              <a:ea typeface="Calibri"/>
              <a:cs typeface="Calibri"/>
              <a:sym typeface="Calibri"/>
            </a:endParaRPr>
          </a:p>
        </p:txBody>
      </p:sp>
      <p:sp>
        <p:nvSpPr>
          <p:cNvPr id="385" name="Google Shape;385;p29"/>
          <p:cNvSpPr/>
          <p:nvPr/>
        </p:nvSpPr>
        <p:spPr>
          <a:xfrm>
            <a:off x="6343650" y="1693926"/>
            <a:ext cx="1920300" cy="41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デイ高頻度・入所未利用</a:t>
            </a:r>
            <a:endParaRPr b="0" i="0" sz="900" u="none" cap="none" strike="noStrike">
              <a:solidFill>
                <a:schemeClr val="dk1"/>
              </a:solidFill>
              <a:latin typeface="Calibri"/>
              <a:ea typeface="Calibri"/>
              <a:cs typeface="Calibri"/>
              <a:sym typeface="Calibri"/>
            </a:endParaRPr>
          </a:p>
        </p:txBody>
      </p:sp>
      <p:graphicFrame>
        <p:nvGraphicFramePr>
          <p:cNvPr id="386" name="Google Shape;386;p29"/>
          <p:cNvGraphicFramePr/>
          <p:nvPr/>
        </p:nvGraphicFramePr>
        <p:xfrm>
          <a:off x="6343650" y="2194560"/>
          <a:ext cx="3000000" cy="3000000"/>
        </p:xfrm>
        <a:graphic>
          <a:graphicData uri="http://schemas.openxmlformats.org/drawingml/2006/table">
            <a:tbl>
              <a:tblPr>
                <a:noFill/>
                <a:tableStyleId>{43D2D4E0-5D17-468C-9A56-99068DBDCAB3}</a:tableStyleId>
              </a:tblPr>
              <a:tblGrid>
                <a:gridCol w="1234450"/>
                <a:gridCol w="685800"/>
              </a:tblGrid>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61-120日</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41</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121日以上</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9</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1B2A3A"/>
                        </a:buClr>
                        <a:buSzPts val="900"/>
                        <a:buFont typeface="Noto Sans"/>
                        <a:buNone/>
                      </a:pPr>
                      <a:r>
                        <a:rPr b="1" lang="ja" sz="900" u="none" cap="none" strike="noStrike">
                          <a:solidFill>
                            <a:srgbClr val="1B2A3A"/>
                          </a:solidFill>
                          <a:latin typeface="Noto Sans"/>
                          <a:ea typeface="Noto Sans"/>
                          <a:cs typeface="Noto Sans"/>
                          <a:sym typeface="Noto Sans"/>
                        </a:rPr>
                        <a:t>合計</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c>
                  <a:txBody>
                    <a:bodyPr/>
                    <a:lstStyle/>
                    <a:p>
                      <a:pPr indent="0" lvl="0" marL="0" marR="0" rtl="0" algn="r">
                        <a:spcBef>
                          <a:spcPts val="0"/>
                        </a:spcBef>
                        <a:spcAft>
                          <a:spcPts val="0"/>
                        </a:spcAft>
                        <a:buClr>
                          <a:srgbClr val="1F6FB2"/>
                        </a:buClr>
                        <a:buSzPts val="900"/>
                        <a:buFont typeface="Noto Sans"/>
                        <a:buNone/>
                      </a:pPr>
                      <a:r>
                        <a:rPr b="1" lang="ja" sz="900" u="none" cap="none" strike="noStrike">
                          <a:solidFill>
                            <a:srgbClr val="1F6FB2"/>
                          </a:solidFill>
                          <a:latin typeface="Noto Sans"/>
                          <a:ea typeface="Noto Sans"/>
                          <a:cs typeface="Noto Sans"/>
                          <a:sym typeface="Noto Sans"/>
                        </a:rPr>
                        <a:t>50</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EAF1F8"/>
                    </a:solidFill>
                  </a:tcPr>
                </a:tc>
              </a:tr>
              <a:tr h="301750">
                <a:tc>
                  <a:txBody>
                    <a:bodyPr/>
                    <a:lstStyle/>
                    <a:p>
                      <a:pPr indent="0" lvl="0" marL="0" marR="0" rtl="0" algn="l">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うち直近利用</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A"/>
                        </a:buClr>
                        <a:buSzPts val="900"/>
                        <a:buFont typeface="Noto Sans"/>
                        <a:buNone/>
                      </a:pPr>
                      <a:r>
                        <a:rPr lang="ja" sz="900" u="none" cap="none" strike="noStrike">
                          <a:solidFill>
                            <a:srgbClr val="1B2A3A"/>
                          </a:solidFill>
                          <a:latin typeface="Noto Sans"/>
                          <a:ea typeface="Noto Sans"/>
                          <a:cs typeface="Noto Sans"/>
                          <a:sym typeface="Noto Sans"/>
                        </a:rPr>
                        <a:t>48</a:t>
                      </a:r>
                      <a:endParaRPr sz="900" u="none" cap="none" strike="noStrike">
                        <a:latin typeface="Noto Sans"/>
                        <a:ea typeface="Noto Sans"/>
                        <a:cs typeface="Noto Sans"/>
                        <a:sym typeface="Noto Sans"/>
                      </a:endParaRPr>
                    </a:p>
                  </a:txBody>
                  <a:tcPr marT="34300" marB="34300" marR="68600" marL="68600" anchor="ctr">
                    <a:lnL cap="flat" cmpd="sng" w="7150">
                      <a:solidFill>
                        <a:srgbClr val="D2DEEA"/>
                      </a:solidFill>
                      <a:prstDash val="solid"/>
                      <a:round/>
                      <a:headEnd len="sm" w="sm" type="none"/>
                      <a:tailEnd len="sm" w="sm" type="none"/>
                    </a:lnL>
                    <a:lnR cap="flat" cmpd="sng" w="7150">
                      <a:solidFill>
                        <a:srgbClr val="D2DEEA"/>
                      </a:solidFill>
                      <a:prstDash val="solid"/>
                      <a:round/>
                      <a:headEnd len="sm" w="sm" type="none"/>
                      <a:tailEnd len="sm" w="sm" type="none"/>
                    </a:lnR>
                    <a:lnT cap="flat" cmpd="sng" w="7150">
                      <a:solidFill>
                        <a:srgbClr val="D2DEEA"/>
                      </a:solidFill>
                      <a:prstDash val="solid"/>
                      <a:round/>
                      <a:headEnd len="sm" w="sm" type="none"/>
                      <a:tailEnd len="sm" w="sm" type="none"/>
                    </a:lnT>
                    <a:lnB cap="flat" cmpd="sng" w="7150">
                      <a:solidFill>
                        <a:srgbClr val="D2DEEA"/>
                      </a:solidFill>
                      <a:prstDash val="solid"/>
                      <a:round/>
                      <a:headEnd len="sm" w="sm" type="none"/>
                      <a:tailEnd len="sm" w="sm" type="none"/>
                    </a:lnB>
                    <a:solidFill>
                      <a:srgbClr val="FFFFFF"/>
                    </a:solidFill>
                  </a:tcPr>
                </a:tc>
              </a:tr>
            </a:tbl>
          </a:graphicData>
        </a:graphic>
      </p:graphicFrame>
      <p:sp>
        <p:nvSpPr>
          <p:cNvPr id="387" name="Google Shape;387;p29"/>
          <p:cNvSpPr/>
          <p:nvPr/>
        </p:nvSpPr>
        <p:spPr>
          <a:xfrm>
            <a:off x="617220" y="3703320"/>
            <a:ext cx="7886700" cy="480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E7589"/>
              </a:buClr>
              <a:buSzPts val="900"/>
              <a:buFont typeface="Noto Sans"/>
              <a:buNone/>
            </a:pPr>
            <a:r>
              <a:rPr b="0" i="0" lang="ja" sz="900" u="none" cap="none" strike="noStrike">
                <a:solidFill>
                  <a:srgbClr val="5E7589"/>
                </a:solidFill>
                <a:latin typeface="Noto Sans"/>
                <a:ea typeface="Noto Sans"/>
                <a:cs typeface="Noto Sans"/>
                <a:sym typeface="Noto Sans"/>
              </a:rPr>
              <a:t>3F対策：3F入所率93.9%／平均空床2.2床日／平均ショート2.4床日。直近ショート15-30日・ロング未転換は0名で、既存候補だけでは不足。新規ショート候補を広げる必要がある。</a:t>
            </a:r>
            <a:endParaRPr b="0" i="0" sz="900" u="none" cap="none" strike="noStrike">
              <a:solidFill>
                <a:schemeClr val="dk1"/>
              </a:solidFill>
              <a:latin typeface="Calibri"/>
              <a:ea typeface="Calibri"/>
              <a:cs typeface="Calibri"/>
              <a:sym typeface="Calibri"/>
            </a:endParaRPr>
          </a:p>
        </p:txBody>
      </p:sp>
      <p:sp>
        <p:nvSpPr>
          <p:cNvPr id="388" name="Google Shape;388;p29"/>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389" name="Google Shape;389;p29"/>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30"/>
          <p:cNvSpPr/>
          <p:nvPr/>
        </p:nvSpPr>
        <p:spPr>
          <a:xfrm>
            <a:off x="617220" y="37719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A5"/>
              </a:buClr>
              <a:buSzPts val="800"/>
              <a:buFont typeface="Noto Sans"/>
              <a:buNone/>
            </a:pPr>
            <a:r>
              <a:rPr b="1" i="0" lang="ja" sz="800" u="none" cap="none" strike="noStrike">
                <a:solidFill>
                  <a:srgbClr val="3A6FA5"/>
                </a:solidFill>
                <a:latin typeface="Noto Sans"/>
                <a:ea typeface="Noto Sans"/>
                <a:cs typeface="Noto Sans"/>
                <a:sym typeface="Noto Sans"/>
              </a:rPr>
              <a:t>付録 A9 ｜ 取り扱い</a:t>
            </a:r>
            <a:endParaRPr b="0" i="0" sz="800" u="none" cap="none" strike="noStrike">
              <a:solidFill>
                <a:schemeClr val="dk1"/>
              </a:solidFill>
              <a:latin typeface="Calibri"/>
              <a:ea typeface="Calibri"/>
              <a:cs typeface="Calibri"/>
              <a:sym typeface="Calibri"/>
            </a:endParaRPr>
          </a:p>
        </p:txBody>
      </p:sp>
      <p:sp>
        <p:nvSpPr>
          <p:cNvPr id="396" name="Google Shape;396;p30"/>
          <p:cNvSpPr/>
          <p:nvPr/>
        </p:nvSpPr>
        <p:spPr>
          <a:xfrm>
            <a:off x="617220" y="58293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A"/>
              </a:buClr>
              <a:buSzPts val="1800"/>
              <a:buFont typeface="Noto Sans"/>
              <a:buNone/>
            </a:pPr>
            <a:r>
              <a:rPr b="1" i="0" lang="ja" sz="1800" u="none" cap="none" strike="noStrike">
                <a:solidFill>
                  <a:srgbClr val="1B2A3A"/>
                </a:solidFill>
                <a:latin typeface="Noto Sans"/>
                <a:ea typeface="Noto Sans"/>
                <a:cs typeface="Noto Sans"/>
                <a:sym typeface="Noto Sans"/>
              </a:rPr>
              <a:t>データ利用上の注意</a:t>
            </a:r>
            <a:endParaRPr b="0" i="0" sz="1800" u="none" cap="none" strike="noStrike">
              <a:solidFill>
                <a:schemeClr val="dk1"/>
              </a:solidFill>
              <a:latin typeface="Calibri"/>
              <a:ea typeface="Calibri"/>
              <a:cs typeface="Calibri"/>
              <a:sym typeface="Calibri"/>
            </a:endParaRPr>
          </a:p>
        </p:txBody>
      </p:sp>
      <p:sp>
        <p:nvSpPr>
          <p:cNvPr id="397" name="Google Shape;397;p30"/>
          <p:cNvSpPr/>
          <p:nvPr/>
        </p:nvSpPr>
        <p:spPr>
          <a:xfrm>
            <a:off x="617220" y="1165860"/>
            <a:ext cx="411600" cy="4116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398" name="Google Shape;398;p30"/>
          <p:cNvPicPr preferRelativeResize="0"/>
          <p:nvPr/>
        </p:nvPicPr>
        <p:blipFill rotWithShape="1">
          <a:blip r:embed="rId3">
            <a:alphaModFix/>
          </a:blip>
          <a:srcRect b="0" l="0" r="0" t="0"/>
          <a:stretch/>
        </p:blipFill>
        <p:spPr>
          <a:xfrm>
            <a:off x="724205" y="1272845"/>
            <a:ext cx="197510" cy="197510"/>
          </a:xfrm>
          <a:prstGeom prst="rect">
            <a:avLst/>
          </a:prstGeom>
          <a:noFill/>
          <a:ln>
            <a:noFill/>
          </a:ln>
        </p:spPr>
      </p:pic>
      <p:sp>
        <p:nvSpPr>
          <p:cNvPr id="399" name="Google Shape;399;p30"/>
          <p:cNvSpPr/>
          <p:nvPr/>
        </p:nvSpPr>
        <p:spPr>
          <a:xfrm>
            <a:off x="1200150" y="1165860"/>
            <a:ext cx="7303800" cy="2743200"/>
          </a:xfrm>
          <a:prstGeom prst="rect">
            <a:avLst/>
          </a:prstGeom>
          <a:noFill/>
          <a:ln>
            <a:noFill/>
          </a:ln>
        </p:spPr>
        <p:txBody>
          <a:bodyPr anchorCtr="0" anchor="t" bIns="34275" lIns="68575" spcFirstLastPara="1" rIns="68575" wrap="square" tIns="34275">
            <a:noAutofit/>
          </a:bodyPr>
          <a:lstStyle/>
          <a:p>
            <a:pPr indent="-146050" lvl="0" marL="152400" marR="0" rtl="0" algn="l">
              <a:lnSpc>
                <a:spcPct val="120000"/>
              </a:lnSpc>
              <a:spcBef>
                <a:spcPts val="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個人名・利用者IDを含む候補者リストは、現時点では内部検証用として扱う。</a:t>
            </a:r>
            <a:endParaRPr b="0" i="0" sz="1100" u="none" cap="none" strike="noStrike">
              <a:solidFill>
                <a:schemeClr val="dk1"/>
              </a:solidFill>
              <a:latin typeface="Calibri"/>
              <a:ea typeface="Calibri"/>
              <a:cs typeface="Calibri"/>
              <a:sym typeface="Calibri"/>
            </a:endParaRPr>
          </a:p>
          <a:p>
            <a:pPr indent="-146050" lvl="0" marL="152400" marR="0" rtl="0" algn="l">
              <a:lnSpc>
                <a:spcPct val="120000"/>
              </a:lnSpc>
              <a:spcBef>
                <a:spcPts val="110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現場配布する場合は、個人情報の扱い・閲覧権限・配布先・運用責任者を先に決める。</a:t>
            </a:r>
            <a:endParaRPr b="0" i="0" sz="1100" u="none" cap="none" strike="noStrike">
              <a:solidFill>
                <a:schemeClr val="dk1"/>
              </a:solidFill>
              <a:latin typeface="Calibri"/>
              <a:ea typeface="Calibri"/>
              <a:cs typeface="Calibri"/>
              <a:sym typeface="Calibri"/>
            </a:endParaRPr>
          </a:p>
          <a:p>
            <a:pPr indent="-146050" lvl="0" marL="152400" marR="0" rtl="0" algn="l">
              <a:lnSpc>
                <a:spcPct val="120000"/>
              </a:lnSpc>
              <a:spcBef>
                <a:spcPts val="110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今回の数字は、現場確認と追加データによって修正される前提で扱う。</a:t>
            </a:r>
            <a:endParaRPr b="0" i="0" sz="1100" u="none" cap="none" strike="noStrike">
              <a:solidFill>
                <a:schemeClr val="dk1"/>
              </a:solidFill>
              <a:latin typeface="Calibri"/>
              <a:ea typeface="Calibri"/>
              <a:cs typeface="Calibri"/>
              <a:sym typeface="Calibri"/>
            </a:endParaRPr>
          </a:p>
          <a:p>
            <a:pPr indent="-146050" lvl="0" marL="152400" marR="0" rtl="0" algn="l">
              <a:lnSpc>
                <a:spcPct val="120000"/>
              </a:lnSpc>
              <a:spcBef>
                <a:spcPts val="1100"/>
              </a:spcBef>
              <a:spcAft>
                <a:spcPts val="0"/>
              </a:spcAft>
              <a:buClr>
                <a:srgbClr val="1B2A3A"/>
              </a:buClr>
              <a:buSzPts val="1100"/>
              <a:buFont typeface="Noto Sans"/>
              <a:buChar char="•"/>
            </a:pPr>
            <a:r>
              <a:rPr b="0" i="0" lang="ja" sz="1100" u="none" cap="none" strike="noStrike">
                <a:solidFill>
                  <a:srgbClr val="1B2A3A"/>
                </a:solidFill>
                <a:latin typeface="Noto Sans"/>
                <a:ea typeface="Noto Sans"/>
                <a:cs typeface="Noto Sans"/>
                <a:sym typeface="Noto Sans"/>
              </a:rPr>
              <a:t>「候補者数」は対応を指示する数字ではなく、現場確認の優先順位を考える材料として扱う。</a:t>
            </a:r>
            <a:endParaRPr b="0" i="0" sz="1100" u="none" cap="none" strike="noStrike">
              <a:solidFill>
                <a:schemeClr val="dk1"/>
              </a:solidFill>
              <a:latin typeface="Calibri"/>
              <a:ea typeface="Calibri"/>
              <a:cs typeface="Calibri"/>
              <a:sym typeface="Calibri"/>
            </a:endParaRPr>
          </a:p>
        </p:txBody>
      </p:sp>
      <p:sp>
        <p:nvSpPr>
          <p:cNvPr id="400" name="Google Shape;400;p30"/>
          <p:cNvSpPr/>
          <p:nvPr/>
        </p:nvSpPr>
        <p:spPr>
          <a:xfrm>
            <a:off x="617220" y="4800600"/>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589"/>
              </a:buClr>
              <a:buSzPts val="700"/>
              <a:buFont typeface="Noto Sans"/>
              <a:buNone/>
            </a:pPr>
            <a:r>
              <a:rPr lang="ja" sz="700">
                <a:solidFill>
                  <a:srgbClr val="5E7589"/>
                </a:solidFill>
                <a:latin typeface="Noto Sans"/>
                <a:ea typeface="Noto Sans"/>
                <a:cs typeface="Noto Sans"/>
                <a:sym typeface="Noto Sans"/>
              </a:rPr>
              <a:t> </a:t>
            </a:r>
            <a:r>
              <a:rPr b="0" i="0" lang="ja" sz="700" u="none" cap="none" strike="noStrike">
                <a:solidFill>
                  <a:srgbClr val="5E7589"/>
                </a:solidFill>
                <a:latin typeface="Noto Sans"/>
                <a:ea typeface="Noto Sans"/>
                <a:cs typeface="Noto Sans"/>
                <a:sym typeface="Noto Sans"/>
              </a:rPr>
              <a:t>アルボース ｜ ボトルネック分析（初回提案）</a:t>
            </a:r>
            <a:endParaRPr b="0" i="0" sz="700" u="none" cap="none" strike="noStrike">
              <a:solidFill>
                <a:schemeClr val="dk1"/>
              </a:solidFill>
              <a:latin typeface="Calibri"/>
              <a:ea typeface="Calibri"/>
              <a:cs typeface="Calibri"/>
              <a:sym typeface="Calibri"/>
            </a:endParaRPr>
          </a:p>
        </p:txBody>
      </p:sp>
      <p:sp>
        <p:nvSpPr>
          <p:cNvPr id="401" name="Google Shape;401;p30"/>
          <p:cNvSpPr/>
          <p:nvPr/>
        </p:nvSpPr>
        <p:spPr>
          <a:xfrm>
            <a:off x="8092440"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589"/>
              </a:buClr>
              <a:buSzPts val="700"/>
              <a:buFont typeface="Noto Sans"/>
              <a:buNone/>
            </a:pPr>
            <a:r>
              <a:rPr b="0" i="0" lang="ja" sz="700" u="none" cap="none" strike="noStrike">
                <a:solidFill>
                  <a:srgbClr val="5E7589"/>
                </a:solidFill>
                <a:latin typeface="Noto Sans"/>
                <a:ea typeface="Noto Sans"/>
                <a:cs typeface="Noto Sans"/>
                <a:sym typeface="Noto Sans"/>
              </a:rPr>
              <a:t>19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