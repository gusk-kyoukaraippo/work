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4c635996da54cb9" /><Relationship Type="http://schemas.openxmlformats.org/officeDocument/2006/relationships/extended-properties" Target="/docProps/app.xml" Id="Re688f834a8434639" /><Relationship Type="http://schemas.openxmlformats.org/officeDocument/2006/relationships/officeDocument" Target="/ppt/presentation.xml" Id="R42e4b9509e144e9b" /></Relationships>
</file>

<file path=ppt/presentation.xml><?xml version="1.0" encoding="utf-8"?>
<p:presentation xmlns:p="http://schemas.openxmlformats.org/presentationml/2006/main">
  <p:sldMasterIdLst>
    <p:sldMasterId xmlns:r="http://schemas.openxmlformats.org/officeDocument/2006/relationships" id="2147483648" r:id="R48222dbeee3249f4"/>
  </p:sldMasterIdLst>
  <p:notesMasterIdLst>
    <p:notesMasterId xmlns:r="http://schemas.openxmlformats.org/officeDocument/2006/relationships" r:id="R3b7470997f84406c"/>
  </p:notesMasterIdLst>
  <p:sldIdLst>
    <p:sldId xmlns:r="http://schemas.openxmlformats.org/officeDocument/2006/relationships" id="256" r:id="Rebe2a2e2bac74e1e"/>
    <p:sldId xmlns:r="http://schemas.openxmlformats.org/officeDocument/2006/relationships" id="257" r:id="R0694547792ac485e"/>
    <p:sldId xmlns:r="http://schemas.openxmlformats.org/officeDocument/2006/relationships" id="258" r:id="Rcda32671595a4a50"/>
    <p:sldId xmlns:r="http://schemas.openxmlformats.org/officeDocument/2006/relationships" id="259" r:id="R804fe30310184da5"/>
    <p:sldId xmlns:r="http://schemas.openxmlformats.org/officeDocument/2006/relationships" id="260" r:id="R969079b688974045"/>
    <p:sldId xmlns:r="http://schemas.openxmlformats.org/officeDocument/2006/relationships" id="261" r:id="R548f1062f7a04706"/>
    <p:sldId xmlns:r="http://schemas.openxmlformats.org/officeDocument/2006/relationships" id="262" r:id="R3b87474ab0c842ad"/>
    <p:sldId xmlns:r="http://schemas.openxmlformats.org/officeDocument/2006/relationships" id="263" r:id="R009c9ab3357f41e2"/>
    <p:sldId xmlns:r="http://schemas.openxmlformats.org/officeDocument/2006/relationships" id="264" r:id="R0023a00b55f24301"/>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564d76006f74f08" /><Relationship Type="http://schemas.openxmlformats.org/officeDocument/2006/relationships/slideMaster" Target="/ppt/slideMasters/slideMaster1.xml" Id="R48222dbeee3249f4" /><Relationship Type="http://schemas.openxmlformats.org/officeDocument/2006/relationships/notesMaster" Target="/ppt/notesMasters/notesMaster1.xml" Id="R3b7470997f84406c" /><Relationship Type="http://schemas.openxmlformats.org/officeDocument/2006/relationships/presProps" Target="/ppt/presProps.xml" Id="R5cac50d3903a40d4" /><Relationship Type="http://schemas.openxmlformats.org/officeDocument/2006/relationships/tableStyles" Target="/ppt/tableStyles.xml" Id="R60dc6e07949b4b05" /><Relationship Type="http://schemas.openxmlformats.org/officeDocument/2006/relationships/slide" Target="/ppt/slides/slide1.xml" Id="Rebe2a2e2bac74e1e" /><Relationship Type="http://schemas.openxmlformats.org/officeDocument/2006/relationships/slide" Target="/ppt/slides/slide2.xml" Id="R0694547792ac485e" /><Relationship Type="http://schemas.openxmlformats.org/officeDocument/2006/relationships/slide" Target="/ppt/slides/slide3.xml" Id="Rcda32671595a4a50" /><Relationship Type="http://schemas.openxmlformats.org/officeDocument/2006/relationships/slide" Target="/ppt/slides/slide4.xml" Id="R804fe30310184da5" /><Relationship Type="http://schemas.openxmlformats.org/officeDocument/2006/relationships/slide" Target="/ppt/slides/slide5.xml" Id="R969079b688974045" /><Relationship Type="http://schemas.openxmlformats.org/officeDocument/2006/relationships/slide" Target="/ppt/slides/slide6.xml" Id="R548f1062f7a04706" /><Relationship Type="http://schemas.openxmlformats.org/officeDocument/2006/relationships/slide" Target="/ppt/slides/slide7.xml" Id="R3b87474ab0c842ad" /><Relationship Type="http://schemas.openxmlformats.org/officeDocument/2006/relationships/slide" Target="/ppt/slides/slide8.xml" Id="R009c9ab3357f41e2" /><Relationship Type="http://schemas.openxmlformats.org/officeDocument/2006/relationships/slide" Target="/ppt/slides/slide9.xml" Id="R0023a00b55f2430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92691f0afc5481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e6f3c61c6ec47b6" /><Relationship Type="http://schemas.openxmlformats.org/officeDocument/2006/relationships/notesMaster" Target="/ppt/notesMasters/notesMaster1.xml" Id="R7ab34666c02d415b" /></Relationships>
</file>

<file path=ppt/notesSlides/_rels/notesSlide2.xml.rels>&#65279;<?xml version="1.0" encoding="utf-8"?><Relationships xmlns="http://schemas.openxmlformats.org/package/2006/relationships"><Relationship Type="http://schemas.openxmlformats.org/officeDocument/2006/relationships/slide" Target="/ppt/slides/slide2.xml" Id="R4d7eb4a18ab24a9f" /><Relationship Type="http://schemas.openxmlformats.org/officeDocument/2006/relationships/notesMaster" Target="/ppt/notesMasters/notesMaster1.xml" Id="Rc9e0ca9262524441" /></Relationships>
</file>

<file path=ppt/notesSlides/_rels/notesSlide3.xml.rels>&#65279;<?xml version="1.0" encoding="utf-8"?><Relationships xmlns="http://schemas.openxmlformats.org/package/2006/relationships"><Relationship Type="http://schemas.openxmlformats.org/officeDocument/2006/relationships/slide" Target="/ppt/slides/slide3.xml" Id="R9cc0e34283374d02" /><Relationship Type="http://schemas.openxmlformats.org/officeDocument/2006/relationships/notesMaster" Target="/ppt/notesMasters/notesMaster1.xml" Id="R8e352bf606f24c92" /></Relationships>
</file>

<file path=ppt/notesSlides/_rels/notesSlide4.xml.rels>&#65279;<?xml version="1.0" encoding="utf-8"?><Relationships xmlns="http://schemas.openxmlformats.org/package/2006/relationships"><Relationship Type="http://schemas.openxmlformats.org/officeDocument/2006/relationships/slide" Target="/ppt/slides/slide4.xml" Id="Rc42530b9527a4e16" /><Relationship Type="http://schemas.openxmlformats.org/officeDocument/2006/relationships/notesMaster" Target="/ppt/notesMasters/notesMaster1.xml" Id="R92f39d36257c406f" /></Relationships>
</file>

<file path=ppt/notesSlides/_rels/notesSlide5.xml.rels>&#65279;<?xml version="1.0" encoding="utf-8"?><Relationships xmlns="http://schemas.openxmlformats.org/package/2006/relationships"><Relationship Type="http://schemas.openxmlformats.org/officeDocument/2006/relationships/slide" Target="/ppt/slides/slide5.xml" Id="Ra7c28b5b563b461a" /><Relationship Type="http://schemas.openxmlformats.org/officeDocument/2006/relationships/notesMaster" Target="/ppt/notesMasters/notesMaster1.xml" Id="R548037e4259a4924" /></Relationships>
</file>

<file path=ppt/notesSlides/_rels/notesSlide6.xml.rels>&#65279;<?xml version="1.0" encoding="utf-8"?><Relationships xmlns="http://schemas.openxmlformats.org/package/2006/relationships"><Relationship Type="http://schemas.openxmlformats.org/officeDocument/2006/relationships/slide" Target="/ppt/slides/slide6.xml" Id="R084399f9ce0644ab" /><Relationship Type="http://schemas.openxmlformats.org/officeDocument/2006/relationships/notesMaster" Target="/ppt/notesMasters/notesMaster1.xml" Id="R6edadeacc2bc4728" /></Relationships>
</file>

<file path=ppt/notesSlides/_rels/notesSlide7.xml.rels>&#65279;<?xml version="1.0" encoding="utf-8"?><Relationships xmlns="http://schemas.openxmlformats.org/package/2006/relationships"><Relationship Type="http://schemas.openxmlformats.org/officeDocument/2006/relationships/slide" Target="/ppt/slides/slide7.xml" Id="R5985eb16be2f4d36" /><Relationship Type="http://schemas.openxmlformats.org/officeDocument/2006/relationships/notesMaster" Target="/ppt/notesMasters/notesMaster1.xml" Id="R4cca86fffe834346" /></Relationships>
</file>

<file path=ppt/notesSlides/_rels/notesSlide8.xml.rels>&#65279;<?xml version="1.0" encoding="utf-8"?><Relationships xmlns="http://schemas.openxmlformats.org/package/2006/relationships"><Relationship Type="http://schemas.openxmlformats.org/officeDocument/2006/relationships/slide" Target="/ppt/slides/slide8.xml" Id="Re51e042617eb490a" /><Relationship Type="http://schemas.openxmlformats.org/officeDocument/2006/relationships/notesMaster" Target="/ppt/notesMasters/notesMaster1.xml" Id="R8a0c11d2f08e4134" /></Relationships>
</file>

<file path=ppt/notesSlides/_rels/notesSlide9.xml.rels>&#65279;<?xml version="1.0" encoding="utf-8"?><Relationships xmlns="http://schemas.openxmlformats.org/package/2006/relationships"><Relationship Type="http://schemas.openxmlformats.org/officeDocument/2006/relationships/slide" Target="/ppt/slides/slide9.xml" Id="R630415fa55384c2e" /><Relationship Type="http://schemas.openxmlformats.org/officeDocument/2006/relationships/notesMaster" Target="/ppt/notesMasters/notesMaster1.xml" Id="Rdebdd7b6f4544cd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導入。大きなシステム提案ではなく、まず病床利用率低下の要因を利用者の流れから分解する資料として入る。今回見る流れ（低下→流れ→詰まり→改善）を一言で示す。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「今までの分析が悪い」ではなく、「次の打ち手を決めるには追加の視点が必要だった」という言い方にする。既存の利用率分析は否定しない。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rPr sz="1200"/>
              <a:t>床日という量だけでなく、段階の移行（次に進んでいるか）を見たのが今回のポイント。退所後フォローまで含めて一連の流れとして追った。</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対象者名は本編に出さない。あくまで層として示し、候補者数は対応指示ではなく現場確認の優先順位を考える材料だと添える。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「分析だけで終わり」にしないために、運用の課題を正面から扱う。手作業の多さと、対応が記録に残らない点を率直に出す。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実行テーマの整理。何をやるかを現場寄りに見せる。2本柱は並行で進める前提。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e3d8256dc9b457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dfc0077e0304dc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6f1dd062989413d" /></Relationships>
</file>

<file path=ppt/slideLayouts/slideLayout1.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matchingName="DEFAULT">
  <p:cSld name="DEFAULT">
    <p:bg>
      <p:bgPr>
        <a:solidFill xmlns:a="http://schemas.openxmlformats.org/drawingml/2006/main">
          <a:schemeClr val="lt1"/>
        </a:solidFill>
      </p:bgPr>
    </p:bg>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matchingName="Title and body">
  <p:cSld name="Title and body">
    <p:spTree>
      <p:nvGrpSpPr>
        <p:cNvPr id="1" name=""/>
        <p:cNvGrpSpPr/>
        <p:nvPr/>
      </p:nvGrpSpPr>
      <p:grpSpPr>
        <a:xfrm xmlns:a="http://schemas.openxmlformats.org/drawingml/2006/main"/>
      </p:grpSpPr>
      <p:sp>
        <p:nvSpPr>
          <p:cNvPr id="17" name="Google Shape;17;p4">
            <a:extLst xmlns:a="http://schemas.openxmlformats.org/drawingml/2006/main">
              <a:ext uri="{FF2B5EF4-FFF2-40B4-BE49-F238E27FC236}">
                <a16:creationId xmlns:a16="http://schemas.microsoft.com/office/drawing/2014/main" id="{136E7620-B0D8-4D95-8CA7-E679FF1FEF78}"/>
              </a:ext>
            </a:extLst>
          </p:cNvPr>
          <p:cNvSpPr>
            <a:spLocks xmlns:a="http://schemas.openxmlformats.org/drawingml/2006/main" noGrp="1"/>
          </p:cNvSpPr>
          <p:nvPr>
            <p:ph type="title" idx="0"/>
          </p:nvPr>
        </p:nvSpPr>
        <p:spPr>
          <a:xfrm xmlns:a="http://schemas.openxmlformats.org/drawingml/2006/main">
            <a:off x="415600" y="593367"/>
            <a:ext cx="11360800" cy="7636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None/>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xmlns:a="http://schemas.openxmlformats.org/drawingml/2006/main"/>
        </p:txBody>
      </p:sp>
      <p:sp>
        <p:nvSpPr>
          <p:cNvPr id="18" name="Google Shape;18;p4">
            <a:extLst xmlns:a="http://schemas.openxmlformats.org/drawingml/2006/main">
              <a:ext uri="{FF2B5EF4-FFF2-40B4-BE49-F238E27FC236}">
                <a16:creationId xmlns:a16="http://schemas.microsoft.com/office/drawing/2014/main" id="{ABC05251-A4A3-452C-9A30-3EC91B7ED801}"/>
              </a:ext>
            </a:extLst>
          </p:cNvPr>
          <p:cNvSpPr>
            <a:spLocks xmlns:a="http://schemas.openxmlformats.org/drawingml/2006/main" noGrp="1"/>
          </p:cNvSpPr>
          <p:nvPr>
            <p:ph type="body" idx="1"/>
          </p:nvPr>
        </p:nvSpPr>
        <p:spPr>
          <a:xfrm xmlns:a="http://schemas.openxmlformats.org/drawingml/2006/main">
            <a:off x="415600" y="1536633"/>
            <a:ext cx="11360800" cy="45552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609585" indent="-457189">
              <a:spcBef>
                <a:spcPts val="0"/>
              </a:spcBef>
              <a:spcAft>
                <a:spcPts val="0"/>
              </a:spcAft>
              <a:buChar char="●"/>
              <a:defRPr/>
            </a:lvl1pPr>
            <a:lvl2pPr marL="1219170" indent="-423323">
              <a:spcBef>
                <a:spcPts val="0"/>
              </a:spcBef>
              <a:spcAft>
                <a:spcPts val="0"/>
              </a:spcAft>
              <a:buChar char="○"/>
              <a:defRPr/>
            </a:lvl2pPr>
            <a:lvl3pPr marL="1828754" indent="-423323">
              <a:spcBef>
                <a:spcPts val="0"/>
              </a:spcBef>
              <a:spcAft>
                <a:spcPts val="0"/>
              </a:spcAft>
              <a:buChar char="■"/>
              <a:defRPr/>
            </a:lvl3pPr>
            <a:lvl4pPr marL="2438339" indent="-423323">
              <a:spcBef>
                <a:spcPts val="0"/>
              </a:spcBef>
              <a:spcAft>
                <a:spcPts val="0"/>
              </a:spcAft>
              <a:buChar char="●"/>
              <a:defRPr/>
            </a:lvl4pPr>
            <a:lvl5pPr marL="3047924" indent="-423323">
              <a:spcBef>
                <a:spcPts val="0"/>
              </a:spcBef>
              <a:spcAft>
                <a:spcPts val="0"/>
              </a:spcAft>
              <a:buChar char="○"/>
              <a:defRPr/>
            </a:lvl5pPr>
            <a:lvl6pPr marL="3657509" indent="-423323">
              <a:spcBef>
                <a:spcPts val="0"/>
              </a:spcBef>
              <a:spcAft>
                <a:spcPts val="0"/>
              </a:spcAft>
              <a:buChar char="■"/>
              <a:defRPr/>
            </a:lvl6pPr>
            <a:lvl7pPr marL="4267093" indent="-423323">
              <a:spcBef>
                <a:spcPts val="0"/>
              </a:spcBef>
              <a:spcAft>
                <a:spcPts val="0"/>
              </a:spcAft>
              <a:buChar char="●"/>
              <a:defRPr/>
            </a:lvl7pPr>
            <a:lvl8pPr marL="4876678" indent="-423323">
              <a:spcBef>
                <a:spcPts val="0"/>
              </a:spcBef>
              <a:spcAft>
                <a:spcPts val="0"/>
              </a:spcAft>
              <a:buChar char="○"/>
              <a:defRPr/>
            </a:lvl8pPr>
            <a:lvl9pPr marL="5486263" indent="-423323">
              <a:spcBef>
                <a:spcPts val="0"/>
              </a:spcBef>
              <a:spcAft>
                <a:spcPts val="0"/>
              </a:spcAft>
              <a:buChar char="■"/>
              <a:defRPr/>
            </a:lvl9pPr>
          </a:lstStyle>
          <a:p xmlns:a="http://schemas.openxmlformats.org/drawingml/2006/main"/>
        </p:txBody>
      </p:sp>
      <p:sp>
        <p:nvSpPr>
          <p:cNvPr id="19" name="Google Shape;19;p4">
            <a:extLst xmlns:a="http://schemas.openxmlformats.org/drawingml/2006/main">
              <a:ext uri="{FF2B5EF4-FFF2-40B4-BE49-F238E27FC236}">
                <a16:creationId xmlns:a16="http://schemas.microsoft.com/office/drawing/2014/main" id="{2A503A18-B437-4A8F-AA98-98BD4327FF9B}"/>
              </a:ext>
            </a:extLst>
          </p:cNvPr>
          <p:cNvSpPr>
            <a:spLocks xmlns:a="http://schemas.openxmlformats.org/drawingml/2006/main" noGrp="1"/>
          </p:cNvSpPr>
          <p:nvPr>
            <p:ph type="sldNum" idx="12"/>
          </p:nvPr>
        </p:nvSpPr>
        <p:spPr>
          <a:xfrm xmlns:a="http://schemas.openxmlformats.org/drawingml/2006/main">
            <a:off x="11296611" y="6217623"/>
            <a:ext cx="731600" cy="5248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algn="r">
              <a:buNone/>
            </a:pPr>
            <a:fld id="{00000000-1234-1234-1234-123412341234}" type="slidenum">
              <a:t>‹#›</a:t>
            </a:fld>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ecb0aad8a7d4a76" /><Relationship Type="http://schemas.openxmlformats.org/officeDocument/2006/relationships/slideLayout" Target="/ppt/slideLayouts/slideLayout1.xml" Id="R9c187bdfd57646ec" /><Relationship Type="http://schemas.openxmlformats.org/officeDocument/2006/relationships/slideLayout" Target="/ppt/slideLayouts/slideLayout2.xml" Id="Rbd411191a4ef4c12" /><Relationship Type="http://schemas.openxmlformats.org/officeDocument/2006/relationships/slideLayout" Target="/ppt/slideLayouts/slideLayout3.xml" Id="Rbb422e61c8074aa5"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9c187bdfd57646ec"/>
    <p:sldLayoutId xmlns:r="http://schemas.openxmlformats.org/officeDocument/2006/relationships" id="2147483650" r:id="Rbd411191a4ef4c12"/>
    <p:sldLayoutId xmlns:r="http://schemas.openxmlformats.org/officeDocument/2006/relationships" id="2147483651" r:id="Rbb422e61c8074aa5"/>
  </p:sldLayoutIdLst>
  <p:hf sldNum="0" hdr="0" ftr="0" dt="0"/>
  <p:txStyles>
    <p:titleStyle>
      <a:lvl1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1pPr>
      <a:lvl2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9pPr>
    </p:titleStyle>
    <p:bodyStyle>
      <a:lvl1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1pPr>
      <a:lvl2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9pPr>
    </p:bodyStyle>
    <p:otherStyle>
      <a:lvl1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1pPr>
      <a:lvl2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e68e23d704ca4c31" /><Relationship Type="http://schemas.openxmlformats.org/officeDocument/2006/relationships/notesSlide" Target="/ppt/notesSlides/notesSlide1.xml" Id="Rc3417c68379d433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0324b8212a047ad" /><Relationship Type="http://schemas.openxmlformats.org/officeDocument/2006/relationships/notesSlide" Target="/ppt/notesSlides/notesSlide2.xml" Id="R0bab648e8d91403b" /></Relationships>
</file>

<file path=ppt/slides/_rels/slide3.xml.rels>&#65279;<?xml version="1.0" encoding="utf-8"?><Relationships xmlns="http://schemas.openxmlformats.org/package/2006/relationships"><Relationship Type="http://schemas.openxmlformats.org/officeDocument/2006/relationships/slideLayout" Target="/ppt/slideLayouts/slideLayout3.xml" Id="Rb37812b5bb1d46ad" /><Relationship Type="http://schemas.openxmlformats.org/officeDocument/2006/relationships/image" Target="/ppt/media/image.png" Id="Ra5aa3362bec243e9" /><Relationship Type="http://schemas.openxmlformats.org/officeDocument/2006/relationships/notesSlide" Target="/ppt/notesSlides/notesSlide3.xml" Id="R7804c18df3c44298" /></Relationships>
</file>

<file path=ppt/slides/_rels/slide4.xml.rels>&#65279;<?xml version="1.0" encoding="utf-8"?><Relationships xmlns="http://schemas.openxmlformats.org/package/2006/relationships"><Relationship Type="http://schemas.openxmlformats.org/officeDocument/2006/relationships/slideLayout" Target="/ppt/slideLayouts/slideLayout3.xml" Id="R860accde06c04604" /><Relationship Type="http://schemas.openxmlformats.org/officeDocument/2006/relationships/notesSlide" Target="/ppt/notesSlides/notesSlide4.xml" Id="R5e2be7010ae34af8"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7f9f468ce7c0425d" /><Relationship Type="http://schemas.openxmlformats.org/officeDocument/2006/relationships/image" Target="/ppt/media/image2.png" Id="R418e501a0b7c4f41" /><Relationship Type="http://schemas.openxmlformats.org/officeDocument/2006/relationships/image" Target="/ppt/media/image3.png" Id="R5798d3a1efc64fbb" /><Relationship Type="http://schemas.openxmlformats.org/officeDocument/2006/relationships/notesSlide" Target="/ppt/notesSlides/notesSlide5.xml" Id="R6fd4c13d802b43e3"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17682c7718b44a51" /><Relationship Type="http://schemas.openxmlformats.org/officeDocument/2006/relationships/image" Target="/ppt/media/image4.png" Id="Rad546378dbcf4263" /><Relationship Type="http://schemas.openxmlformats.org/officeDocument/2006/relationships/notesSlide" Target="/ppt/notesSlides/notesSlide6.xml" Id="R9c36935f8d9f4358"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cc05d0dbe75047f0" /><Relationship Type="http://schemas.openxmlformats.org/officeDocument/2006/relationships/image" Target="/ppt/media/image5.png" Id="R31fddc51519b436a" /><Relationship Type="http://schemas.openxmlformats.org/officeDocument/2006/relationships/notesSlide" Target="/ppt/notesSlides/notesSlide7.xml" Id="Rdcb3a1380c7444ed"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f2a3a9138f4c48c2" /><Relationship Type="http://schemas.openxmlformats.org/officeDocument/2006/relationships/image" Target="/ppt/media/image6.png" Id="R67e2d29e47a34a00" /><Relationship Type="http://schemas.openxmlformats.org/officeDocument/2006/relationships/image" Target="/ppt/media/image7.png" Id="Rad6019843c8c4a0b" /><Relationship Type="http://schemas.openxmlformats.org/officeDocument/2006/relationships/image" Target="/ppt/media/image8.png" Id="R2292af18801c4f68" /><Relationship Type="http://schemas.openxmlformats.org/officeDocument/2006/relationships/notesSlide" Target="/ppt/notesSlides/notesSlide8.xml" Id="Rcd7f8fd459ad43e9"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8df5b2287be84e1b" /><Relationship Type="http://schemas.openxmlformats.org/officeDocument/2006/relationships/image" Target="/ppt/media/image4.png" Id="Rdb0387e169204cda" /><Relationship Type="http://schemas.openxmlformats.org/officeDocument/2006/relationships/image" Target="/ppt/media/image9.png" Id="Rfa3bc7828edb49d7" /><Relationship Type="http://schemas.openxmlformats.org/officeDocument/2006/relationships/image" Target="/ppt/media/image10.png" Id="R7d0f218af08c464c" /><Relationship Type="http://schemas.openxmlformats.org/officeDocument/2006/relationships/notesSlide" Target="/ppt/notesSlides/notesSlide9.xml" Id="Ree85c0b1007b4d9f" /></Relationships>
</file>

<file path=ppt/slides/slide1.xml><?xml version="1.0" encoding="utf-8"?>
<p:sld xmlns:p="http://schemas.openxmlformats.org/presentationml/2006/main">
  <p:cSld>
    <p:bg>
      <p:bgPr>
        <a:solidFill xmlns:a="http://schemas.openxmlformats.org/drawingml/2006/main">
          <a:schemeClr val="bg2"/>
        </a:solidFill>
      </p:bgPr>
    </p:bg>
    <p:spTree>
      <p:nvGrpSpPr>
        <p:cNvPr id="1" name=""/>
        <p:cNvGrpSpPr/>
        <p:nvPr/>
      </p:nvGrpSpPr>
      <p:grpSpPr>
        <a:xfrm xmlns:a="http://schemas.openxmlformats.org/drawingml/2006/main"/>
      </p:grpSpPr>
      <p:sp>
        <p:nvSpPr>
          <p:cNvPr id="56" name="Google Shape;56;p14">
            <a:extLst xmlns:a="http://schemas.openxmlformats.org/drawingml/2006/main">
              <a:ext uri="{FF2B5EF4-FFF2-40B4-BE49-F238E27FC236}">
                <a16:creationId xmlns:a16="http://schemas.microsoft.com/office/drawing/2014/main" id="{895A87FC-57EF-4CD3-94D4-32A6567D6141}"/>
              </a:ext>
            </a:extLst>
          </p:cNvPr>
          <p:cNvSpPr>
            <a:spLocks xmlns:a="http://schemas.openxmlformats.org/drawingml/2006/main" noGrp="1"/>
          </p:cNvSpPr>
          <p:nvPr/>
        </p:nvSpPr>
        <p:spPr>
          <a:xfrm xmlns:a="http://schemas.openxmlformats.org/drawingml/2006/main">
            <a:off x="0" y="0"/>
            <a:ext cx="12161600" cy="2102800"/>
          </a:xfrm>
          <a:prstGeom xmlns:a="http://schemas.openxmlformats.org/drawingml/2006/main" prst="rect">
            <a:avLst/>
          </a:prstGeom>
          <a:solidFill xmlns:a="http://schemas.openxmlformats.org/drawingml/2006/main">
            <a:srgbClr val="152B47"/>
          </a:solidFill>
          <a:ln xmlns:a="http://schemas.openxmlformats.org/drawingml/2006/main">
            <a:noFill/>
          </a:ln>
        </p:spPr>
        <p:txBody>
          <a:bodyPr xmlns:a="http://schemas.openxmlformats.org/drawingml/2006/main" spcFirstLastPara="1" wrap="square" lIns="91433" tIns="91433" rIns="91433" bIns="91433" anchor="ctr">
            <a:noAutofit/>
          </a:bodyPr>
          <a:lstStyle xmlns:a="http://schemas.openxmlformats.org/drawingml/2006/main"/>
          <a:p xmlns:a="http://schemas.openxmlformats.org/drawingml/2006/main"/>
        </p:txBody>
      </p:sp>
      <p:sp>
        <p:nvSpPr>
          <p:cNvPr id="57" name="Google Shape;57;p14">
            <a:extLst xmlns:a="http://schemas.openxmlformats.org/drawingml/2006/main">
              <a:ext uri="{FF2B5EF4-FFF2-40B4-BE49-F238E27FC236}">
                <a16:creationId xmlns:a16="http://schemas.microsoft.com/office/drawing/2014/main" id="{F77965CA-DD2A-48ED-812F-46F6A6B13B1A}"/>
              </a:ext>
            </a:extLst>
          </p:cNvPr>
          <p:cNvSpPr>
            <a:spLocks xmlns:a="http://schemas.openxmlformats.org/drawingml/2006/main" noGrp="1"/>
          </p:cNvSpPr>
          <p:nvPr/>
        </p:nvSpPr>
        <p:spPr>
          <a:xfrm xmlns:a="http://schemas.openxmlformats.org/drawingml/2006/main">
            <a:off x="822960" y="914400"/>
            <a:ext cx="9144000" cy="365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a:buNone/>
            </a:pPr>
            <a:r>
              <a:rPr sz="1467" b="1">
                <a:solidFill>
                  <a:srgbClr val="8FC1E3"/>
                </a:solidFill>
                <a:latin typeface="Noto Sans"/>
                <a:ea typeface="Noto Sans"/>
                <a:cs typeface="Noto Sans"/>
              </a:rPr>
              <a:t>アルボース ｜ </a:t>
            </a:r>
            <a:r>
              <a:rPr sz="1467" b="1">
                <a:solidFill>
                  <a:srgbClr val="8FC1E3"/>
                </a:solidFill>
                <a:latin typeface="Noto Sans"/>
                <a:ea typeface="Noto Sans"/>
                <a:cs typeface="Noto Sans"/>
              </a:rPr>
              <a:t>入所</a:t>
            </a:r>
            <a:r>
              <a:rPr sz="1467" b="1">
                <a:solidFill>
                  <a:srgbClr val="8FC1E3"/>
                </a:solidFill>
                <a:latin typeface="Noto Sans"/>
                <a:ea typeface="Noto Sans"/>
                <a:cs typeface="Noto Sans"/>
              </a:rPr>
              <a:t>利用率向上に向けて</a:t>
            </a:r>
          </a:p>
        </p:txBody>
      </p:sp>
      <p:sp>
        <p:nvSpPr>
          <p:cNvPr id="58" name="Google Shape;58;p14">
            <a:extLst xmlns:a="http://schemas.openxmlformats.org/drawingml/2006/main">
              <a:ext uri="{FF2B5EF4-FFF2-40B4-BE49-F238E27FC236}">
                <a16:creationId xmlns:a16="http://schemas.microsoft.com/office/drawing/2014/main" id="{68CADF45-49F2-4A76-B068-F93995FBBD7F}"/>
              </a:ext>
            </a:extLst>
          </p:cNvPr>
          <p:cNvSpPr>
            <a:spLocks xmlns:a="http://schemas.openxmlformats.org/drawingml/2006/main" noGrp="1"/>
          </p:cNvSpPr>
          <p:nvPr/>
        </p:nvSpPr>
        <p:spPr>
          <a:xfrm xmlns:a="http://schemas.openxmlformats.org/drawingml/2006/main">
            <a:off x="822960" y="1417320"/>
            <a:ext cx="10515600" cy="173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a:lnSpc>
                <a:spcPct val="105000"/>
              </a:lnSpc>
              <a:buNone/>
            </a:pPr>
            <a:r>
              <a:rPr sz="4667" b="1">
                <a:solidFill>
                  <a:srgbClr val="FFFFFF"/>
                </a:solidFill>
                <a:latin typeface="Noto Sans"/>
                <a:ea typeface="Noto Sans"/>
                <a:cs typeface="Noto Sans"/>
              </a:rPr>
              <a:t>入所</a:t>
            </a:r>
            <a:r>
              <a:rPr sz="4667" b="1">
                <a:solidFill>
                  <a:srgbClr val="FFFFFF"/>
                </a:solidFill>
                <a:latin typeface="Noto Sans"/>
                <a:ea typeface="Noto Sans"/>
                <a:cs typeface="Noto Sans"/>
              </a:rPr>
              <a:t>利用率低下に対する</a:t>
            </a:r>
          </a:p>
          <a:p xmlns:a="http://schemas.openxmlformats.org/drawingml/2006/main">
            <a:pPr>
              <a:lnSpc>
                <a:spcPct val="105000"/>
              </a:lnSpc>
              <a:buNone/>
            </a:pPr>
            <a:r>
              <a:rPr sz="4667" b="1">
                <a:solidFill>
                  <a:srgbClr val="FFFFFF"/>
                </a:solidFill>
                <a:latin typeface="Noto Sans"/>
                <a:ea typeface="Noto Sans"/>
                <a:cs typeface="Noto Sans"/>
              </a:rPr>
              <a:t>ボトルネック分析・</a:t>
            </a:r>
            <a:r>
              <a:rPr sz="4667" b="1">
                <a:solidFill>
                  <a:srgbClr val="FFFFFF"/>
                </a:solidFill>
                <a:latin typeface="Noto Sans"/>
                <a:ea typeface="Noto Sans"/>
                <a:cs typeface="Noto Sans"/>
              </a:rPr>
              <a:t>中間報告</a:t>
            </a:r>
          </a:p>
        </p:txBody>
      </p:sp>
      <p:sp>
        <p:nvSpPr>
          <p:cNvPr id="59" name="Google Shape;59;p14">
            <a:extLst xmlns:a="http://schemas.openxmlformats.org/drawingml/2006/main">
              <a:ext uri="{FF2B5EF4-FFF2-40B4-BE49-F238E27FC236}">
                <a16:creationId xmlns:a16="http://schemas.microsoft.com/office/drawing/2014/main" id="{BC95924B-85F8-473F-A5F3-706A1D3878B8}"/>
              </a:ext>
            </a:extLst>
          </p:cNvPr>
          <p:cNvSpPr>
            <a:spLocks xmlns:a="http://schemas.openxmlformats.org/drawingml/2006/main" noGrp="1"/>
          </p:cNvSpPr>
          <p:nvPr/>
        </p:nvSpPr>
        <p:spPr>
          <a:xfrm xmlns:a="http://schemas.openxmlformats.org/drawingml/2006/main">
            <a:off x="822960" y="3383280"/>
            <a:ext cx="105156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a:buNone/>
            </a:pPr>
            <a:r>
              <a:rPr sz="1600">
                <a:solidFill>
                  <a:srgbClr val="8FC1E3"/>
                </a:solidFill>
                <a:latin typeface="Noto Sans"/>
                <a:ea typeface="Noto Sans"/>
                <a:cs typeface="Noto Sans"/>
              </a:rPr>
              <a:t>利用者の流れに着目し、ボトルネックの発見とスループット向上に向けて</a:t>
            </a:r>
          </a:p>
        </p:txBody>
      </p:sp>
      <p:sp>
        <p:nvSpPr>
          <p:cNvPr id="60" name="Google Shape;60;p14">
            <a:extLst xmlns:a="http://schemas.openxmlformats.org/drawingml/2006/main">
              <a:ext uri="{FF2B5EF4-FFF2-40B4-BE49-F238E27FC236}">
                <a16:creationId xmlns:a16="http://schemas.microsoft.com/office/drawing/2014/main" id="{7F558087-1F67-4589-B53D-4F23220869F4}"/>
              </a:ext>
            </a:extLst>
          </p:cNvPr>
          <p:cNvSpPr>
            <a:spLocks xmlns:a="http://schemas.openxmlformats.org/drawingml/2006/main" noGrp="1"/>
          </p:cNvSpPr>
          <p:nvPr/>
        </p:nvSpPr>
        <p:spPr>
          <a:xfrm xmlns:a="http://schemas.openxmlformats.org/drawingml/2006/main">
            <a:off x="822960" y="6217920"/>
            <a:ext cx="9144000" cy="3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a:buNone/>
            </a:pPr>
            <a:r>
              <a:rPr sz="1067">
                <a:solidFill>
                  <a:srgbClr val="8FC1E3"/>
                </a:solidFill>
                <a:latin typeface="Noto Sans"/>
                <a:ea typeface="Noto Sans"/>
                <a:cs typeface="Noto Sans"/>
              </a:rPr>
              <a:t>2026-06-23</a:t>
            </a:r>
            <a:r>
              <a:rPr sz="1067">
                <a:solidFill>
                  <a:srgbClr val="8FC1E3"/>
                </a:solidFill>
                <a:latin typeface="Noto Sans"/>
                <a:ea typeface="Noto Sans"/>
                <a:cs typeface="Noto Sans"/>
              </a:rPr>
              <a:t>｜ </a:t>
            </a:r>
            <a:r>
              <a:rPr sz="1067">
                <a:solidFill>
                  <a:srgbClr val="8FC1E3"/>
                </a:solidFill>
                <a:latin typeface="Noto Sans"/>
                <a:ea typeface="Noto Sans"/>
                <a:cs typeface="Noto Sans"/>
              </a:rPr>
              <a:t>DX</a:t>
            </a:r>
            <a:r>
              <a:rPr sz="1067">
                <a:solidFill>
                  <a:srgbClr val="8FC1E3"/>
                </a:solidFill>
                <a:latin typeface="Noto Sans"/>
                <a:ea typeface="Noto Sans"/>
                <a:cs typeface="Noto Sans"/>
              </a:rPr>
              <a:t>推進委員会</a:t>
            </a:r>
          </a:p>
        </p:txBody>
      </p:sp>
    </p:spTree>
    <p:extLst>
      <p:ext uri="{BB962C8B-B14F-4D97-AF65-F5344CB8AC3E}">
        <p14:creationId xmlns:p14="http://schemas.microsoft.com/office/powerpoint/2010/main" val="1719566312"/>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9" name="Google Shape;29;p4">
            <a:extLst xmlns:a="http://schemas.openxmlformats.org/drawingml/2006/main">
              <a:ext uri="{FF2B5EF4-FFF2-40B4-BE49-F238E27FC236}">
                <a16:creationId xmlns:a16="http://schemas.microsoft.com/office/drawing/2014/main" id="{64DCAEA6-0DA4-A25F-7051-DC22519F25BC}"/>
              </a:ext>
            </a:extLst>
          </p:cNvPr>
          <p:cNvSpPr>
            <a:spLocks xmlns:a="http://schemas.openxmlformats.org/drawingml/2006/main" noGrp="1"/>
          </p:cNvSpPr>
          <p:nvPr/>
        </p:nvSpPr>
        <p:spPr>
          <a:xfrm xmlns:a="http://schemas.openxmlformats.org/drawingml/2006/main">
            <a:off x="819150" y="438150"/>
            <a:ext cx="514350" cy="514350"/>
          </a:xfrm>
          <a:prstGeom xmlns:a="http://schemas.openxmlformats.org/drawingml/2006/main" prst="ellipse">
            <a:avLst/>
          </a:prstGeom>
          <a:solidFill xmlns:a="http://schemas.openxmlformats.org/drawingml/2006/main">
            <a:srgbClr val="17375E"/>
          </a:solidFill>
          <a:ln xmlns:a="http://schemas.openxmlformats.org/drawingml/2006/main" w="9525" cmpd="sng">
            <a:solidFill>
              <a:srgbClr val="17375E"/>
            </a:solidFill>
            <a:prstDash val="solid"/>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p>
        </p:txBody>
      </p:sp>
      <p:sp>
        <p:nvSpPr>
          <p:cNvPr id="30" name="Google Shape;30;p4">
            <a:extLst xmlns:a="http://schemas.openxmlformats.org/drawingml/2006/main">
              <a:ext uri="{FF2B5EF4-FFF2-40B4-BE49-F238E27FC236}">
                <a16:creationId xmlns:a16="http://schemas.microsoft.com/office/drawing/2014/main" id="{B27AB829-7225-BC52-DAF2-93434CAA00A2}"/>
              </a:ext>
            </a:extLst>
          </p:cNvPr>
          <p:cNvSpPr>
            <a:spLocks xmlns:a="http://schemas.openxmlformats.org/drawingml/2006/main" noGrp="1"/>
          </p:cNvSpPr>
          <p:nvPr/>
        </p:nvSpPr>
        <p:spPr>
          <a:xfrm xmlns:a="http://schemas.openxmlformats.org/drawingml/2006/main">
            <a:off x="819150" y="530733"/>
            <a:ext cx="514350" cy="31889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rPr sz="1539" b="1">
                <a:solidFill>
                  <a:srgbClr val="FFFFFF"/>
                </a:solidFill>
                <a:latin typeface="Noto Sans"/>
                <a:ea typeface="Noto Sans"/>
                <a:cs typeface="Noto Sans"/>
              </a:rPr>
              <a:t>✓</a:t>
            </a:r>
          </a:p>
        </p:txBody>
      </p:sp>
      <p:sp>
        <p:nvSpPr>
          <p:cNvPr id="31" name="Google Shape;31;p4">
            <a:extLst xmlns:a="http://schemas.openxmlformats.org/drawingml/2006/main">
              <a:ext uri="{FF2B5EF4-FFF2-40B4-BE49-F238E27FC236}">
                <a16:creationId xmlns:a16="http://schemas.microsoft.com/office/drawing/2014/main" id="{BE983507-1455-1CCC-FB06-01A3AFB3EFEA}"/>
              </a:ext>
            </a:extLst>
          </p:cNvPr>
          <p:cNvSpPr>
            <a:spLocks xmlns:a="http://schemas.openxmlformats.org/drawingml/2006/main" noGrp="1"/>
          </p:cNvSpPr>
          <p:nvPr/>
        </p:nvSpPr>
        <p:spPr>
          <a:xfrm xmlns:a="http://schemas.openxmlformats.org/drawingml/2006/main">
            <a:off x="1562100" y="514350"/>
            <a:ext cx="2857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indent="0" algn="l">
              <a:spcBef>
                <a:spcPts val="0"/>
              </a:spcBef>
              <a:spcAft>
                <a:spcPts val="0"/>
              </a:spcAft>
              <a:buNone/>
            </a:pPr>
            <a:r>
              <a:rPr sz="975" b="1">
                <a:solidFill>
                  <a:srgbClr val="2C78B8"/>
                </a:solidFill>
                <a:latin typeface="Noto Sans"/>
                <a:ea typeface="Noto Sans"/>
                <a:cs typeface="Noto Sans"/>
              </a:rPr>
              <a:t>SLIDE 1 ｜ </a:t>
            </a:r>
            <a:r>
              <a:rPr sz="975" b="1">
                <a:solidFill>
                  <a:srgbClr val="2C78B8"/>
                </a:solidFill>
                <a:latin typeface="Noto Sans"/>
                <a:ea typeface="Noto Sans"/>
                <a:cs typeface="Noto Sans"/>
              </a:rPr>
              <a:t>今回の時系列</a:t>
            </a:r>
          </a:p>
        </p:txBody>
      </p:sp>
      <p:sp>
        <p:nvSpPr>
          <p:cNvPr id="32" name="Google Shape;32;p4">
            <a:extLst xmlns:a="http://schemas.openxmlformats.org/drawingml/2006/main">
              <a:ext uri="{FF2B5EF4-FFF2-40B4-BE49-F238E27FC236}">
                <a16:creationId xmlns:a16="http://schemas.microsoft.com/office/drawing/2014/main" id="{5CA9C12B-D89F-3A0B-7BED-11525D13DADD}"/>
              </a:ext>
            </a:extLst>
          </p:cNvPr>
          <p:cNvSpPr>
            <a:spLocks xmlns:a="http://schemas.openxmlformats.org/drawingml/2006/main" noGrp="1"/>
          </p:cNvSpPr>
          <p:nvPr/>
        </p:nvSpPr>
        <p:spPr>
          <a:xfrm xmlns:a="http://schemas.openxmlformats.org/drawingml/2006/main">
            <a:off x="1562100" y="800100"/>
            <a:ext cx="857250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indent="0" algn="l">
              <a:spcBef>
                <a:spcPts val="0"/>
              </a:spcBef>
              <a:spcAft>
                <a:spcPts val="0"/>
              </a:spcAft>
              <a:buNone/>
            </a:pPr>
            <a:r>
              <a:rPr sz="2550" b="1">
                <a:solidFill>
                  <a:srgbClr val="1B2A3A"/>
                </a:solidFill>
                <a:latin typeface="Noto Sans"/>
                <a:ea typeface="Noto Sans"/>
                <a:cs typeface="Noto Sans"/>
              </a:rPr>
              <a:t>今回の時系列</a:t>
            </a:r>
          </a:p>
        </p:txBody>
      </p:sp>
      <p:sp>
        <p:nvSpPr>
          <p:cNvPr id="35" name="Google Shape;35;p4">
            <a:extLst xmlns:a="http://schemas.openxmlformats.org/drawingml/2006/main">
              <a:ext uri="{FF2B5EF4-FFF2-40B4-BE49-F238E27FC236}">
                <a16:creationId xmlns:a16="http://schemas.microsoft.com/office/drawing/2014/main" id="{92F65C20-03A3-68E8-2919-A3D0B24121C0}"/>
              </a:ext>
            </a:extLst>
          </p:cNvPr>
          <p:cNvSpPr>
            <a:spLocks xmlns:a="http://schemas.openxmlformats.org/drawingml/2006/main" noGrp="1"/>
          </p:cNvSpPr>
          <p:nvPr/>
        </p:nvSpPr>
        <p:spPr>
          <a:xfrm xmlns:a="http://schemas.openxmlformats.org/drawingml/2006/main">
            <a:off x="819150" y="6457950"/>
            <a:ext cx="43815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indent="0" algn="l">
              <a:spcBef>
                <a:spcPts val="0"/>
              </a:spcBef>
              <a:spcAft>
                <a:spcPts val="0"/>
              </a:spcAft>
              <a:buNone/>
            </a:pPr>
            <a:r>
              <a:rPr sz="750">
                <a:solidFill>
                  <a:srgbClr val="5E7589"/>
                </a:solidFill>
                <a:latin typeface="Noto Sans"/>
                <a:ea typeface="Noto Sans"/>
                <a:cs typeface="Noto Sans"/>
              </a:rPr>
              <a:t>アルボース ｜ 利用率低下分析の報告</a:t>
            </a:r>
          </a:p>
        </p:txBody>
      </p:sp>
      <p:sp>
        <p:nvSpPr>
          <p:cNvPr id="36" name="Google Shape;36;p4">
            <a:extLst xmlns:a="http://schemas.openxmlformats.org/drawingml/2006/main">
              <a:ext uri="{FF2B5EF4-FFF2-40B4-BE49-F238E27FC236}">
                <a16:creationId xmlns:a16="http://schemas.microsoft.com/office/drawing/2014/main" id="{50EEEEDF-59D0-47AC-D445-F0ABD0FBF87A}"/>
              </a:ext>
            </a:extLst>
          </p:cNvPr>
          <p:cNvSpPr>
            <a:spLocks xmlns:a="http://schemas.openxmlformats.org/drawingml/2006/main" noGrp="1"/>
          </p:cNvSpPr>
          <p:nvPr/>
        </p:nvSpPr>
        <p:spPr>
          <a:xfrm xmlns:a="http://schemas.openxmlformats.org/drawingml/2006/main">
            <a:off x="11049000" y="6457950"/>
            <a:ext cx="32385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indent="0" algn="r">
              <a:spcBef>
                <a:spcPts val="0"/>
              </a:spcBef>
              <a:spcAft>
                <a:spcPts val="0"/>
              </a:spcAft>
              <a:buNone/>
            </a:pPr>
            <a:r>
              <a:rPr sz="825">
                <a:solidFill>
                  <a:srgbClr val="5E7589"/>
                </a:solidFill>
                <a:latin typeface="Noto Sans"/>
                <a:ea typeface="Noto Sans"/>
                <a:cs typeface="Noto Sans"/>
              </a:rPr>
              <a:t>2</a:t>
            </a:r>
          </a:p>
        </p:txBody>
      </p:sp>
      <p:sp>
        <p:nvSpPr>
          <p:cNvPr id="100" name="Summary Bar">
            <a:extLst xmlns:a="http://schemas.openxmlformats.org/drawingml/2006/main">
              <a:ext uri="{FF2B5EF4-FFF2-40B4-BE49-F238E27FC236}">
                <a16:creationId xmlns:a16="http://schemas.microsoft.com/office/drawing/2014/main" id="{0CAAE841-F25C-4B99-8859-5406C3FEE326}"/>
              </a:ext>
            </a:extLst>
          </p:cNvPr>
          <p:cNvSpPr>
            <a:spLocks xmlns:a="http://schemas.openxmlformats.org/drawingml/2006/main" noGrp="1"/>
          </p:cNvSpPr>
          <p:nvPr/>
        </p:nvSpPr>
        <p:spPr>
          <a:xfrm xmlns:a="http://schemas.openxmlformats.org/drawingml/2006/main">
            <a:off x="819150" y="1485900"/>
            <a:ext cx="10553700" cy="571500"/>
          </a:xfrm>
          <a:prstGeom xmlns:a="http://schemas.openxmlformats.org/drawingml/2006/main" prst="roundRect">
            <a:avLst>
              <a:gd name="adj" fmla="val 13333"/>
            </a:avLst>
          </a:prstGeom>
          <a:solidFill xmlns:a="http://schemas.openxmlformats.org/drawingml/2006/main">
            <a:srgbClr val="EAF1F8"/>
          </a:solidFill>
          <a:ln xmlns:a="http://schemas.openxmlformats.org/drawingml/2006/main" w="9525" cmpd="sng">
            <a:solidFill>
              <a:srgbClr val="EAF1F8"/>
            </a:solidFill>
            <a:prstDash val="solid"/>
          </a:ln>
        </p:spPr>
        <p:txBody>
          <a:bodyPr xmlns:a="http://schemas.openxmlformats.org/drawingml/2006/main" spcFirstLastPara="1" wrap="square" lIns="228600" tIns="91425" rIns="228600" bIns="91425" anchor="ctr">
            <a:noAutofit/>
          </a:bodyPr>
          <a:lstStyle xmlns:a="http://schemas.openxmlformats.org/drawingml/2006/main"/>
          <a:p xmlns:a="http://schemas.openxmlformats.org/drawingml/2006/main">
            <a:pPr marL="0" indent="0" algn="l">
              <a:spcBef>
                <a:spcPts val="0"/>
              </a:spcBef>
              <a:spcAft>
                <a:spcPts val="0"/>
              </a:spcAft>
              <a:buNone/>
            </a:pPr>
            <a:r>
              <a:rPr sz="1275" b="1">
                <a:solidFill>
                  <a:srgbClr val="1E3A5F"/>
                </a:solidFill>
                <a:latin typeface="Noto Sans"/>
                <a:ea typeface="Noto Sans"/>
                <a:cs typeface="Noto Sans"/>
              </a:rPr>
              <a:t>5/19のセミナーを起点に、利用率分析、ボトルネック発見、利用者分析、次フェーズ方針までの経緯を整理した。</a:t>
            </a:r>
          </a:p>
        </p:txBody>
      </p:sp>
      <p:sp>
        <p:nvSpPr>
          <p:cNvPr id="110" name="Card 1">
            <a:extLst xmlns:a="http://schemas.openxmlformats.org/drawingml/2006/main">
              <a:ext uri="{FF2B5EF4-FFF2-40B4-BE49-F238E27FC236}">
                <a16:creationId xmlns:a16="http://schemas.microsoft.com/office/drawing/2014/main" id="{2DCE5362-2BC8-4D1E-9E37-879E17DB921C}"/>
              </a:ext>
            </a:extLst>
          </p:cNvPr>
          <p:cNvSpPr>
            <a:spLocks xmlns:a="http://schemas.openxmlformats.org/drawingml/2006/main" noGrp="1"/>
          </p:cNvSpPr>
          <p:nvPr/>
        </p:nvSpPr>
        <p:spPr>
          <a:xfrm xmlns:a="http://schemas.openxmlformats.org/drawingml/2006/main">
            <a:off x="819150" y="2628900"/>
            <a:ext cx="3213100" cy="2000250"/>
          </a:xfrm>
          <a:prstGeom xmlns:a="http://schemas.openxmlformats.org/drawingml/2006/main" prst="roundRect">
            <a:avLst>
              <a:gd name="adj" fmla="val 3810"/>
            </a:avLst>
          </a:prstGeom>
          <a:solidFill xmlns:a="http://schemas.openxmlformats.org/drawingml/2006/main">
            <a:srgbClr val="F4F8FC"/>
          </a:solidFill>
          <a:ln xmlns:a="http://schemas.openxmlformats.org/drawingml/2006/main" w="9525" cmpd="sng">
            <a:solidFill>
              <a:srgbClr val="D2DEEA"/>
            </a:solidFill>
            <a:prstDash val="solid"/>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buNone/>
            </a:pPr>
            <a:r>
              <a:t/>
            </a:r>
          </a:p>
        </p:txBody>
      </p:sp>
      <p:sp>
        <p:nvSpPr>
          <p:cNvPr id="111" name="Card 1 Date Pill">
            <a:extLst xmlns:a="http://schemas.openxmlformats.org/drawingml/2006/main">
              <a:ext uri="{FF2B5EF4-FFF2-40B4-BE49-F238E27FC236}">
                <a16:creationId xmlns:a16="http://schemas.microsoft.com/office/drawing/2014/main" id="{7E39E54F-E856-494B-83CD-4063DD2643D4}"/>
              </a:ext>
            </a:extLst>
          </p:cNvPr>
          <p:cNvSpPr>
            <a:spLocks xmlns:a="http://schemas.openxmlformats.org/drawingml/2006/main" noGrp="1"/>
          </p:cNvSpPr>
          <p:nvPr/>
        </p:nvSpPr>
        <p:spPr>
          <a:xfrm xmlns:a="http://schemas.openxmlformats.org/drawingml/2006/main">
            <a:off x="1047750" y="2247900"/>
            <a:ext cx="1371600" cy="323850"/>
          </a:xfrm>
          <a:prstGeom xmlns:a="http://schemas.openxmlformats.org/drawingml/2006/main" prst="roundRect">
            <a:avLst>
              <a:gd name="adj" fmla="val 23529"/>
            </a:avLst>
          </a:prstGeom>
          <a:solidFill xmlns:a="http://schemas.openxmlformats.org/drawingml/2006/main">
            <a:srgbClr val="17375E"/>
          </a:solidFill>
          <a:ln xmlns:a="http://schemas.openxmlformats.org/drawingml/2006/main" w="9525" cmpd="sng">
            <a:solidFill>
              <a:srgbClr val="17375E"/>
            </a:solidFill>
            <a:prstDash val="solid"/>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buNone/>
            </a:pPr>
            <a:r>
              <a:rPr sz="1050" b="1">
                <a:solidFill>
                  <a:srgbClr val="FFFFFF"/>
                </a:solidFill>
                <a:latin typeface="Noto Sans"/>
                <a:ea typeface="Noto Sans"/>
                <a:cs typeface="Noto Sans"/>
              </a:rPr>
              <a:t>5/19</a:t>
            </a:r>
          </a:p>
        </p:txBody>
      </p:sp>
      <p:sp>
        <p:nvSpPr>
          <p:cNvPr id="112" name="Card 1 Circle">
            <a:extLst xmlns:a="http://schemas.openxmlformats.org/drawingml/2006/main">
              <a:ext uri="{FF2B5EF4-FFF2-40B4-BE49-F238E27FC236}">
                <a16:creationId xmlns:a16="http://schemas.microsoft.com/office/drawing/2014/main" id="{D534493E-EB8A-4246-92DE-05D99A890F2E}"/>
              </a:ext>
            </a:extLst>
          </p:cNvPr>
          <p:cNvSpPr>
            <a:spLocks xmlns:a="http://schemas.openxmlformats.org/drawingml/2006/main" noGrp="1"/>
          </p:cNvSpPr>
          <p:nvPr/>
        </p:nvSpPr>
        <p:spPr>
          <a:xfrm xmlns:a="http://schemas.openxmlformats.org/drawingml/2006/main">
            <a:off x="1047750" y="2857500"/>
            <a:ext cx="419100" cy="419100"/>
          </a:xfrm>
          <a:prstGeom xmlns:a="http://schemas.openxmlformats.org/drawingml/2006/main" prst="ellipse">
            <a:avLst/>
          </a:prstGeom>
          <a:solidFill xmlns:a="http://schemas.openxmlformats.org/drawingml/2006/main">
            <a:srgbClr val="17375E"/>
          </a:solidFill>
          <a:ln xmlns:a="http://schemas.openxmlformats.org/drawingml/2006/main" w="9525" cmpd="sng">
            <a:solidFill>
              <a:srgbClr val="17375E"/>
            </a:solidFill>
            <a:prstDash val="solid"/>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buNone/>
            </a:pPr>
            <a:r>
              <a:rPr sz="1254" b="1">
                <a:solidFill>
                  <a:srgbClr val="FFFFFF"/>
                </a:solidFill>
                <a:latin typeface="Noto Sans"/>
                <a:ea typeface="Noto Sans"/>
                <a:cs typeface="Noto Sans"/>
              </a:rPr>
              <a:t>1</a:t>
            </a:r>
          </a:p>
        </p:txBody>
      </p:sp>
      <p:sp>
        <p:nvSpPr>
          <p:cNvPr id="113" name="Card 1 Heading">
            <a:extLst xmlns:a="http://schemas.openxmlformats.org/drawingml/2006/main">
              <a:ext uri="{FF2B5EF4-FFF2-40B4-BE49-F238E27FC236}">
                <a16:creationId xmlns:a16="http://schemas.microsoft.com/office/drawing/2014/main" id="{B6DA8B5A-B33B-4C65-B0F6-7AE2EF41D78A}"/>
              </a:ext>
            </a:extLst>
          </p:cNvPr>
          <p:cNvSpPr>
            <a:spLocks xmlns:a="http://schemas.openxmlformats.org/drawingml/2006/main" noGrp="1"/>
          </p:cNvSpPr>
          <p:nvPr/>
        </p:nvSpPr>
        <p:spPr>
          <a:xfrm xmlns:a="http://schemas.openxmlformats.org/drawingml/2006/main">
            <a:off x="1581150" y="2876550"/>
            <a:ext cx="222250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45700" bIns="45700" anchor="ctr">
            <a:noAutofit/>
          </a:bodyPr>
          <a:lstStyle xmlns:a="http://schemas.openxmlformats.org/drawingml/2006/main"/>
          <a:p xmlns:a="http://schemas.openxmlformats.org/drawingml/2006/main">
            <a:pPr marL="0" indent="0" algn="l">
              <a:buNone/>
            </a:pPr>
            <a:r>
              <a:rPr sz="1350" b="1">
                <a:solidFill>
                  <a:srgbClr val="1E3A5F"/>
                </a:solidFill>
                <a:latin typeface="Noto Sans"/>
                <a:ea typeface="Noto Sans"/>
                <a:cs typeface="Noto Sans"/>
              </a:rPr>
              <a:t>医療DX特別セミナー</a:t>
            </a:r>
          </a:p>
        </p:txBody>
      </p:sp>
      <p:sp>
        <p:nvSpPr>
          <p:cNvPr id="114" name="Card 1 Body">
            <a:extLst xmlns:a="http://schemas.openxmlformats.org/drawingml/2006/main">
              <a:ext uri="{FF2B5EF4-FFF2-40B4-BE49-F238E27FC236}">
                <a16:creationId xmlns:a16="http://schemas.microsoft.com/office/drawing/2014/main" id="{50739658-0251-47E0-96C2-C9C6CBDD012F}"/>
              </a:ext>
            </a:extLst>
          </p:cNvPr>
          <p:cNvSpPr>
            <a:spLocks xmlns:a="http://schemas.openxmlformats.org/drawingml/2006/main" noGrp="1"/>
          </p:cNvSpPr>
          <p:nvPr/>
        </p:nvSpPr>
        <p:spPr>
          <a:xfrm xmlns:a="http://schemas.openxmlformats.org/drawingml/2006/main">
            <a:off x="1047750" y="3467100"/>
            <a:ext cx="2755900" cy="100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45700" bIns="45700" anchor="t">
            <a:noAutofit/>
          </a:bodyPr>
          <a:lstStyle xmlns:a="http://schemas.openxmlformats.org/drawingml/2006/main"/>
          <a:p xmlns:a="http://schemas.openxmlformats.org/drawingml/2006/main">
            <a:pPr marL="0" indent="0" algn="l">
              <a:buNone/>
            </a:pPr>
            <a:r>
              <a:rPr sz="1100">
                <a:solidFill>
                  <a:srgbClr val="405A70"/>
                </a:solidFill>
                <a:latin typeface="Noto Sans"/>
                <a:ea typeface="Noto Sans"/>
                <a:cs typeface="Noto Sans"/>
              </a:rPr>
              <a:t>医療DX特別セミナーに参加し、取り組みのきっかけとなる。</a:t>
            </a:r>
          </a:p>
        </p:txBody>
      </p:sp>
      <p:sp>
        <p:nvSpPr>
          <p:cNvPr id="140" name="Arrow 1">
            <a:extLst xmlns:a="http://schemas.openxmlformats.org/drawingml/2006/main">
              <a:ext uri="{FF2B5EF4-FFF2-40B4-BE49-F238E27FC236}">
                <a16:creationId xmlns:a16="http://schemas.microsoft.com/office/drawing/2014/main" id="{99CEEFC4-D7A0-4E3E-A521-499FF99A88AB}"/>
              </a:ext>
            </a:extLst>
          </p:cNvPr>
          <p:cNvSpPr>
            <a:spLocks xmlns:a="http://schemas.openxmlformats.org/drawingml/2006/main" noGrp="1"/>
          </p:cNvSpPr>
          <p:nvPr/>
        </p:nvSpPr>
        <p:spPr>
          <a:xfrm xmlns:a="http://schemas.openxmlformats.org/drawingml/2006/main">
            <a:off x="4098925" y="3495000"/>
            <a:ext cx="323850" cy="266700"/>
          </a:xfrm>
          <a:prstGeom xmlns:a="http://schemas.openxmlformats.org/drawingml/2006/main" prst="rightArrow">
            <a:avLst>
              <a:gd name="adj1" fmla="val 50000"/>
              <a:gd name="adj2" fmla="val 50000"/>
            </a:avLst>
          </a:prstGeom>
          <a:solidFill xmlns:a="http://schemas.openxmlformats.org/drawingml/2006/main">
            <a:srgbClr val="2C78B8"/>
          </a:solidFill>
          <a:ln xmlns:a="http://schemas.openxmlformats.org/drawingml/2006/main" w="9525" cmpd="sng">
            <a:solidFill>
              <a:srgbClr val="2C78B8"/>
            </a:solidFill>
            <a:prstDash val="solid"/>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buNone/>
            </a:pPr>
          </a:p>
        </p:txBody>
      </p:sp>
      <p:sp>
        <p:nvSpPr>
          <p:cNvPr id="120" name="Card 2">
            <a:extLst xmlns:a="http://schemas.openxmlformats.org/drawingml/2006/main">
              <a:ext uri="{FF2B5EF4-FFF2-40B4-BE49-F238E27FC236}">
                <a16:creationId xmlns:a16="http://schemas.microsoft.com/office/drawing/2014/main" id="{C5191E35-0FAD-4880-B5FB-7BEE65BFB0D4}"/>
              </a:ext>
            </a:extLst>
          </p:cNvPr>
          <p:cNvSpPr>
            <a:spLocks xmlns:a="http://schemas.openxmlformats.org/drawingml/2006/main" noGrp="1"/>
          </p:cNvSpPr>
          <p:nvPr/>
        </p:nvSpPr>
        <p:spPr>
          <a:xfrm xmlns:a="http://schemas.openxmlformats.org/drawingml/2006/main">
            <a:off x="4489450" y="2628900"/>
            <a:ext cx="3213100" cy="2000250"/>
          </a:xfrm>
          <a:prstGeom xmlns:a="http://schemas.openxmlformats.org/drawingml/2006/main" prst="roundRect">
            <a:avLst>
              <a:gd name="adj" fmla="val 3810"/>
            </a:avLst>
          </a:prstGeom>
          <a:solidFill xmlns:a="http://schemas.openxmlformats.org/drawingml/2006/main">
            <a:srgbClr val="F4F8FC"/>
          </a:solidFill>
          <a:ln xmlns:a="http://schemas.openxmlformats.org/drawingml/2006/main" w="9525" cmpd="sng">
            <a:solidFill>
              <a:srgbClr val="D2DEEA"/>
            </a:solidFill>
            <a:prstDash val="solid"/>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buNone/>
            </a:pPr>
          </a:p>
        </p:txBody>
      </p:sp>
      <p:sp>
        <p:nvSpPr>
          <p:cNvPr id="121" name="Card 2 Date Pill">
            <a:extLst xmlns:a="http://schemas.openxmlformats.org/drawingml/2006/main">
              <a:ext uri="{FF2B5EF4-FFF2-40B4-BE49-F238E27FC236}">
                <a16:creationId xmlns:a16="http://schemas.microsoft.com/office/drawing/2014/main" id="{F329F884-EBAE-436B-B4DD-99941A51DD66}"/>
              </a:ext>
            </a:extLst>
          </p:cNvPr>
          <p:cNvSpPr>
            <a:spLocks xmlns:a="http://schemas.openxmlformats.org/drawingml/2006/main" noGrp="1"/>
          </p:cNvSpPr>
          <p:nvPr/>
        </p:nvSpPr>
        <p:spPr>
          <a:xfrm xmlns:a="http://schemas.openxmlformats.org/drawingml/2006/main">
            <a:off x="4718050" y="2247900"/>
            <a:ext cx="1371600" cy="323850"/>
          </a:xfrm>
          <a:prstGeom xmlns:a="http://schemas.openxmlformats.org/drawingml/2006/main" prst="roundRect">
            <a:avLst>
              <a:gd name="adj" fmla="val 23529"/>
            </a:avLst>
          </a:prstGeom>
          <a:solidFill xmlns:a="http://schemas.openxmlformats.org/drawingml/2006/main">
            <a:srgbClr val="2C78B8"/>
          </a:solidFill>
          <a:ln xmlns:a="http://schemas.openxmlformats.org/drawingml/2006/main" w="9525" cmpd="sng">
            <a:solidFill>
              <a:srgbClr val="2C78B8"/>
            </a:solidFill>
            <a:prstDash val="solid"/>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buNone/>
            </a:pPr>
            <a:r>
              <a:rPr sz="1050" b="1">
                <a:solidFill>
                  <a:srgbClr val="FFFFFF"/>
                </a:solidFill>
                <a:latin typeface="Noto Sans"/>
                <a:ea typeface="Noto Sans"/>
                <a:cs typeface="Noto Sans"/>
              </a:rPr>
              <a:t>5/27</a:t>
            </a:r>
          </a:p>
        </p:txBody>
      </p:sp>
      <p:sp>
        <p:nvSpPr>
          <p:cNvPr id="122" name="Card 2 Circle">
            <a:extLst xmlns:a="http://schemas.openxmlformats.org/drawingml/2006/main">
              <a:ext uri="{FF2B5EF4-FFF2-40B4-BE49-F238E27FC236}">
                <a16:creationId xmlns:a16="http://schemas.microsoft.com/office/drawing/2014/main" id="{8880209E-46E7-482E-B8AF-42892471925A}"/>
              </a:ext>
            </a:extLst>
          </p:cNvPr>
          <p:cNvSpPr>
            <a:spLocks xmlns:a="http://schemas.openxmlformats.org/drawingml/2006/main" noGrp="1"/>
          </p:cNvSpPr>
          <p:nvPr/>
        </p:nvSpPr>
        <p:spPr>
          <a:xfrm xmlns:a="http://schemas.openxmlformats.org/drawingml/2006/main">
            <a:off x="4718050" y="2857500"/>
            <a:ext cx="419100" cy="419100"/>
          </a:xfrm>
          <a:prstGeom xmlns:a="http://schemas.openxmlformats.org/drawingml/2006/main" prst="ellipse">
            <a:avLst/>
          </a:prstGeom>
          <a:solidFill xmlns:a="http://schemas.openxmlformats.org/drawingml/2006/main">
            <a:srgbClr val="2C78B8"/>
          </a:solidFill>
          <a:ln xmlns:a="http://schemas.openxmlformats.org/drawingml/2006/main" w="9525" cmpd="sng">
            <a:solidFill>
              <a:srgbClr val="2C78B8"/>
            </a:solidFill>
            <a:prstDash val="solid"/>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buNone/>
            </a:pPr>
            <a:r>
              <a:rPr sz="1254" b="1">
                <a:solidFill>
                  <a:srgbClr val="FFFFFF"/>
                </a:solidFill>
                <a:latin typeface="Noto Sans"/>
                <a:ea typeface="Noto Sans"/>
                <a:cs typeface="Noto Sans"/>
              </a:rPr>
              <a:t>2</a:t>
            </a:r>
          </a:p>
        </p:txBody>
      </p:sp>
      <p:sp>
        <p:nvSpPr>
          <p:cNvPr id="123" name="Card 2 Heading">
            <a:extLst xmlns:a="http://schemas.openxmlformats.org/drawingml/2006/main">
              <a:ext uri="{FF2B5EF4-FFF2-40B4-BE49-F238E27FC236}">
                <a16:creationId xmlns:a16="http://schemas.microsoft.com/office/drawing/2014/main" id="{5141CF91-A694-453E-8598-C8A573DEB497}"/>
              </a:ext>
            </a:extLst>
          </p:cNvPr>
          <p:cNvSpPr>
            <a:spLocks xmlns:a="http://schemas.openxmlformats.org/drawingml/2006/main" noGrp="1"/>
          </p:cNvSpPr>
          <p:nvPr/>
        </p:nvSpPr>
        <p:spPr>
          <a:xfrm xmlns:a="http://schemas.openxmlformats.org/drawingml/2006/main">
            <a:off x="5251450" y="2876550"/>
            <a:ext cx="222250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45700" bIns="45700" anchor="ctr">
            <a:noAutofit/>
          </a:bodyPr>
          <a:lstStyle xmlns:a="http://schemas.openxmlformats.org/drawingml/2006/main"/>
          <a:p xmlns:a="http://schemas.openxmlformats.org/drawingml/2006/main">
            <a:pPr marL="0" indent="0" algn="l">
              <a:buNone/>
            </a:pPr>
            <a:r>
              <a:rPr sz="1350" b="1">
                <a:solidFill>
                  <a:srgbClr val="1E3A5F"/>
                </a:solidFill>
                <a:latin typeface="Noto Sans"/>
                <a:ea typeface="Noto Sans"/>
                <a:cs typeface="Noto Sans"/>
              </a:rPr>
              <a:t>キックオフMTG</a:t>
            </a:r>
          </a:p>
        </p:txBody>
      </p:sp>
      <p:sp>
        <p:nvSpPr>
          <p:cNvPr id="124" name="Card 2 Body">
            <a:extLst xmlns:a="http://schemas.openxmlformats.org/drawingml/2006/main">
              <a:ext uri="{FF2B5EF4-FFF2-40B4-BE49-F238E27FC236}">
                <a16:creationId xmlns:a16="http://schemas.microsoft.com/office/drawing/2014/main" id="{75801DDE-9862-4FB3-A043-EBCE7B34BC8F}"/>
              </a:ext>
            </a:extLst>
          </p:cNvPr>
          <p:cNvSpPr>
            <a:spLocks xmlns:a="http://schemas.openxmlformats.org/drawingml/2006/main" noGrp="1"/>
          </p:cNvSpPr>
          <p:nvPr/>
        </p:nvSpPr>
        <p:spPr>
          <a:xfrm xmlns:a="http://schemas.openxmlformats.org/drawingml/2006/main">
            <a:off x="4718050" y="3467100"/>
            <a:ext cx="2755900" cy="100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45700" bIns="45700" anchor="t">
            <a:noAutofit/>
          </a:bodyPr>
          <a:lstStyle xmlns:a="http://schemas.openxmlformats.org/drawingml/2006/main"/>
          <a:p xmlns:a="http://schemas.openxmlformats.org/drawingml/2006/main">
            <a:pPr marL="0" indent="0" algn="l">
              <a:buNone/>
            </a:pPr>
            <a:r>
              <a:rPr sz="1100">
                <a:solidFill>
                  <a:srgbClr val="405A70"/>
                </a:solidFill>
                <a:latin typeface="Noto Sans"/>
                <a:ea typeface="Noto Sans"/>
                <a:cs typeface="Noto Sans"/>
              </a:rPr>
              <a:t>恵里先生より入所利用率低下を課題として提起。その後、能見さんを含む職員へ複数回の相談・報告。</a:t>
            </a:r>
          </a:p>
        </p:txBody>
      </p:sp>
      <p:sp>
        <p:nvSpPr>
          <p:cNvPr id="141" name="Arrow 2">
            <a:extLst xmlns:a="http://schemas.openxmlformats.org/drawingml/2006/main">
              <a:ext uri="{FF2B5EF4-FFF2-40B4-BE49-F238E27FC236}">
                <a16:creationId xmlns:a16="http://schemas.microsoft.com/office/drawing/2014/main" id="{3479AD72-FBF9-4E3C-A3D3-2DCFF9A6C0CC}"/>
              </a:ext>
            </a:extLst>
          </p:cNvPr>
          <p:cNvSpPr>
            <a:spLocks xmlns:a="http://schemas.openxmlformats.org/drawingml/2006/main" noGrp="1"/>
          </p:cNvSpPr>
          <p:nvPr/>
        </p:nvSpPr>
        <p:spPr>
          <a:xfrm xmlns:a="http://schemas.openxmlformats.org/drawingml/2006/main">
            <a:off x="7769225" y="3495000"/>
            <a:ext cx="323850" cy="266700"/>
          </a:xfrm>
          <a:prstGeom xmlns:a="http://schemas.openxmlformats.org/drawingml/2006/main" prst="rightArrow">
            <a:avLst>
              <a:gd name="adj1" fmla="val 50000"/>
              <a:gd name="adj2" fmla="val 50000"/>
            </a:avLst>
          </a:prstGeom>
          <a:solidFill xmlns:a="http://schemas.openxmlformats.org/drawingml/2006/main">
            <a:srgbClr val="2C78B8"/>
          </a:solidFill>
          <a:ln xmlns:a="http://schemas.openxmlformats.org/drawingml/2006/main" w="9525" cmpd="sng">
            <a:solidFill>
              <a:srgbClr val="2C78B8"/>
            </a:solidFill>
            <a:prstDash val="solid"/>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buNone/>
            </a:pPr>
          </a:p>
        </p:txBody>
      </p:sp>
      <p:sp>
        <p:nvSpPr>
          <p:cNvPr id="130" name="Card 3">
            <a:extLst xmlns:a="http://schemas.openxmlformats.org/drawingml/2006/main">
              <a:ext uri="{FF2B5EF4-FFF2-40B4-BE49-F238E27FC236}">
                <a16:creationId xmlns:a16="http://schemas.microsoft.com/office/drawing/2014/main" id="{B363B17F-733B-4B26-A283-87BB2A77E816}"/>
              </a:ext>
            </a:extLst>
          </p:cNvPr>
          <p:cNvSpPr>
            <a:spLocks xmlns:a="http://schemas.openxmlformats.org/drawingml/2006/main" noGrp="1"/>
          </p:cNvSpPr>
          <p:nvPr/>
        </p:nvSpPr>
        <p:spPr>
          <a:xfrm xmlns:a="http://schemas.openxmlformats.org/drawingml/2006/main">
            <a:off x="8159750" y="2628900"/>
            <a:ext cx="3213100" cy="2000250"/>
          </a:xfrm>
          <a:prstGeom xmlns:a="http://schemas.openxmlformats.org/drawingml/2006/main" prst="roundRect">
            <a:avLst>
              <a:gd name="adj" fmla="val 3810"/>
            </a:avLst>
          </a:prstGeom>
          <a:solidFill xmlns:a="http://schemas.openxmlformats.org/drawingml/2006/main">
            <a:srgbClr val="17375E"/>
          </a:solidFill>
          <a:ln xmlns:a="http://schemas.openxmlformats.org/drawingml/2006/main" w="9525" cmpd="sng">
            <a:solidFill>
              <a:srgbClr val="17375E"/>
            </a:solidFill>
            <a:prstDash val="solid"/>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buNone/>
            </a:pPr>
          </a:p>
        </p:txBody>
      </p:sp>
      <p:sp>
        <p:nvSpPr>
          <p:cNvPr id="131" name="Card 3 Date Pill">
            <a:extLst xmlns:a="http://schemas.openxmlformats.org/drawingml/2006/main">
              <a:ext uri="{FF2B5EF4-FFF2-40B4-BE49-F238E27FC236}">
                <a16:creationId xmlns:a16="http://schemas.microsoft.com/office/drawing/2014/main" id="{6225D578-B726-4695-A22D-00AE27EE3495}"/>
              </a:ext>
            </a:extLst>
          </p:cNvPr>
          <p:cNvSpPr>
            <a:spLocks xmlns:a="http://schemas.openxmlformats.org/drawingml/2006/main" noGrp="1"/>
          </p:cNvSpPr>
          <p:nvPr/>
        </p:nvSpPr>
        <p:spPr>
          <a:xfrm xmlns:a="http://schemas.openxmlformats.org/drawingml/2006/main">
            <a:off x="8388350" y="2247900"/>
            <a:ext cx="1371600" cy="323850"/>
          </a:xfrm>
          <a:prstGeom xmlns:a="http://schemas.openxmlformats.org/drawingml/2006/main" prst="roundRect">
            <a:avLst>
              <a:gd name="adj" fmla="val 23529"/>
            </a:avLst>
          </a:prstGeom>
          <a:solidFill xmlns:a="http://schemas.openxmlformats.org/drawingml/2006/main">
            <a:srgbClr val="5B9BD5"/>
          </a:solidFill>
          <a:ln xmlns:a="http://schemas.openxmlformats.org/drawingml/2006/main" w="9525" cmpd="sng">
            <a:solidFill>
              <a:srgbClr val="5B9BD5"/>
            </a:solidFill>
            <a:prstDash val="solid"/>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buNone/>
            </a:pPr>
            <a:r>
              <a:rPr sz="1050" b="1">
                <a:solidFill>
                  <a:srgbClr val="FFFFFF"/>
                </a:solidFill>
                <a:latin typeface="Noto Sans"/>
                <a:ea typeface="Noto Sans"/>
                <a:cs typeface="Noto Sans"/>
              </a:rPr>
              <a:t>6/23</a:t>
            </a:r>
          </a:p>
        </p:txBody>
      </p:sp>
      <p:sp>
        <p:nvSpPr>
          <p:cNvPr id="132" name="Card 3 Circle">
            <a:extLst xmlns:a="http://schemas.openxmlformats.org/drawingml/2006/main">
              <a:ext uri="{FF2B5EF4-FFF2-40B4-BE49-F238E27FC236}">
                <a16:creationId xmlns:a16="http://schemas.microsoft.com/office/drawing/2014/main" id="{BFB81B37-9953-4844-8507-0F6221E68403}"/>
              </a:ext>
            </a:extLst>
          </p:cNvPr>
          <p:cNvSpPr>
            <a:spLocks xmlns:a="http://schemas.openxmlformats.org/drawingml/2006/main" noGrp="1"/>
          </p:cNvSpPr>
          <p:nvPr/>
        </p:nvSpPr>
        <p:spPr>
          <a:xfrm xmlns:a="http://schemas.openxmlformats.org/drawingml/2006/main">
            <a:off x="8388350" y="2857500"/>
            <a:ext cx="419100" cy="419100"/>
          </a:xfrm>
          <a:prstGeom xmlns:a="http://schemas.openxmlformats.org/drawingml/2006/main" prst="ellipse">
            <a:avLst/>
          </a:prstGeom>
          <a:solidFill xmlns:a="http://schemas.openxmlformats.org/drawingml/2006/main">
            <a:srgbClr val="5B9BD5"/>
          </a:solidFill>
          <a:ln xmlns:a="http://schemas.openxmlformats.org/drawingml/2006/main" w="9525" cmpd="sng">
            <a:solidFill>
              <a:srgbClr val="5B9BD5"/>
            </a:solidFill>
            <a:prstDash val="solid"/>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buNone/>
            </a:pPr>
            <a:r>
              <a:rPr sz="1254" b="1">
                <a:solidFill>
                  <a:srgbClr val="FFFFFF"/>
                </a:solidFill>
                <a:latin typeface="Noto Sans"/>
                <a:ea typeface="Noto Sans"/>
                <a:cs typeface="Noto Sans"/>
              </a:rPr>
              <a:t>3</a:t>
            </a:r>
          </a:p>
        </p:txBody>
      </p:sp>
      <p:sp>
        <p:nvSpPr>
          <p:cNvPr id="133" name="Card 3 Heading">
            <a:extLst xmlns:a="http://schemas.openxmlformats.org/drawingml/2006/main">
              <a:ext uri="{FF2B5EF4-FFF2-40B4-BE49-F238E27FC236}">
                <a16:creationId xmlns:a16="http://schemas.microsoft.com/office/drawing/2014/main" id="{9920534A-DA8A-4D03-B116-16B9FDE580C8}"/>
              </a:ext>
            </a:extLst>
          </p:cNvPr>
          <p:cNvSpPr>
            <a:spLocks xmlns:a="http://schemas.openxmlformats.org/drawingml/2006/main" noGrp="1"/>
          </p:cNvSpPr>
          <p:nvPr/>
        </p:nvSpPr>
        <p:spPr>
          <a:xfrm xmlns:a="http://schemas.openxmlformats.org/drawingml/2006/main">
            <a:off x="8921750" y="2876550"/>
            <a:ext cx="222250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45700" bIns="45700" anchor="ctr">
            <a:noAutofit/>
          </a:bodyPr>
          <a:lstStyle xmlns:a="http://schemas.openxmlformats.org/drawingml/2006/main"/>
          <a:p xmlns:a="http://schemas.openxmlformats.org/drawingml/2006/main">
            <a:pPr marL="0" indent="0" algn="l">
              <a:buNone/>
            </a:pPr>
            <a:r>
              <a:rPr sz="1350" b="1">
                <a:solidFill>
                  <a:srgbClr val="FFFFFF"/>
                </a:solidFill>
                <a:latin typeface="Noto Sans"/>
                <a:ea typeface="Noto Sans"/>
                <a:cs typeface="Noto Sans"/>
              </a:rPr>
              <a:t>本日・中間報告</a:t>
            </a:r>
          </a:p>
        </p:txBody>
      </p:sp>
      <p:sp>
        <p:nvSpPr>
          <p:cNvPr id="134" name="Card 3 Body">
            <a:extLst xmlns:a="http://schemas.openxmlformats.org/drawingml/2006/main">
              <a:ext uri="{FF2B5EF4-FFF2-40B4-BE49-F238E27FC236}">
                <a16:creationId xmlns:a16="http://schemas.microsoft.com/office/drawing/2014/main" id="{15047261-A601-4784-BE95-CCC86744B5F0}"/>
              </a:ext>
            </a:extLst>
          </p:cNvPr>
          <p:cNvSpPr>
            <a:spLocks xmlns:a="http://schemas.openxmlformats.org/drawingml/2006/main" noGrp="1"/>
          </p:cNvSpPr>
          <p:nvPr/>
        </p:nvSpPr>
        <p:spPr>
          <a:xfrm xmlns:a="http://schemas.openxmlformats.org/drawingml/2006/main">
            <a:off x="8388350" y="3467100"/>
            <a:ext cx="2755900" cy="100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45700" bIns="45700" anchor="t">
            <a:noAutofit/>
          </a:bodyPr>
          <a:lstStyle xmlns:a="http://schemas.openxmlformats.org/drawingml/2006/main"/>
          <a:p xmlns:a="http://schemas.openxmlformats.org/drawingml/2006/main">
            <a:pPr marL="0" indent="0" algn="l">
              <a:buNone/>
            </a:pPr>
            <a:r>
              <a:rPr sz="1100">
                <a:solidFill>
                  <a:srgbClr val="D6E2F0"/>
                </a:solidFill>
                <a:latin typeface="Noto Sans"/>
                <a:ea typeface="Noto Sans"/>
                <a:cs typeface="Noto Sans"/>
              </a:rPr>
              <a:t>利用率分析から利用者分析、次フェーズ方針までを中間報告。</a:t>
            </a:r>
          </a:p>
        </p:txBody>
      </p:sp>
    </p:spTree>
    <p:extLst>
      <p:ext uri="{BB962C8B-B14F-4D97-AF65-F5344CB8AC3E}">
        <p14:creationId xmlns:p14="http://schemas.microsoft.com/office/powerpoint/2010/main" val="1101776157"/>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83" name="Google Shape;83;p18">
            <a:extLst xmlns:a="http://schemas.openxmlformats.org/drawingml/2006/main">
              <a:ext uri="{FF2B5EF4-FFF2-40B4-BE49-F238E27FC236}">
                <a16:creationId xmlns:a16="http://schemas.microsoft.com/office/drawing/2014/main" id="{FAC6D90D-F784-4F2D-8F3A-6C02F88023BE}"/>
              </a:ext>
            </a:extLst>
          </p:cNvPr>
          <p:cNvSpPr>
            <a:spLocks xmlns:a="http://schemas.openxmlformats.org/drawingml/2006/main" noGrp="1"/>
          </p:cNvSpPr>
          <p:nvPr>
            <p:ph type="title" idx="0"/>
          </p:nvPr>
        </p:nvSpPr>
        <p:spPr>
          <a:xfrm xmlns:a="http://schemas.openxmlformats.org/drawingml/2006/main">
            <a:off x="415600" y="593367"/>
            <a:ext cx="11360800" cy="763600"/>
          </a:xfrm>
          <a:prstGeom xmlns:a="http://schemas.openxmlformats.org/drawingml/2006/main" prst="rect">
            <a:avLst/>
          </a:prstGeom>
        </p:spPr>
        <p:txBody>
          <a:bodyPr xmlns:a="http://schemas.openxmlformats.org/drawingml/2006/main" spcFirstLastPara="1" wrap="square" lIns="121900" tIns="121900" rIns="121900" bIns="121900" anchor="t">
            <a:normAutofit/>
          </a:bodyPr>
          <a:lstStyle xmlns:a="http://schemas.openxmlformats.org/drawingml/2006/main"/>
          <a:p xmlns:a="http://schemas.openxmlformats.org/drawingml/2006/main">
            <a:r>
              <a:t>アルボース空床数の推移</a:t>
            </a:r>
          </a:p>
        </p:txBody>
      </p:sp>
      <p:pic>
        <p:nvPicPr>
          <p:cNvPr id="86" name="Google Shape;85;p18"/>
          <p:cNvPicPr>
            <a:picLocks xmlns:a="http://schemas.openxmlformats.org/drawingml/2006/main" noChangeAspect="1"/>
          </p:cNvPicPr>
          <p:nvPr/>
        </p:nvPicPr>
        <p:blipFill rotWithShape="1">
          <a:blip xmlns:r="http://schemas.openxmlformats.org/officeDocument/2006/relationships" xmlns:a="http://schemas.openxmlformats.org/drawingml/2006/main" r:embed="Ra5aa3362bec243e9">
            <a:alphaModFix/>
          </a:blip>
          <a:srcRect xmlns:a="http://schemas.openxmlformats.org/drawingml/2006/main" l="0" t="7724" r="0" b="0"/>
          <a:stretch xmlns:a="http://schemas.openxmlformats.org/drawingml/2006/main"/>
        </p:blipFill>
        <p:spPr>
          <a:xfrm xmlns:a="http://schemas.openxmlformats.org/drawingml/2006/main">
            <a:off x="1" y="1282035"/>
            <a:ext cx="12192004" cy="5575967"/>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65839248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7A3277B-AB6C-45D3-9329-2E46A49925CF}"/>
              </a:ext>
            </a:extLst>
          </p:cNvPr>
          <p:cNvSpPr>
            <a:spLocks xmlns:a="http://schemas.openxmlformats.org/drawingml/2006/main" noGrp="1"/>
          </p:cNvSpPr>
          <p:nvPr/>
        </p:nvSpPr>
        <p:spPr>
          <a:xfrm xmlns:a="http://schemas.openxmlformats.org/drawingml/2006/main">
            <a:off x="819150" y="514350"/>
            <a:ext cx="857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325" b="1">
                <a:solidFill>
                  <a:srgbClr val="102F50"/>
                </a:solidFill>
                <a:latin typeface="Noto Sans"/>
                <a:ea typeface="Noto Sans"/>
                <a:cs typeface="Noto Sans"/>
              </a:defRPr>
            </a:pPr>
            <a:r>
              <a:rPr sz="2325" b="1">
                <a:solidFill>
                  <a:srgbClr val="102F50"/>
                </a:solidFill>
                <a:latin typeface="Noto Sans"/>
                <a:ea typeface="Noto Sans"/>
                <a:cs typeface="Noto Sans"/>
              </a:rPr>
              <a:t>2F・3F 利用率低下の確認</a:t>
            </a:r>
          </a:p>
        </p:txBody>
      </p:sp>
      <p:sp>
        <p:nvSpPr>
          <p:cNvPr id="2" name="">
            <a:extLst xmlns:a="http://schemas.openxmlformats.org/drawingml/2006/main">
              <a:ext uri="{FF2B5EF4-FFF2-40B4-BE49-F238E27FC236}">
                <a16:creationId xmlns:a16="http://schemas.microsoft.com/office/drawing/2014/main" id="{B11608E3-3440-457B-89AD-58CE5E68BF61}"/>
              </a:ext>
            </a:extLst>
          </p:cNvPr>
          <p:cNvSpPr>
            <a:spLocks xmlns:a="http://schemas.openxmlformats.org/drawingml/2006/main" noGrp="1"/>
          </p:cNvSpPr>
          <p:nvPr/>
        </p:nvSpPr>
        <p:spPr>
          <a:xfrm xmlns:a="http://schemas.openxmlformats.org/drawingml/2006/main">
            <a:off x="819150" y="990600"/>
            <a:ext cx="990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475569"/>
                </a:solidFill>
                <a:latin typeface="Noto Sans"/>
                <a:ea typeface="Noto Sans"/>
                <a:cs typeface="Noto Sans"/>
              </a:defRPr>
            </a:pPr>
            <a:r>
              <a:rPr sz="1350" b="0">
                <a:solidFill>
                  <a:srgbClr val="475569"/>
                </a:solidFill>
                <a:latin typeface="Noto Sans"/>
                <a:ea typeface="Noto Sans"/>
                <a:cs typeface="Noto Sans"/>
              </a:rPr>
              <a:t>利用率分析により、2F・3Fで利用率低下が確認された。</a:t>
            </a:r>
          </a:p>
        </p:txBody>
      </p:sp>
      <p:sp>
        <p:nvSpPr>
          <p:cNvPr id="3" name="">
            <a:extLst xmlns:a="http://schemas.openxmlformats.org/drawingml/2006/main">
              <a:ext uri="{FF2B5EF4-FFF2-40B4-BE49-F238E27FC236}">
                <a16:creationId xmlns:a16="http://schemas.microsoft.com/office/drawing/2014/main" id="{C3616715-0ACE-4BD7-ADE4-98DCFAE2A85C}"/>
              </a:ext>
            </a:extLst>
          </p:cNvPr>
          <p:cNvSpPr>
            <a:spLocks xmlns:a="http://schemas.openxmlformats.org/drawingml/2006/main" noGrp="1"/>
          </p:cNvSpPr>
          <p:nvPr/>
        </p:nvSpPr>
        <p:spPr>
          <a:xfrm xmlns:a="http://schemas.openxmlformats.org/drawingml/2006/main">
            <a:off x="819150" y="1409700"/>
            <a:ext cx="10553700" cy="552450"/>
          </a:xfrm>
          <a:prstGeom xmlns:a="http://schemas.openxmlformats.org/drawingml/2006/main" prst="roundRect">
            <a:avLst>
              <a:gd name="adj" fmla="val 10345"/>
            </a:avLst>
          </a:prstGeom>
          <a:solidFill xmlns:a="http://schemas.openxmlformats.org/drawingml/2006/main">
            <a:srgbClr val="EDF5FB"/>
          </a:solidFill>
          <a:ln xmlns:a="http://schemas.openxmlformats.org/drawingml/2006/main" w="9525">
            <a:solidFill>
              <a:srgbClr val="D9E8F5"/>
            </a:solidFill>
            <a:prstDash val="solid"/>
          </a:ln>
        </p:spPr>
      </p:sp>
      <p:sp>
        <p:nvSpPr>
          <p:cNvPr id="4" name="">
            <a:extLst xmlns:a="http://schemas.openxmlformats.org/drawingml/2006/main">
              <a:ext uri="{FF2B5EF4-FFF2-40B4-BE49-F238E27FC236}">
                <a16:creationId xmlns:a16="http://schemas.microsoft.com/office/drawing/2014/main" id="{45D89D1B-0EFB-468F-9C87-7C45F1C80AC0}"/>
              </a:ext>
            </a:extLst>
          </p:cNvPr>
          <p:cNvSpPr>
            <a:spLocks xmlns:a="http://schemas.openxmlformats.org/drawingml/2006/main" noGrp="1"/>
          </p:cNvSpPr>
          <p:nvPr/>
        </p:nvSpPr>
        <p:spPr>
          <a:xfrm xmlns:a="http://schemas.openxmlformats.org/drawingml/2006/main">
            <a:off x="1085850" y="1581150"/>
            <a:ext cx="10020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00" b="1">
                <a:solidFill>
                  <a:srgbClr val="17385D"/>
                </a:solidFill>
                <a:latin typeface="Noto Sans"/>
                <a:ea typeface="Noto Sans"/>
                <a:cs typeface="Noto Sans"/>
              </a:defRPr>
            </a:pPr>
            <a:r>
              <a:rPr sz="1500" b="1">
                <a:solidFill>
                  <a:srgbClr val="17385D"/>
                </a:solidFill>
                <a:latin typeface="Noto Sans"/>
                <a:ea typeface="Noto Sans"/>
                <a:cs typeface="Noto Sans"/>
              </a:rPr>
              <a:t>次に見るべき論点：利用率低下のボトルネックはどこか</a:t>
            </a:r>
          </a:p>
        </p:txBody>
      </p:sp>
      <p:sp>
        <p:nvSpPr>
          <p:cNvPr id="5" name="">
            <a:extLst xmlns:a="http://schemas.openxmlformats.org/drawingml/2006/main">
              <a:ext uri="{FF2B5EF4-FFF2-40B4-BE49-F238E27FC236}">
                <a16:creationId xmlns:a16="http://schemas.microsoft.com/office/drawing/2014/main" id="{6D52D09D-B5A8-47F6-8C9C-CD5BE6BCF751}"/>
              </a:ext>
            </a:extLst>
          </p:cNvPr>
          <p:cNvSpPr>
            <a:spLocks xmlns:a="http://schemas.openxmlformats.org/drawingml/2006/main" noGrp="1"/>
          </p:cNvSpPr>
          <p:nvPr/>
        </p:nvSpPr>
        <p:spPr>
          <a:xfrm xmlns:a="http://schemas.openxmlformats.org/drawingml/2006/main">
            <a:off x="819150" y="2247900"/>
            <a:ext cx="4953000" cy="2990850"/>
          </a:xfrm>
          <a:prstGeom xmlns:a="http://schemas.openxmlformats.org/drawingml/2006/main" prst="roundRect">
            <a:avLst>
              <a:gd name="adj" fmla="val 2548"/>
            </a:avLst>
          </a:prstGeom>
          <a:solidFill xmlns:a="http://schemas.openxmlformats.org/drawingml/2006/main">
            <a:srgbClr val="F8FAFC"/>
          </a:solidFill>
          <a:ln xmlns:a="http://schemas.openxmlformats.org/drawingml/2006/main" w="9525">
            <a:solidFill>
              <a:srgbClr val="D7DEE8"/>
            </a:solidFill>
            <a:prstDash val="solid"/>
          </a:ln>
        </p:spPr>
      </p:sp>
      <p:sp>
        <p:nvSpPr>
          <p:cNvPr id="6" name="">
            <a:extLst xmlns:a="http://schemas.openxmlformats.org/drawingml/2006/main">
              <a:ext uri="{FF2B5EF4-FFF2-40B4-BE49-F238E27FC236}">
                <a16:creationId xmlns:a16="http://schemas.microsoft.com/office/drawing/2014/main" id="{D1AF1376-1985-44B3-B157-146B166ED680}"/>
              </a:ext>
            </a:extLst>
          </p:cNvPr>
          <p:cNvSpPr>
            <a:spLocks xmlns:a="http://schemas.openxmlformats.org/drawingml/2006/main" noGrp="1"/>
          </p:cNvSpPr>
          <p:nvPr/>
        </p:nvSpPr>
        <p:spPr>
          <a:xfrm xmlns:a="http://schemas.openxmlformats.org/drawingml/2006/main">
            <a:off x="1047750" y="2476500"/>
            <a:ext cx="3143250" cy="323850"/>
          </a:xfrm>
          <a:prstGeom xmlns:a="http://schemas.openxmlformats.org/drawingml/2006/main" prst="roundRect">
            <a:avLst>
              <a:gd name="adj" fmla="val 50000"/>
            </a:avLst>
          </a:prstGeom>
          <a:solidFill xmlns:a="http://schemas.openxmlformats.org/drawingml/2006/main">
            <a:srgbClr val="17385D"/>
          </a:solidFill>
          <a:ln xmlns:a="http://schemas.openxmlformats.org/drawingml/2006/main" w="9525">
            <a:solidFill>
              <a:srgbClr val="17385D"/>
            </a:solidFill>
            <a:prstDash val="solid"/>
          </a:ln>
        </p:spPr>
      </p:sp>
      <p:sp>
        <p:nvSpPr>
          <p:cNvPr id="7" name="">
            <a:extLst xmlns:a="http://schemas.openxmlformats.org/drawingml/2006/main">
              <a:ext uri="{FF2B5EF4-FFF2-40B4-BE49-F238E27FC236}">
                <a16:creationId xmlns:a16="http://schemas.microsoft.com/office/drawing/2014/main" id="{A8B980FB-2111-451A-A250-07C6C56ECB53}"/>
              </a:ext>
            </a:extLst>
          </p:cNvPr>
          <p:cNvSpPr>
            <a:spLocks xmlns:a="http://schemas.openxmlformats.org/drawingml/2006/main" noGrp="1"/>
          </p:cNvSpPr>
          <p:nvPr/>
        </p:nvSpPr>
        <p:spPr>
          <a:xfrm xmlns:a="http://schemas.openxmlformats.org/drawingml/2006/main">
            <a:off x="1181100" y="2533650"/>
            <a:ext cx="2876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125" b="1">
                <a:solidFill>
                  <a:srgbClr val="FFFFFF"/>
                </a:solidFill>
                <a:latin typeface="Noto Sans"/>
                <a:ea typeface="Noto Sans"/>
                <a:cs typeface="Noto Sans"/>
              </a:defRPr>
            </a:pPr>
            <a:r>
              <a:rPr sz="1125" b="1">
                <a:solidFill>
                  <a:srgbClr val="FFFFFF"/>
                </a:solidFill>
                <a:latin typeface="Noto Sans"/>
                <a:ea typeface="Noto Sans"/>
                <a:cs typeface="Noto Sans"/>
              </a:rPr>
              <a:t>3F: ショート利用の減少が目立つ</a:t>
            </a:r>
          </a:p>
        </p:txBody>
      </p:sp>
      <p:sp>
        <p:nvSpPr>
          <p:cNvPr id="8" name="">
            <a:extLst xmlns:a="http://schemas.openxmlformats.org/drawingml/2006/main">
              <a:ext uri="{FF2B5EF4-FFF2-40B4-BE49-F238E27FC236}">
                <a16:creationId xmlns:a16="http://schemas.microsoft.com/office/drawing/2014/main" id="{1868D610-79F0-4BA7-9D77-F5C704FBAFCB}"/>
              </a:ext>
            </a:extLst>
          </p:cNvPr>
          <p:cNvSpPr>
            <a:spLocks xmlns:a="http://schemas.openxmlformats.org/drawingml/2006/main" noGrp="1"/>
          </p:cNvSpPr>
          <p:nvPr/>
        </p:nvSpPr>
        <p:spPr>
          <a:xfrm xmlns:a="http://schemas.openxmlformats.org/drawingml/2006/main">
            <a:off x="1123950" y="3009900"/>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475569"/>
                </a:solidFill>
                <a:latin typeface="Noto Sans"/>
                <a:ea typeface="Noto Sans"/>
                <a:cs typeface="Noto Sans"/>
              </a:defRPr>
            </a:pPr>
            <a:r>
              <a:rPr sz="1125" b="1">
                <a:solidFill>
                  <a:srgbClr val="475569"/>
                </a:solidFill>
                <a:latin typeface="Noto Sans"/>
                <a:ea typeface="Noto Sans"/>
                <a:cs typeface="Noto Sans"/>
              </a:rPr>
              <a:t>満床日割合</a:t>
            </a:r>
          </a:p>
        </p:txBody>
      </p:sp>
      <p:sp>
        <p:nvSpPr>
          <p:cNvPr id="9" name="">
            <a:extLst xmlns:a="http://schemas.openxmlformats.org/drawingml/2006/main">
              <a:ext uri="{FF2B5EF4-FFF2-40B4-BE49-F238E27FC236}">
                <a16:creationId xmlns:a16="http://schemas.microsoft.com/office/drawing/2014/main" id="{0502B4FE-CAF5-4535-8296-B9BA2B38BAFC}"/>
              </a:ext>
            </a:extLst>
          </p:cNvPr>
          <p:cNvSpPr>
            <a:spLocks xmlns:a="http://schemas.openxmlformats.org/drawingml/2006/main" noGrp="1"/>
          </p:cNvSpPr>
          <p:nvPr/>
        </p:nvSpPr>
        <p:spPr>
          <a:xfrm xmlns:a="http://schemas.openxmlformats.org/drawingml/2006/main">
            <a:off x="2324100" y="3000375"/>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1">
                <a:solidFill>
                  <a:srgbClr val="17385D"/>
                </a:solidFill>
                <a:latin typeface="Noto Sans"/>
                <a:ea typeface="Noto Sans"/>
                <a:cs typeface="Noto Sans"/>
              </a:defRPr>
            </a:pPr>
            <a:r>
              <a:rPr sz="1425" b="1">
                <a:solidFill>
                  <a:srgbClr val="17385D"/>
                </a:solidFill>
                <a:latin typeface="Noto Sans"/>
                <a:ea typeface="Noto Sans"/>
                <a:cs typeface="Noto Sans"/>
              </a:rPr>
              <a:t>80.3% → 13.1%</a:t>
            </a:r>
          </a:p>
        </p:txBody>
      </p:sp>
      <p:sp>
        <p:nvSpPr>
          <p:cNvPr id="10" name="">
            <a:extLst xmlns:a="http://schemas.openxmlformats.org/drawingml/2006/main">
              <a:ext uri="{FF2B5EF4-FFF2-40B4-BE49-F238E27FC236}">
                <a16:creationId xmlns:a16="http://schemas.microsoft.com/office/drawing/2014/main" id="{8525C404-1432-4721-96D1-2B471A4450DE}"/>
              </a:ext>
            </a:extLst>
          </p:cNvPr>
          <p:cNvSpPr>
            <a:spLocks xmlns:a="http://schemas.openxmlformats.org/drawingml/2006/main" noGrp="1"/>
          </p:cNvSpPr>
          <p:nvPr/>
        </p:nvSpPr>
        <p:spPr>
          <a:xfrm xmlns:a="http://schemas.openxmlformats.org/drawingml/2006/main">
            <a:off x="4457700" y="3019425"/>
            <a:ext cx="895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0">
                <a:solidFill>
                  <a:srgbClr val="334155"/>
                </a:solidFill>
                <a:latin typeface="Noto Sans"/>
                <a:ea typeface="Noto Sans"/>
                <a:cs typeface="Noto Sans"/>
              </a:defRPr>
            </a:pPr>
            <a:r>
              <a:rPr sz="1125" b="0">
                <a:solidFill>
                  <a:srgbClr val="334155"/>
                </a:solidFill>
                <a:latin typeface="Noto Sans"/>
                <a:ea typeface="Noto Sans"/>
                <a:cs typeface="Noto Sans"/>
              </a:rPr>
              <a:t>大幅低下</a:t>
            </a:r>
          </a:p>
        </p:txBody>
      </p:sp>
      <p:sp>
        <p:nvSpPr>
          <p:cNvPr id="11" name="">
            <a:extLst xmlns:a="http://schemas.openxmlformats.org/drawingml/2006/main">
              <a:ext uri="{FF2B5EF4-FFF2-40B4-BE49-F238E27FC236}">
                <a16:creationId xmlns:a16="http://schemas.microsoft.com/office/drawing/2014/main" id="{F21F053A-A013-423F-96FD-603F814A046F}"/>
              </a:ext>
            </a:extLst>
          </p:cNvPr>
          <p:cNvSpPr>
            <a:spLocks xmlns:a="http://schemas.openxmlformats.org/drawingml/2006/main" noGrp="1"/>
          </p:cNvSpPr>
          <p:nvPr/>
        </p:nvSpPr>
        <p:spPr>
          <a:xfrm xmlns:a="http://schemas.openxmlformats.org/drawingml/2006/main">
            <a:off x="1123950" y="3362325"/>
            <a:ext cx="4229100" cy="9525"/>
          </a:xfrm>
          <a:prstGeom xmlns:a="http://schemas.openxmlformats.org/drawingml/2006/main" prst="rect">
            <a:avLst/>
          </a:prstGeom>
          <a:solidFill xmlns:a="http://schemas.openxmlformats.org/drawingml/2006/main">
            <a:srgbClr val="E5EAF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1E755CC-00BD-4AB7-915B-0048218FCF0B}"/>
              </a:ext>
            </a:extLst>
          </p:cNvPr>
          <p:cNvSpPr>
            <a:spLocks xmlns:a="http://schemas.openxmlformats.org/drawingml/2006/main" noGrp="1"/>
          </p:cNvSpPr>
          <p:nvPr/>
        </p:nvSpPr>
        <p:spPr>
          <a:xfrm xmlns:a="http://schemas.openxmlformats.org/drawingml/2006/main">
            <a:off x="1123950" y="3486150"/>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475569"/>
                </a:solidFill>
                <a:latin typeface="Noto Sans"/>
                <a:ea typeface="Noto Sans"/>
                <a:cs typeface="Noto Sans"/>
              </a:defRPr>
            </a:pPr>
            <a:r>
              <a:rPr sz="1125" b="1">
                <a:solidFill>
                  <a:srgbClr val="475569"/>
                </a:solidFill>
                <a:latin typeface="Noto Sans"/>
                <a:ea typeface="Noto Sans"/>
                <a:cs typeface="Noto Sans"/>
              </a:rPr>
              <a:t>ロングステイ</a:t>
            </a:r>
          </a:p>
        </p:txBody>
      </p:sp>
      <p:sp>
        <p:nvSpPr>
          <p:cNvPr id="13" name="">
            <a:extLst xmlns:a="http://schemas.openxmlformats.org/drawingml/2006/main">
              <a:ext uri="{FF2B5EF4-FFF2-40B4-BE49-F238E27FC236}">
                <a16:creationId xmlns:a16="http://schemas.microsoft.com/office/drawing/2014/main" id="{516837C2-AF9A-4FA2-B26B-15C98C3DE9A7}"/>
              </a:ext>
            </a:extLst>
          </p:cNvPr>
          <p:cNvSpPr>
            <a:spLocks xmlns:a="http://schemas.openxmlformats.org/drawingml/2006/main" noGrp="1"/>
          </p:cNvSpPr>
          <p:nvPr/>
        </p:nvSpPr>
        <p:spPr>
          <a:xfrm xmlns:a="http://schemas.openxmlformats.org/drawingml/2006/main">
            <a:off x="2324100" y="3476625"/>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1">
                <a:solidFill>
                  <a:srgbClr val="17385D"/>
                </a:solidFill>
                <a:latin typeface="Noto Sans"/>
                <a:ea typeface="Noto Sans"/>
                <a:cs typeface="Noto Sans"/>
              </a:defRPr>
            </a:pPr>
            <a:r>
              <a:rPr sz="1425" b="1">
                <a:solidFill>
                  <a:srgbClr val="17385D"/>
                </a:solidFill>
                <a:latin typeface="Noto Sans"/>
                <a:ea typeface="Noto Sans"/>
                <a:cs typeface="Noto Sans"/>
              </a:rPr>
              <a:t>32.1床 → 31.4床</a:t>
            </a:r>
          </a:p>
        </p:txBody>
      </p:sp>
      <p:sp>
        <p:nvSpPr>
          <p:cNvPr id="14" name="">
            <a:extLst xmlns:a="http://schemas.openxmlformats.org/drawingml/2006/main">
              <a:ext uri="{FF2B5EF4-FFF2-40B4-BE49-F238E27FC236}">
                <a16:creationId xmlns:a16="http://schemas.microsoft.com/office/drawing/2014/main" id="{6A350B2B-84C9-4716-8E89-1B7E590D9EF2}"/>
              </a:ext>
            </a:extLst>
          </p:cNvPr>
          <p:cNvSpPr>
            <a:spLocks xmlns:a="http://schemas.openxmlformats.org/drawingml/2006/main" noGrp="1"/>
          </p:cNvSpPr>
          <p:nvPr/>
        </p:nvSpPr>
        <p:spPr>
          <a:xfrm xmlns:a="http://schemas.openxmlformats.org/drawingml/2006/main">
            <a:off x="4457700" y="3495675"/>
            <a:ext cx="895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0">
                <a:solidFill>
                  <a:srgbClr val="334155"/>
                </a:solidFill>
                <a:latin typeface="Noto Sans"/>
                <a:ea typeface="Noto Sans"/>
                <a:cs typeface="Noto Sans"/>
              </a:defRPr>
            </a:pPr>
            <a:r>
              <a:rPr sz="1125" b="0">
                <a:solidFill>
                  <a:srgbClr val="334155"/>
                </a:solidFill>
                <a:latin typeface="Noto Sans"/>
                <a:ea typeface="Noto Sans"/>
                <a:cs typeface="Noto Sans"/>
              </a:rPr>
              <a:t>小幅減少</a:t>
            </a:r>
          </a:p>
        </p:txBody>
      </p:sp>
      <p:sp>
        <p:nvSpPr>
          <p:cNvPr id="15" name="">
            <a:extLst xmlns:a="http://schemas.openxmlformats.org/drawingml/2006/main">
              <a:ext uri="{FF2B5EF4-FFF2-40B4-BE49-F238E27FC236}">
                <a16:creationId xmlns:a16="http://schemas.microsoft.com/office/drawing/2014/main" id="{6356585D-9827-4F46-8BA9-E9066F1A86D5}"/>
              </a:ext>
            </a:extLst>
          </p:cNvPr>
          <p:cNvSpPr>
            <a:spLocks xmlns:a="http://schemas.openxmlformats.org/drawingml/2006/main" noGrp="1"/>
          </p:cNvSpPr>
          <p:nvPr/>
        </p:nvSpPr>
        <p:spPr>
          <a:xfrm xmlns:a="http://schemas.openxmlformats.org/drawingml/2006/main">
            <a:off x="1123950" y="3838575"/>
            <a:ext cx="4229100" cy="9525"/>
          </a:xfrm>
          <a:prstGeom xmlns:a="http://schemas.openxmlformats.org/drawingml/2006/main" prst="rect">
            <a:avLst/>
          </a:prstGeom>
          <a:solidFill xmlns:a="http://schemas.openxmlformats.org/drawingml/2006/main">
            <a:srgbClr val="E5EAF0"/>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4380C0A-72AE-49D8-BF07-FBF429757254}"/>
              </a:ext>
            </a:extLst>
          </p:cNvPr>
          <p:cNvSpPr>
            <a:spLocks xmlns:a="http://schemas.openxmlformats.org/drawingml/2006/main" noGrp="1"/>
          </p:cNvSpPr>
          <p:nvPr/>
        </p:nvSpPr>
        <p:spPr>
          <a:xfrm xmlns:a="http://schemas.openxmlformats.org/drawingml/2006/main">
            <a:off x="1123950" y="3962400"/>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475569"/>
                </a:solidFill>
                <a:latin typeface="Noto Sans"/>
                <a:ea typeface="Noto Sans"/>
                <a:cs typeface="Noto Sans"/>
              </a:defRPr>
            </a:pPr>
            <a:r>
              <a:rPr sz="1125" b="1">
                <a:solidFill>
                  <a:srgbClr val="475569"/>
                </a:solidFill>
                <a:latin typeface="Noto Sans"/>
                <a:ea typeface="Noto Sans"/>
                <a:cs typeface="Noto Sans"/>
              </a:rPr>
              <a:t>ショート件数</a:t>
            </a:r>
          </a:p>
        </p:txBody>
      </p:sp>
      <p:sp>
        <p:nvSpPr>
          <p:cNvPr id="17" name="">
            <a:extLst xmlns:a="http://schemas.openxmlformats.org/drawingml/2006/main">
              <a:ext uri="{FF2B5EF4-FFF2-40B4-BE49-F238E27FC236}">
                <a16:creationId xmlns:a16="http://schemas.microsoft.com/office/drawing/2014/main" id="{73105F62-F418-4EE8-8323-D79C377F8605}"/>
              </a:ext>
            </a:extLst>
          </p:cNvPr>
          <p:cNvSpPr>
            <a:spLocks xmlns:a="http://schemas.openxmlformats.org/drawingml/2006/main" noGrp="1"/>
          </p:cNvSpPr>
          <p:nvPr/>
        </p:nvSpPr>
        <p:spPr>
          <a:xfrm xmlns:a="http://schemas.openxmlformats.org/drawingml/2006/main">
            <a:off x="2324100" y="3952875"/>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1">
                <a:solidFill>
                  <a:srgbClr val="17385D"/>
                </a:solidFill>
                <a:latin typeface="Noto Sans"/>
                <a:ea typeface="Noto Sans"/>
                <a:cs typeface="Noto Sans"/>
              </a:defRPr>
            </a:pPr>
            <a:r>
              <a:rPr sz="1425" b="1">
                <a:solidFill>
                  <a:srgbClr val="17385D"/>
                </a:solidFill>
                <a:latin typeface="Noto Sans"/>
                <a:ea typeface="Noto Sans"/>
                <a:cs typeface="Noto Sans"/>
              </a:rPr>
              <a:t>37件 → 22件</a:t>
            </a:r>
          </a:p>
        </p:txBody>
      </p:sp>
      <p:sp>
        <p:nvSpPr>
          <p:cNvPr id="18" name="">
            <a:extLst xmlns:a="http://schemas.openxmlformats.org/drawingml/2006/main">
              <a:ext uri="{FF2B5EF4-FFF2-40B4-BE49-F238E27FC236}">
                <a16:creationId xmlns:a16="http://schemas.microsoft.com/office/drawing/2014/main" id="{866570E4-3FF6-4640-979F-1895862CDFA6}"/>
              </a:ext>
            </a:extLst>
          </p:cNvPr>
          <p:cNvSpPr>
            <a:spLocks xmlns:a="http://schemas.openxmlformats.org/drawingml/2006/main" noGrp="1"/>
          </p:cNvSpPr>
          <p:nvPr/>
        </p:nvSpPr>
        <p:spPr>
          <a:xfrm xmlns:a="http://schemas.openxmlformats.org/drawingml/2006/main">
            <a:off x="4457700" y="3971925"/>
            <a:ext cx="895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0">
                <a:solidFill>
                  <a:srgbClr val="334155"/>
                </a:solidFill>
                <a:latin typeface="Noto Sans"/>
                <a:ea typeface="Noto Sans"/>
                <a:cs typeface="Noto Sans"/>
              </a:defRPr>
            </a:pPr>
            <a:r>
              <a:rPr sz="1125" b="0">
                <a:solidFill>
                  <a:srgbClr val="334155"/>
                </a:solidFill>
                <a:latin typeface="Noto Sans"/>
                <a:ea typeface="Noto Sans"/>
                <a:cs typeface="Noto Sans"/>
              </a:rPr>
              <a:t>大きく減少</a:t>
            </a:r>
          </a:p>
        </p:txBody>
      </p:sp>
      <p:sp>
        <p:nvSpPr>
          <p:cNvPr id="19" name="">
            <a:extLst xmlns:a="http://schemas.openxmlformats.org/drawingml/2006/main">
              <a:ext uri="{FF2B5EF4-FFF2-40B4-BE49-F238E27FC236}">
                <a16:creationId xmlns:a16="http://schemas.microsoft.com/office/drawing/2014/main" id="{E33DA378-FF29-42B5-ABC6-AD64D7B3CE25}"/>
              </a:ext>
            </a:extLst>
          </p:cNvPr>
          <p:cNvSpPr>
            <a:spLocks xmlns:a="http://schemas.openxmlformats.org/drawingml/2006/main" noGrp="1"/>
          </p:cNvSpPr>
          <p:nvPr/>
        </p:nvSpPr>
        <p:spPr>
          <a:xfrm xmlns:a="http://schemas.openxmlformats.org/drawingml/2006/main">
            <a:off x="1123950" y="4314825"/>
            <a:ext cx="4229100" cy="9525"/>
          </a:xfrm>
          <a:prstGeom xmlns:a="http://schemas.openxmlformats.org/drawingml/2006/main" prst="rect">
            <a:avLst/>
          </a:prstGeom>
          <a:solidFill xmlns:a="http://schemas.openxmlformats.org/drawingml/2006/main">
            <a:srgbClr val="E5EAF0"/>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7FB202E-ED7D-4CC5-BBFD-31D4DB6ED2CF}"/>
              </a:ext>
            </a:extLst>
          </p:cNvPr>
          <p:cNvSpPr>
            <a:spLocks xmlns:a="http://schemas.openxmlformats.org/drawingml/2006/main" noGrp="1"/>
          </p:cNvSpPr>
          <p:nvPr/>
        </p:nvSpPr>
        <p:spPr>
          <a:xfrm xmlns:a="http://schemas.openxmlformats.org/drawingml/2006/main">
            <a:off x="1123950" y="4438650"/>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475569"/>
                </a:solidFill>
                <a:latin typeface="Noto Sans"/>
                <a:ea typeface="Noto Sans"/>
                <a:cs typeface="Noto Sans"/>
              </a:defRPr>
            </a:pPr>
            <a:r>
              <a:rPr sz="1125" b="1">
                <a:solidFill>
                  <a:srgbClr val="475569"/>
                </a:solidFill>
                <a:latin typeface="Noto Sans"/>
                <a:ea typeface="Noto Sans"/>
                <a:cs typeface="Noto Sans"/>
              </a:rPr>
              <a:t>平均日数</a:t>
            </a:r>
          </a:p>
        </p:txBody>
      </p:sp>
      <p:sp>
        <p:nvSpPr>
          <p:cNvPr id="21" name="">
            <a:extLst xmlns:a="http://schemas.openxmlformats.org/drawingml/2006/main">
              <a:ext uri="{FF2B5EF4-FFF2-40B4-BE49-F238E27FC236}">
                <a16:creationId xmlns:a16="http://schemas.microsoft.com/office/drawing/2014/main" id="{27ABE2F7-49CA-448E-BE80-F1F87CA8910B}"/>
              </a:ext>
            </a:extLst>
          </p:cNvPr>
          <p:cNvSpPr>
            <a:spLocks xmlns:a="http://schemas.openxmlformats.org/drawingml/2006/main" noGrp="1"/>
          </p:cNvSpPr>
          <p:nvPr/>
        </p:nvSpPr>
        <p:spPr>
          <a:xfrm xmlns:a="http://schemas.openxmlformats.org/drawingml/2006/main">
            <a:off x="2324100" y="4429125"/>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1">
                <a:solidFill>
                  <a:srgbClr val="17385D"/>
                </a:solidFill>
                <a:latin typeface="Noto Sans"/>
                <a:ea typeface="Noto Sans"/>
                <a:cs typeface="Noto Sans"/>
              </a:defRPr>
            </a:pPr>
            <a:r>
              <a:rPr sz="1425" b="1">
                <a:solidFill>
                  <a:srgbClr val="17385D"/>
                </a:solidFill>
                <a:latin typeface="Noto Sans"/>
                <a:ea typeface="Noto Sans"/>
                <a:cs typeface="Noto Sans"/>
              </a:rPr>
              <a:t>6.5日 → 6.4日</a:t>
            </a:r>
          </a:p>
        </p:txBody>
      </p:sp>
      <p:sp>
        <p:nvSpPr>
          <p:cNvPr id="22" name="">
            <a:extLst xmlns:a="http://schemas.openxmlformats.org/drawingml/2006/main">
              <a:ext uri="{FF2B5EF4-FFF2-40B4-BE49-F238E27FC236}">
                <a16:creationId xmlns:a16="http://schemas.microsoft.com/office/drawing/2014/main" id="{545DD69E-3A7E-4AB4-8533-15A8241C0A93}"/>
              </a:ext>
            </a:extLst>
          </p:cNvPr>
          <p:cNvSpPr>
            <a:spLocks xmlns:a="http://schemas.openxmlformats.org/drawingml/2006/main" noGrp="1"/>
          </p:cNvSpPr>
          <p:nvPr/>
        </p:nvSpPr>
        <p:spPr>
          <a:xfrm xmlns:a="http://schemas.openxmlformats.org/drawingml/2006/main">
            <a:off x="4457700" y="4448175"/>
            <a:ext cx="895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0">
                <a:solidFill>
                  <a:srgbClr val="334155"/>
                </a:solidFill>
                <a:latin typeface="Noto Sans"/>
                <a:ea typeface="Noto Sans"/>
                <a:cs typeface="Noto Sans"/>
              </a:defRPr>
            </a:pPr>
            <a:r>
              <a:rPr sz="1125" b="0">
                <a:solidFill>
                  <a:srgbClr val="334155"/>
                </a:solidFill>
                <a:latin typeface="Noto Sans"/>
                <a:ea typeface="Noto Sans"/>
                <a:cs typeface="Noto Sans"/>
              </a:rPr>
              <a:t>ほぼ横ばい</a:t>
            </a:r>
          </a:p>
        </p:txBody>
      </p:sp>
      <p:sp>
        <p:nvSpPr>
          <p:cNvPr id="23" name="">
            <a:extLst xmlns:a="http://schemas.openxmlformats.org/drawingml/2006/main">
              <a:ext uri="{FF2B5EF4-FFF2-40B4-BE49-F238E27FC236}">
                <a16:creationId xmlns:a16="http://schemas.microsoft.com/office/drawing/2014/main" id="{195555F9-6391-4BD9-9E06-85F1308A6E4F}"/>
              </a:ext>
            </a:extLst>
          </p:cNvPr>
          <p:cNvSpPr>
            <a:spLocks xmlns:a="http://schemas.openxmlformats.org/drawingml/2006/main" noGrp="1"/>
          </p:cNvSpPr>
          <p:nvPr/>
        </p:nvSpPr>
        <p:spPr>
          <a:xfrm xmlns:a="http://schemas.openxmlformats.org/drawingml/2006/main">
            <a:off x="1123950" y="4791075"/>
            <a:ext cx="4229100" cy="9525"/>
          </a:xfrm>
          <a:prstGeom xmlns:a="http://schemas.openxmlformats.org/drawingml/2006/main" prst="rect">
            <a:avLst/>
          </a:prstGeom>
          <a:solidFill xmlns:a="http://schemas.openxmlformats.org/drawingml/2006/main">
            <a:srgbClr val="E5EAF0"/>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B654D97C-BB4C-4333-878F-2475A4303665}"/>
              </a:ext>
            </a:extLst>
          </p:cNvPr>
          <p:cNvSpPr>
            <a:spLocks xmlns:a="http://schemas.openxmlformats.org/drawingml/2006/main" noGrp="1"/>
          </p:cNvSpPr>
          <p:nvPr/>
        </p:nvSpPr>
        <p:spPr>
          <a:xfrm xmlns:a="http://schemas.openxmlformats.org/drawingml/2006/main">
            <a:off x="1123950" y="4895850"/>
            <a:ext cx="4229100" cy="400050"/>
          </a:xfrm>
          <a:prstGeom xmlns:a="http://schemas.openxmlformats.org/drawingml/2006/main" prst="roundRect">
            <a:avLst>
              <a:gd name="adj" fmla="val 14286"/>
            </a:avLst>
          </a:prstGeom>
          <a:solidFill xmlns:a="http://schemas.openxmlformats.org/drawingml/2006/main">
            <a:srgbClr val="FFF7ED"/>
          </a:solidFill>
          <a:ln xmlns:a="http://schemas.openxmlformats.org/drawingml/2006/main" w="9525">
            <a:solidFill>
              <a:srgbClr val="FED7AA"/>
            </a:solidFill>
            <a:prstDash val="solid"/>
          </a:ln>
        </p:spPr>
      </p:sp>
      <p:sp>
        <p:nvSpPr>
          <p:cNvPr id="25" name="">
            <a:extLst xmlns:a="http://schemas.openxmlformats.org/drawingml/2006/main">
              <a:ext uri="{FF2B5EF4-FFF2-40B4-BE49-F238E27FC236}">
                <a16:creationId xmlns:a16="http://schemas.microsoft.com/office/drawing/2014/main" id="{E96E73A0-C4F9-46D5-88F0-C03BB2B3B4A1}"/>
              </a:ext>
            </a:extLst>
          </p:cNvPr>
          <p:cNvSpPr>
            <a:spLocks xmlns:a="http://schemas.openxmlformats.org/drawingml/2006/main" noGrp="1"/>
          </p:cNvSpPr>
          <p:nvPr/>
        </p:nvSpPr>
        <p:spPr>
          <a:xfrm xmlns:a="http://schemas.openxmlformats.org/drawingml/2006/main">
            <a:off x="1314450" y="5010150"/>
            <a:ext cx="3848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9A3412"/>
                </a:solidFill>
                <a:latin typeface="Noto Sans"/>
                <a:ea typeface="Noto Sans"/>
                <a:cs typeface="Noto Sans"/>
              </a:defRPr>
            </a:pPr>
            <a:r>
              <a:rPr sz="1275" b="1">
                <a:solidFill>
                  <a:srgbClr val="9A3412"/>
                </a:solidFill>
                <a:latin typeface="Noto Sans"/>
                <a:ea typeface="Noto Sans"/>
                <a:cs typeface="Noto Sans"/>
              </a:rPr>
              <a:t>確認論点: 3Fショート利用者の確保・再利用</a:t>
            </a:r>
          </a:p>
        </p:txBody>
      </p:sp>
      <p:sp>
        <p:nvSpPr>
          <p:cNvPr id="26" name="">
            <a:extLst xmlns:a="http://schemas.openxmlformats.org/drawingml/2006/main">
              <a:ext uri="{FF2B5EF4-FFF2-40B4-BE49-F238E27FC236}">
                <a16:creationId xmlns:a16="http://schemas.microsoft.com/office/drawing/2014/main" id="{EC1AAA09-DE88-4916-B781-996C2A1E3C2E}"/>
              </a:ext>
            </a:extLst>
          </p:cNvPr>
          <p:cNvSpPr>
            <a:spLocks xmlns:a="http://schemas.openxmlformats.org/drawingml/2006/main" noGrp="1"/>
          </p:cNvSpPr>
          <p:nvPr/>
        </p:nvSpPr>
        <p:spPr>
          <a:xfrm xmlns:a="http://schemas.openxmlformats.org/drawingml/2006/main">
            <a:off x="6419850" y="2247900"/>
            <a:ext cx="4953000" cy="2990850"/>
          </a:xfrm>
          <a:prstGeom xmlns:a="http://schemas.openxmlformats.org/drawingml/2006/main" prst="roundRect">
            <a:avLst>
              <a:gd name="adj" fmla="val 2548"/>
            </a:avLst>
          </a:prstGeom>
          <a:solidFill xmlns:a="http://schemas.openxmlformats.org/drawingml/2006/main">
            <a:srgbClr val="F8FAFC"/>
          </a:solidFill>
          <a:ln xmlns:a="http://schemas.openxmlformats.org/drawingml/2006/main" w="9525">
            <a:solidFill>
              <a:srgbClr val="D7DEE8"/>
            </a:solidFill>
            <a:prstDash val="solid"/>
          </a:ln>
        </p:spPr>
      </p:sp>
      <p:sp>
        <p:nvSpPr>
          <p:cNvPr id="27" name="">
            <a:extLst xmlns:a="http://schemas.openxmlformats.org/drawingml/2006/main">
              <a:ext uri="{FF2B5EF4-FFF2-40B4-BE49-F238E27FC236}">
                <a16:creationId xmlns:a16="http://schemas.microsoft.com/office/drawing/2014/main" id="{71DA5AAC-011E-4DFC-9B69-5B8366AA844D}"/>
              </a:ext>
            </a:extLst>
          </p:cNvPr>
          <p:cNvSpPr>
            <a:spLocks xmlns:a="http://schemas.openxmlformats.org/drawingml/2006/main" noGrp="1"/>
          </p:cNvSpPr>
          <p:nvPr/>
        </p:nvSpPr>
        <p:spPr>
          <a:xfrm xmlns:a="http://schemas.openxmlformats.org/drawingml/2006/main">
            <a:off x="6648450" y="2476500"/>
            <a:ext cx="3429000" cy="323850"/>
          </a:xfrm>
          <a:prstGeom xmlns:a="http://schemas.openxmlformats.org/drawingml/2006/main" prst="roundRect">
            <a:avLst>
              <a:gd name="adj" fmla="val 50000"/>
            </a:avLst>
          </a:prstGeom>
          <a:solidFill xmlns:a="http://schemas.openxmlformats.org/drawingml/2006/main">
            <a:srgbClr val="17385D"/>
          </a:solidFill>
          <a:ln xmlns:a="http://schemas.openxmlformats.org/drawingml/2006/main" w="9525">
            <a:solidFill>
              <a:srgbClr val="17385D"/>
            </a:solidFill>
            <a:prstDash val="solid"/>
          </a:ln>
        </p:spPr>
      </p:sp>
      <p:sp>
        <p:nvSpPr>
          <p:cNvPr id="28" name="">
            <a:extLst xmlns:a="http://schemas.openxmlformats.org/drawingml/2006/main">
              <a:ext uri="{FF2B5EF4-FFF2-40B4-BE49-F238E27FC236}">
                <a16:creationId xmlns:a16="http://schemas.microsoft.com/office/drawing/2014/main" id="{A3F18ECE-8E88-482A-A4B8-83CB0CDDBE32}"/>
              </a:ext>
            </a:extLst>
          </p:cNvPr>
          <p:cNvSpPr>
            <a:spLocks xmlns:a="http://schemas.openxmlformats.org/drawingml/2006/main" noGrp="1"/>
          </p:cNvSpPr>
          <p:nvPr/>
        </p:nvSpPr>
        <p:spPr>
          <a:xfrm xmlns:a="http://schemas.openxmlformats.org/drawingml/2006/main">
            <a:off x="6781800" y="2533650"/>
            <a:ext cx="3162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125" b="1">
                <a:solidFill>
                  <a:srgbClr val="FFFFFF"/>
                </a:solidFill>
                <a:latin typeface="Noto Sans"/>
                <a:ea typeface="Noto Sans"/>
                <a:cs typeface="Noto Sans"/>
              </a:defRPr>
            </a:pPr>
            <a:r>
              <a:rPr sz="1125" b="1">
                <a:solidFill>
                  <a:srgbClr val="FFFFFF"/>
                </a:solidFill>
                <a:latin typeface="Noto Sans"/>
                <a:ea typeface="Noto Sans"/>
                <a:cs typeface="Noto Sans"/>
              </a:rPr>
              <a:t>2F・ユニット: 一時的な空床増を確認</a:t>
            </a:r>
          </a:p>
        </p:txBody>
      </p:sp>
      <p:sp>
        <p:nvSpPr>
          <p:cNvPr id="29" name="">
            <a:extLst xmlns:a="http://schemas.openxmlformats.org/drawingml/2006/main">
              <a:ext uri="{FF2B5EF4-FFF2-40B4-BE49-F238E27FC236}">
                <a16:creationId xmlns:a16="http://schemas.microsoft.com/office/drawing/2014/main" id="{A1001F48-D994-4B96-82B8-2CF5F8F6350C}"/>
              </a:ext>
            </a:extLst>
          </p:cNvPr>
          <p:cNvSpPr>
            <a:spLocks xmlns:a="http://schemas.openxmlformats.org/drawingml/2006/main" noGrp="1"/>
          </p:cNvSpPr>
          <p:nvPr/>
        </p:nvSpPr>
        <p:spPr>
          <a:xfrm xmlns:a="http://schemas.openxmlformats.org/drawingml/2006/main">
            <a:off x="6724650" y="3009900"/>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475569"/>
                </a:solidFill>
                <a:latin typeface="Noto Sans"/>
                <a:ea typeface="Noto Sans"/>
                <a:cs typeface="Noto Sans"/>
              </a:defRPr>
            </a:pPr>
            <a:r>
              <a:rPr sz="1125" b="1">
                <a:solidFill>
                  <a:srgbClr val="475569"/>
                </a:solidFill>
                <a:latin typeface="Noto Sans"/>
                <a:ea typeface="Noto Sans"/>
                <a:cs typeface="Noto Sans"/>
              </a:rPr>
              <a:t>平均空床</a:t>
            </a:r>
          </a:p>
        </p:txBody>
      </p:sp>
      <p:sp>
        <p:nvSpPr>
          <p:cNvPr id="30" name="">
            <a:extLst xmlns:a="http://schemas.openxmlformats.org/drawingml/2006/main">
              <a:ext uri="{FF2B5EF4-FFF2-40B4-BE49-F238E27FC236}">
                <a16:creationId xmlns:a16="http://schemas.microsoft.com/office/drawing/2014/main" id="{C853421E-9481-4C88-82C0-21771FF26708}"/>
              </a:ext>
            </a:extLst>
          </p:cNvPr>
          <p:cNvSpPr>
            <a:spLocks xmlns:a="http://schemas.openxmlformats.org/drawingml/2006/main" noGrp="1"/>
          </p:cNvSpPr>
          <p:nvPr/>
        </p:nvSpPr>
        <p:spPr>
          <a:xfrm xmlns:a="http://schemas.openxmlformats.org/drawingml/2006/main">
            <a:off x="7924800" y="3000375"/>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1">
                <a:solidFill>
                  <a:srgbClr val="17385D"/>
                </a:solidFill>
                <a:latin typeface="Noto Sans"/>
                <a:ea typeface="Noto Sans"/>
                <a:cs typeface="Noto Sans"/>
              </a:defRPr>
            </a:pPr>
            <a:r>
              <a:rPr sz="1425" b="1">
                <a:solidFill>
                  <a:srgbClr val="17385D"/>
                </a:solidFill>
                <a:latin typeface="Noto Sans"/>
                <a:ea typeface="Noto Sans"/>
                <a:cs typeface="Noto Sans"/>
              </a:rPr>
              <a:t>1.2床 → 2.5床</a:t>
            </a:r>
          </a:p>
        </p:txBody>
      </p:sp>
      <p:sp>
        <p:nvSpPr>
          <p:cNvPr id="31" name="">
            <a:extLst xmlns:a="http://schemas.openxmlformats.org/drawingml/2006/main">
              <a:ext uri="{FF2B5EF4-FFF2-40B4-BE49-F238E27FC236}">
                <a16:creationId xmlns:a16="http://schemas.microsoft.com/office/drawing/2014/main" id="{405B4C91-F787-4D0B-8D9D-320C2F2A0454}"/>
              </a:ext>
            </a:extLst>
          </p:cNvPr>
          <p:cNvSpPr>
            <a:spLocks xmlns:a="http://schemas.openxmlformats.org/drawingml/2006/main" noGrp="1"/>
          </p:cNvSpPr>
          <p:nvPr/>
        </p:nvSpPr>
        <p:spPr>
          <a:xfrm xmlns:a="http://schemas.openxmlformats.org/drawingml/2006/main">
            <a:off x="10058400" y="3019425"/>
            <a:ext cx="895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0">
                <a:solidFill>
                  <a:srgbClr val="334155"/>
                </a:solidFill>
                <a:latin typeface="Noto Sans"/>
                <a:ea typeface="Noto Sans"/>
                <a:cs typeface="Noto Sans"/>
              </a:defRPr>
            </a:pPr>
            <a:r>
              <a:rPr sz="1125" b="0">
                <a:solidFill>
                  <a:srgbClr val="334155"/>
                </a:solidFill>
                <a:latin typeface="Noto Sans"/>
                <a:ea typeface="Noto Sans"/>
                <a:cs typeface="Noto Sans"/>
              </a:rPr>
              <a:t>11〜12月増</a:t>
            </a:r>
          </a:p>
        </p:txBody>
      </p:sp>
      <p:sp>
        <p:nvSpPr>
          <p:cNvPr id="32" name="">
            <a:extLst xmlns:a="http://schemas.openxmlformats.org/drawingml/2006/main">
              <a:ext uri="{FF2B5EF4-FFF2-40B4-BE49-F238E27FC236}">
                <a16:creationId xmlns:a16="http://schemas.microsoft.com/office/drawing/2014/main" id="{21B201EE-99A1-4DBC-89A4-4D1B6A894AC8}"/>
              </a:ext>
            </a:extLst>
          </p:cNvPr>
          <p:cNvSpPr>
            <a:spLocks xmlns:a="http://schemas.openxmlformats.org/drawingml/2006/main" noGrp="1"/>
          </p:cNvSpPr>
          <p:nvPr/>
        </p:nvSpPr>
        <p:spPr>
          <a:xfrm xmlns:a="http://schemas.openxmlformats.org/drawingml/2006/main">
            <a:off x="6724650" y="3362325"/>
            <a:ext cx="4229100" cy="9525"/>
          </a:xfrm>
          <a:prstGeom xmlns:a="http://schemas.openxmlformats.org/drawingml/2006/main" prst="rect">
            <a:avLst/>
          </a:prstGeom>
          <a:solidFill xmlns:a="http://schemas.openxmlformats.org/drawingml/2006/main">
            <a:srgbClr val="E5EAF0"/>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8B1E7851-ADF8-474A-887F-E24603FD39F8}"/>
              </a:ext>
            </a:extLst>
          </p:cNvPr>
          <p:cNvSpPr>
            <a:spLocks xmlns:a="http://schemas.openxmlformats.org/drawingml/2006/main" noGrp="1"/>
          </p:cNvSpPr>
          <p:nvPr/>
        </p:nvSpPr>
        <p:spPr>
          <a:xfrm xmlns:a="http://schemas.openxmlformats.org/drawingml/2006/main">
            <a:off x="6724650" y="3486150"/>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475569"/>
                </a:solidFill>
                <a:latin typeface="Noto Sans"/>
                <a:ea typeface="Noto Sans"/>
                <a:cs typeface="Noto Sans"/>
              </a:defRPr>
            </a:pPr>
            <a:r>
              <a:rPr sz="1125" b="1">
                <a:solidFill>
                  <a:srgbClr val="475569"/>
                </a:solidFill>
                <a:latin typeface="Noto Sans"/>
                <a:ea typeface="Noto Sans"/>
                <a:cs typeface="Noto Sans"/>
              </a:rPr>
              <a:t>2月以降</a:t>
            </a:r>
          </a:p>
        </p:txBody>
      </p:sp>
      <p:sp>
        <p:nvSpPr>
          <p:cNvPr id="34" name="">
            <a:extLst xmlns:a="http://schemas.openxmlformats.org/drawingml/2006/main">
              <a:ext uri="{FF2B5EF4-FFF2-40B4-BE49-F238E27FC236}">
                <a16:creationId xmlns:a16="http://schemas.microsoft.com/office/drawing/2014/main" id="{EB7F185D-5A90-41F8-A85C-8716A12395FC}"/>
              </a:ext>
            </a:extLst>
          </p:cNvPr>
          <p:cNvSpPr>
            <a:spLocks xmlns:a="http://schemas.openxmlformats.org/drawingml/2006/main" noGrp="1"/>
          </p:cNvSpPr>
          <p:nvPr/>
        </p:nvSpPr>
        <p:spPr>
          <a:xfrm xmlns:a="http://schemas.openxmlformats.org/drawingml/2006/main">
            <a:off x="7924800" y="3476625"/>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1">
                <a:solidFill>
                  <a:srgbClr val="17385D"/>
                </a:solidFill>
                <a:latin typeface="Noto Sans"/>
                <a:ea typeface="Noto Sans"/>
                <a:cs typeface="Noto Sans"/>
              </a:defRPr>
            </a:pPr>
            <a:r>
              <a:rPr sz="1425" b="1">
                <a:solidFill>
                  <a:srgbClr val="17385D"/>
                </a:solidFill>
                <a:latin typeface="Noto Sans"/>
                <a:ea typeface="Noto Sans"/>
                <a:cs typeface="Noto Sans"/>
              </a:rPr>
              <a:t>改善傾向</a:t>
            </a:r>
          </a:p>
        </p:txBody>
      </p:sp>
      <p:sp>
        <p:nvSpPr>
          <p:cNvPr id="35" name="">
            <a:extLst xmlns:a="http://schemas.openxmlformats.org/drawingml/2006/main">
              <a:ext uri="{FF2B5EF4-FFF2-40B4-BE49-F238E27FC236}">
                <a16:creationId xmlns:a16="http://schemas.microsoft.com/office/drawing/2014/main" id="{A82E21A4-605A-4DA5-90F2-350A865823BA}"/>
              </a:ext>
            </a:extLst>
          </p:cNvPr>
          <p:cNvSpPr>
            <a:spLocks xmlns:a="http://schemas.openxmlformats.org/drawingml/2006/main" noGrp="1"/>
          </p:cNvSpPr>
          <p:nvPr/>
        </p:nvSpPr>
        <p:spPr>
          <a:xfrm xmlns:a="http://schemas.openxmlformats.org/drawingml/2006/main">
            <a:off x="10058400" y="3495675"/>
            <a:ext cx="895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0">
                <a:solidFill>
                  <a:srgbClr val="334155"/>
                </a:solidFill>
                <a:latin typeface="Noto Sans"/>
                <a:ea typeface="Noto Sans"/>
                <a:cs typeface="Noto Sans"/>
              </a:defRPr>
            </a:pPr>
            <a:r>
              <a:rPr sz="1125" b="0">
                <a:solidFill>
                  <a:srgbClr val="334155"/>
                </a:solidFill>
                <a:latin typeface="Noto Sans"/>
                <a:ea typeface="Noto Sans"/>
                <a:cs typeface="Noto Sans"/>
              </a:rPr>
              <a:t>回復傾向</a:t>
            </a:r>
          </a:p>
        </p:txBody>
      </p:sp>
      <p:sp>
        <p:nvSpPr>
          <p:cNvPr id="36" name="">
            <a:extLst xmlns:a="http://schemas.openxmlformats.org/drawingml/2006/main">
              <a:ext uri="{FF2B5EF4-FFF2-40B4-BE49-F238E27FC236}">
                <a16:creationId xmlns:a16="http://schemas.microsoft.com/office/drawing/2014/main" id="{78F7D72F-6605-4431-A4A3-ADEAD160E83C}"/>
              </a:ext>
            </a:extLst>
          </p:cNvPr>
          <p:cNvSpPr>
            <a:spLocks xmlns:a="http://schemas.openxmlformats.org/drawingml/2006/main" noGrp="1"/>
          </p:cNvSpPr>
          <p:nvPr/>
        </p:nvSpPr>
        <p:spPr>
          <a:xfrm xmlns:a="http://schemas.openxmlformats.org/drawingml/2006/main">
            <a:off x="6724650" y="3838575"/>
            <a:ext cx="4229100" cy="9525"/>
          </a:xfrm>
          <a:prstGeom xmlns:a="http://schemas.openxmlformats.org/drawingml/2006/main" prst="rect">
            <a:avLst/>
          </a:prstGeom>
          <a:solidFill xmlns:a="http://schemas.openxmlformats.org/drawingml/2006/main">
            <a:srgbClr val="E5EAF0"/>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B9132392-3D76-4013-B284-0065971591FD}"/>
              </a:ext>
            </a:extLst>
          </p:cNvPr>
          <p:cNvSpPr>
            <a:spLocks xmlns:a="http://schemas.openxmlformats.org/drawingml/2006/main" noGrp="1"/>
          </p:cNvSpPr>
          <p:nvPr/>
        </p:nvSpPr>
        <p:spPr>
          <a:xfrm xmlns:a="http://schemas.openxmlformats.org/drawingml/2006/main">
            <a:off x="6724650" y="3962400"/>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475569"/>
                </a:solidFill>
                <a:latin typeface="Noto Sans"/>
                <a:ea typeface="Noto Sans"/>
                <a:cs typeface="Noto Sans"/>
              </a:defRPr>
            </a:pPr>
            <a:r>
              <a:rPr sz="1125" b="1">
                <a:solidFill>
                  <a:srgbClr val="475569"/>
                </a:solidFill>
                <a:latin typeface="Noto Sans"/>
                <a:ea typeface="Noto Sans"/>
                <a:cs typeface="Noto Sans"/>
              </a:rPr>
              <a:t>ユニット</a:t>
            </a:r>
          </a:p>
        </p:txBody>
      </p:sp>
      <p:sp>
        <p:nvSpPr>
          <p:cNvPr id="38" name="">
            <a:extLst xmlns:a="http://schemas.openxmlformats.org/drawingml/2006/main">
              <a:ext uri="{FF2B5EF4-FFF2-40B4-BE49-F238E27FC236}">
                <a16:creationId xmlns:a16="http://schemas.microsoft.com/office/drawing/2014/main" id="{20BC5567-9372-449B-A92D-5FA36FF1B6D6}"/>
              </a:ext>
            </a:extLst>
          </p:cNvPr>
          <p:cNvSpPr>
            <a:spLocks xmlns:a="http://schemas.openxmlformats.org/drawingml/2006/main" noGrp="1"/>
          </p:cNvSpPr>
          <p:nvPr/>
        </p:nvSpPr>
        <p:spPr>
          <a:xfrm xmlns:a="http://schemas.openxmlformats.org/drawingml/2006/main">
            <a:off x="7924800" y="3952875"/>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1">
                <a:solidFill>
                  <a:srgbClr val="17385D"/>
                </a:solidFill>
                <a:latin typeface="Noto Sans"/>
                <a:ea typeface="Noto Sans"/>
                <a:cs typeface="Noto Sans"/>
              </a:defRPr>
            </a:pPr>
            <a:r>
              <a:rPr sz="1425" b="1">
                <a:solidFill>
                  <a:srgbClr val="17385D"/>
                </a:solidFill>
                <a:latin typeface="Noto Sans"/>
                <a:ea typeface="Noto Sans"/>
                <a:cs typeface="Noto Sans"/>
              </a:rPr>
              <a:t>11月一時増</a:t>
            </a:r>
          </a:p>
        </p:txBody>
      </p:sp>
      <p:sp>
        <p:nvSpPr>
          <p:cNvPr id="39" name="">
            <a:extLst xmlns:a="http://schemas.openxmlformats.org/drawingml/2006/main">
              <a:ext uri="{FF2B5EF4-FFF2-40B4-BE49-F238E27FC236}">
                <a16:creationId xmlns:a16="http://schemas.microsoft.com/office/drawing/2014/main" id="{A1AF3B62-9ED5-4B85-8CEB-D0E28EDAF6C8}"/>
              </a:ext>
            </a:extLst>
          </p:cNvPr>
          <p:cNvSpPr>
            <a:spLocks xmlns:a="http://schemas.openxmlformats.org/drawingml/2006/main" noGrp="1"/>
          </p:cNvSpPr>
          <p:nvPr/>
        </p:nvSpPr>
        <p:spPr>
          <a:xfrm xmlns:a="http://schemas.openxmlformats.org/drawingml/2006/main">
            <a:off x="10058400" y="3971925"/>
            <a:ext cx="895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0">
                <a:solidFill>
                  <a:srgbClr val="334155"/>
                </a:solidFill>
                <a:latin typeface="Noto Sans"/>
                <a:ea typeface="Noto Sans"/>
                <a:cs typeface="Noto Sans"/>
              </a:defRPr>
            </a:pPr>
            <a:r>
              <a:rPr sz="1125" b="0">
                <a:solidFill>
                  <a:srgbClr val="334155"/>
                </a:solidFill>
                <a:latin typeface="Noto Sans"/>
                <a:ea typeface="Noto Sans"/>
                <a:cs typeface="Noto Sans"/>
              </a:rPr>
              <a:t>12月回復</a:t>
            </a:r>
          </a:p>
        </p:txBody>
      </p:sp>
      <p:sp>
        <p:nvSpPr>
          <p:cNvPr id="40" name="">
            <a:extLst xmlns:a="http://schemas.openxmlformats.org/drawingml/2006/main">
              <a:ext uri="{FF2B5EF4-FFF2-40B4-BE49-F238E27FC236}">
                <a16:creationId xmlns:a16="http://schemas.microsoft.com/office/drawing/2014/main" id="{3EEE3144-EA2E-4825-BA6D-BAD29733A8EE}"/>
              </a:ext>
            </a:extLst>
          </p:cNvPr>
          <p:cNvSpPr>
            <a:spLocks xmlns:a="http://schemas.openxmlformats.org/drawingml/2006/main" noGrp="1"/>
          </p:cNvSpPr>
          <p:nvPr/>
        </p:nvSpPr>
        <p:spPr>
          <a:xfrm xmlns:a="http://schemas.openxmlformats.org/drawingml/2006/main">
            <a:off x="6724650" y="4314825"/>
            <a:ext cx="4229100" cy="9525"/>
          </a:xfrm>
          <a:prstGeom xmlns:a="http://schemas.openxmlformats.org/drawingml/2006/main" prst="rect">
            <a:avLst/>
          </a:prstGeom>
          <a:solidFill xmlns:a="http://schemas.openxmlformats.org/drawingml/2006/main">
            <a:srgbClr val="E5EAF0"/>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850117C6-39A3-419B-8B29-4BCBAC7DE9F2}"/>
              </a:ext>
            </a:extLst>
          </p:cNvPr>
          <p:cNvSpPr>
            <a:spLocks xmlns:a="http://schemas.openxmlformats.org/drawingml/2006/main" noGrp="1"/>
          </p:cNvSpPr>
          <p:nvPr/>
        </p:nvSpPr>
        <p:spPr>
          <a:xfrm xmlns:a="http://schemas.openxmlformats.org/drawingml/2006/main">
            <a:off x="6724650" y="4438650"/>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475569"/>
                </a:solidFill>
                <a:latin typeface="Noto Sans"/>
                <a:ea typeface="Noto Sans"/>
                <a:cs typeface="Noto Sans"/>
              </a:defRPr>
            </a:pPr>
            <a:r>
              <a:rPr sz="1125" b="1">
                <a:solidFill>
                  <a:srgbClr val="475569"/>
                </a:solidFill>
                <a:latin typeface="Noto Sans"/>
                <a:ea typeface="Noto Sans"/>
                <a:cs typeface="Noto Sans"/>
              </a:rPr>
              <a:t>確認論点</a:t>
            </a:r>
          </a:p>
        </p:txBody>
      </p:sp>
      <p:sp>
        <p:nvSpPr>
          <p:cNvPr id="42" name="">
            <a:extLst xmlns:a="http://schemas.openxmlformats.org/drawingml/2006/main">
              <a:ext uri="{FF2B5EF4-FFF2-40B4-BE49-F238E27FC236}">
                <a16:creationId xmlns:a16="http://schemas.microsoft.com/office/drawing/2014/main" id="{09B396B5-ACF3-4504-AE60-75BBC70B2156}"/>
              </a:ext>
            </a:extLst>
          </p:cNvPr>
          <p:cNvSpPr>
            <a:spLocks xmlns:a="http://schemas.openxmlformats.org/drawingml/2006/main" noGrp="1"/>
          </p:cNvSpPr>
          <p:nvPr/>
        </p:nvSpPr>
        <p:spPr>
          <a:xfrm xmlns:a="http://schemas.openxmlformats.org/drawingml/2006/main">
            <a:off x="7924800" y="4429125"/>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1">
                <a:solidFill>
                  <a:srgbClr val="17385D"/>
                </a:solidFill>
                <a:latin typeface="Noto Sans"/>
                <a:ea typeface="Noto Sans"/>
                <a:cs typeface="Noto Sans"/>
              </a:defRPr>
            </a:pPr>
            <a:r>
              <a:rPr sz="1425" b="1">
                <a:solidFill>
                  <a:srgbClr val="17385D"/>
                </a:solidFill>
                <a:latin typeface="Noto Sans"/>
                <a:ea typeface="Noto Sans"/>
                <a:cs typeface="Noto Sans"/>
              </a:rPr>
              <a:t>見える化・標準化</a:t>
            </a:r>
          </a:p>
        </p:txBody>
      </p:sp>
      <p:sp>
        <p:nvSpPr>
          <p:cNvPr id="43" name="">
            <a:extLst xmlns:a="http://schemas.openxmlformats.org/drawingml/2006/main">
              <a:ext uri="{FF2B5EF4-FFF2-40B4-BE49-F238E27FC236}">
                <a16:creationId xmlns:a16="http://schemas.microsoft.com/office/drawing/2014/main" id="{548FBA48-BE41-4CDF-91C3-9109794CC7B9}"/>
              </a:ext>
            </a:extLst>
          </p:cNvPr>
          <p:cNvSpPr>
            <a:spLocks xmlns:a="http://schemas.openxmlformats.org/drawingml/2006/main" noGrp="1"/>
          </p:cNvSpPr>
          <p:nvPr/>
        </p:nvSpPr>
        <p:spPr>
          <a:xfrm xmlns:a="http://schemas.openxmlformats.org/drawingml/2006/main">
            <a:off x="10058400" y="4448175"/>
            <a:ext cx="895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0">
                <a:solidFill>
                  <a:srgbClr val="334155"/>
                </a:solidFill>
                <a:latin typeface="Noto Sans"/>
                <a:ea typeface="Noto Sans"/>
                <a:cs typeface="Noto Sans"/>
              </a:defRPr>
            </a:pPr>
            <a:r>
              <a:rPr sz="1125" b="0">
                <a:solidFill>
                  <a:srgbClr val="334155"/>
                </a:solidFill>
                <a:latin typeface="Noto Sans"/>
                <a:ea typeface="Noto Sans"/>
                <a:cs typeface="Noto Sans"/>
              </a:rPr>
              <a:t>見える化</a:t>
            </a:r>
          </a:p>
        </p:txBody>
      </p:sp>
      <p:sp>
        <p:nvSpPr>
          <p:cNvPr id="44" name="">
            <a:extLst xmlns:a="http://schemas.openxmlformats.org/drawingml/2006/main">
              <a:ext uri="{FF2B5EF4-FFF2-40B4-BE49-F238E27FC236}">
                <a16:creationId xmlns:a16="http://schemas.microsoft.com/office/drawing/2014/main" id="{A0A0AE55-0024-472A-96A5-9551741B1BDD}"/>
              </a:ext>
            </a:extLst>
          </p:cNvPr>
          <p:cNvSpPr>
            <a:spLocks xmlns:a="http://schemas.openxmlformats.org/drawingml/2006/main" noGrp="1"/>
          </p:cNvSpPr>
          <p:nvPr/>
        </p:nvSpPr>
        <p:spPr>
          <a:xfrm xmlns:a="http://schemas.openxmlformats.org/drawingml/2006/main">
            <a:off x="6724650" y="4791075"/>
            <a:ext cx="4229100" cy="9525"/>
          </a:xfrm>
          <a:prstGeom xmlns:a="http://schemas.openxmlformats.org/drawingml/2006/main" prst="rect">
            <a:avLst/>
          </a:prstGeom>
          <a:solidFill xmlns:a="http://schemas.openxmlformats.org/drawingml/2006/main">
            <a:srgbClr val="E5EAF0"/>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83F0661B-8A58-48AC-B75F-FDADA8FFA5DD}"/>
              </a:ext>
            </a:extLst>
          </p:cNvPr>
          <p:cNvSpPr>
            <a:spLocks xmlns:a="http://schemas.openxmlformats.org/drawingml/2006/main" noGrp="1"/>
          </p:cNvSpPr>
          <p:nvPr/>
        </p:nvSpPr>
        <p:spPr>
          <a:xfrm xmlns:a="http://schemas.openxmlformats.org/drawingml/2006/main">
            <a:off x="6724650" y="4895850"/>
            <a:ext cx="4229100" cy="400050"/>
          </a:xfrm>
          <a:prstGeom xmlns:a="http://schemas.openxmlformats.org/drawingml/2006/main" prst="roundRect">
            <a:avLst>
              <a:gd name="adj" fmla="val 14286"/>
            </a:avLst>
          </a:prstGeom>
          <a:solidFill xmlns:a="http://schemas.openxmlformats.org/drawingml/2006/main">
            <a:srgbClr val="EFF6FF"/>
          </a:solidFill>
          <a:ln xmlns:a="http://schemas.openxmlformats.org/drawingml/2006/main" w="9525">
            <a:solidFill>
              <a:srgbClr val="BFDBFE"/>
            </a:solidFill>
            <a:prstDash val="solid"/>
          </a:ln>
        </p:spPr>
      </p:sp>
      <p:sp>
        <p:nvSpPr>
          <p:cNvPr id="46" name="">
            <a:extLst xmlns:a="http://schemas.openxmlformats.org/drawingml/2006/main">
              <a:ext uri="{FF2B5EF4-FFF2-40B4-BE49-F238E27FC236}">
                <a16:creationId xmlns:a16="http://schemas.microsoft.com/office/drawing/2014/main" id="{32862F55-40BA-46B6-8EAE-EC2DF1035D6A}"/>
              </a:ext>
            </a:extLst>
          </p:cNvPr>
          <p:cNvSpPr>
            <a:spLocks xmlns:a="http://schemas.openxmlformats.org/drawingml/2006/main" noGrp="1"/>
          </p:cNvSpPr>
          <p:nvPr/>
        </p:nvSpPr>
        <p:spPr>
          <a:xfrm xmlns:a="http://schemas.openxmlformats.org/drawingml/2006/main">
            <a:off x="6915150" y="5010150"/>
            <a:ext cx="3848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1D4ED8"/>
                </a:solidFill>
                <a:latin typeface="Noto Sans"/>
                <a:ea typeface="Noto Sans"/>
                <a:cs typeface="Noto Sans"/>
              </a:defRPr>
            </a:pPr>
            <a:r>
              <a:rPr sz="1275" b="1">
                <a:solidFill>
                  <a:srgbClr val="1D4ED8"/>
                </a:solidFill>
                <a:latin typeface="Noto Sans"/>
                <a:ea typeface="Noto Sans"/>
                <a:cs typeface="Noto Sans"/>
              </a:rPr>
              <a:t>確認論点: 調整業務・候補者管理の見える化</a:t>
            </a:r>
          </a:p>
        </p:txBody>
      </p:sp>
      <p:sp>
        <p:nvSpPr>
          <p:cNvPr id="47" name="">
            <a:extLst xmlns:a="http://schemas.openxmlformats.org/drawingml/2006/main">
              <a:ext uri="{FF2B5EF4-FFF2-40B4-BE49-F238E27FC236}">
                <a16:creationId xmlns:a16="http://schemas.microsoft.com/office/drawing/2014/main" id="{3D6EAE84-E40F-4F6E-889D-6200C355E0D9}"/>
              </a:ext>
            </a:extLst>
          </p:cNvPr>
          <p:cNvSpPr>
            <a:spLocks xmlns:a="http://schemas.openxmlformats.org/drawingml/2006/main" noGrp="1"/>
          </p:cNvSpPr>
          <p:nvPr/>
        </p:nvSpPr>
        <p:spPr>
          <a:xfrm xmlns:a="http://schemas.openxmlformats.org/drawingml/2006/main">
            <a:off x="819150" y="6400800"/>
            <a:ext cx="7315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64748B"/>
                </a:solidFill>
                <a:latin typeface="Noto Sans"/>
                <a:ea typeface="Noto Sans"/>
                <a:cs typeface="Noto Sans"/>
              </a:defRPr>
            </a:pPr>
            <a:r>
              <a:rPr sz="900" b="0">
                <a:solidFill>
                  <a:srgbClr val="64748B"/>
                </a:solidFill>
                <a:latin typeface="Noto Sans"/>
                <a:ea typeface="Noto Sans"/>
                <a:cs typeface="Noto Sans"/>
              </a:rPr>
              <a:t>アルボース ｜ 利用率低下分析の報告</a:t>
            </a:r>
          </a:p>
        </p:txBody>
      </p:sp>
      <p:sp>
        <p:nvSpPr>
          <p:cNvPr id="48" name="">
            <a:extLst xmlns:a="http://schemas.openxmlformats.org/drawingml/2006/main">
              <a:ext uri="{FF2B5EF4-FFF2-40B4-BE49-F238E27FC236}">
                <a16:creationId xmlns:a16="http://schemas.microsoft.com/office/drawing/2014/main" id="{24B2FC84-7409-43F9-9737-15503BAAA6C3}"/>
              </a:ext>
            </a:extLst>
          </p:cNvPr>
          <p:cNvSpPr>
            <a:spLocks xmlns:a="http://schemas.openxmlformats.org/drawingml/2006/main" noGrp="1"/>
          </p:cNvSpPr>
          <p:nvPr/>
        </p:nvSpPr>
        <p:spPr>
          <a:xfrm xmlns:a="http://schemas.openxmlformats.org/drawingml/2006/main">
            <a:off x="10782300" y="6400800"/>
            <a:ext cx="552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0">
                <a:solidFill>
                  <a:srgbClr val="64748B"/>
                </a:solidFill>
                <a:latin typeface="Noto Sans"/>
                <a:ea typeface="Noto Sans"/>
                <a:cs typeface="Noto Sans"/>
              </a:defRPr>
            </a:pPr>
            <a:r>
              <a:rPr sz="900" b="0">
                <a:solidFill>
                  <a:srgbClr val="64748B"/>
                </a:solidFill>
                <a:latin typeface="Noto Sans"/>
                <a:ea typeface="Noto Sans"/>
                <a:cs typeface="Noto Sans"/>
              </a:rPr>
              <a:t>4</a:t>
            </a:r>
          </a:p>
        </p:txBody>
      </p:sp>
    </p:spTree>
    <p:extLst>
      <p:ext uri="{BB962C8B-B14F-4D97-AF65-F5344CB8AC3E}">
        <p14:creationId xmlns:p14="http://schemas.microsoft.com/office/powerpoint/2010/main" val="144587050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3" name="Google Shape;67;p15"/>
          <p:cNvPicPr>
            <a:picLocks xmlns:a="http://schemas.openxmlformats.org/drawingml/2006/main" noChangeAspect="1"/>
          </p:cNvPicPr>
          <p:nvPr/>
        </p:nvPicPr>
        <p:blipFill rotWithShape="1">
          <a:blip xmlns:r="http://schemas.openxmlformats.org/officeDocument/2006/relationships" xmlns:a="http://schemas.openxmlformats.org/drawingml/2006/main" r:embed="R418e501a0b7c4f41">
            <a:alphaModFix/>
          </a:blip>
          <a:srcRect xmlns:a="http://schemas.openxmlformats.org/drawingml/2006/main" l="0" t="0" r="0" b="0"/>
          <a:stretch xmlns:a="http://schemas.openxmlformats.org/drawingml/2006/main"/>
        </p:blipFill>
        <p:spPr>
          <a:xfrm xmlns:a="http://schemas.openxmlformats.org/drawingml/2006/main">
            <a:off x="970362" y="714330"/>
            <a:ext cx="272124" cy="272124"/>
          </a:xfrm>
          <a:prstGeom xmlns:a="http://schemas.openxmlformats.org/drawingml/2006/main" prst="rect">
            <a:avLst/>
          </a:prstGeom>
          <a:ln xmlns:a="http://schemas.openxmlformats.org/drawingml/2006/main">
            <a:noFill/>
          </a:ln>
        </p:spPr>
      </p:pic>
      <p:pic>
        <p:nvPicPr>
          <p:cNvPr id="174" name="Google Shape;74;p15"/>
          <p:cNvPicPr>
            <a:picLocks xmlns:a="http://schemas.openxmlformats.org/drawingml/2006/main" noChangeAspect="1"/>
          </p:cNvPicPr>
          <p:nvPr/>
        </p:nvPicPr>
        <p:blipFill rotWithShape="1">
          <a:blip xmlns:r="http://schemas.openxmlformats.org/officeDocument/2006/relationships" xmlns:a="http://schemas.openxmlformats.org/drawingml/2006/main" r:embed="R418e501a0b7c4f41">
            <a:alphaModFix/>
          </a:blip>
          <a:srcRect xmlns:a="http://schemas.openxmlformats.org/drawingml/2006/main" l="0" t="0" r="0" b="0"/>
          <a:stretch xmlns:a="http://schemas.openxmlformats.org/drawingml/2006/main"/>
        </p:blipFill>
        <p:spPr>
          <a:xfrm xmlns:a="http://schemas.openxmlformats.org/drawingml/2006/main">
            <a:off x="1273759" y="3120847"/>
            <a:ext cx="241403" cy="241403"/>
          </a:xfrm>
          <a:prstGeom xmlns:a="http://schemas.openxmlformats.org/drawingml/2006/main" prst="rect">
            <a:avLst/>
          </a:prstGeom>
          <a:ln xmlns:a="http://schemas.openxmlformats.org/drawingml/2006/main">
            <a:noFill/>
          </a:ln>
        </p:spPr>
      </p:pic>
      <p:pic>
        <p:nvPicPr>
          <p:cNvPr id="175" name="Google Shape;79;p15"/>
          <p:cNvPicPr>
            <a:picLocks xmlns:a="http://schemas.openxmlformats.org/drawingml/2006/main" noChangeAspect="1"/>
          </p:cNvPicPr>
          <p:nvPr/>
        </p:nvPicPr>
        <p:blipFill rotWithShape="1">
          <a:blip xmlns:r="http://schemas.openxmlformats.org/officeDocument/2006/relationships" xmlns:a="http://schemas.openxmlformats.org/drawingml/2006/main" r:embed="R5798d3a1efc64fbb">
            <a:alphaModFix/>
          </a:blip>
          <a:srcRect xmlns:a="http://schemas.openxmlformats.org/drawingml/2006/main" l="0" t="0" r="0" b="0"/>
          <a:stretch xmlns:a="http://schemas.openxmlformats.org/drawingml/2006/main"/>
        </p:blipFill>
        <p:spPr>
          <a:xfrm xmlns:a="http://schemas.openxmlformats.org/drawingml/2006/main">
            <a:off x="6805879" y="3120847"/>
            <a:ext cx="241403" cy="241403"/>
          </a:xfrm>
          <a:prstGeom xmlns:a="http://schemas.openxmlformats.org/drawingml/2006/main" prst="rect">
            <a:avLst/>
          </a:prstGeom>
          <a:ln xmlns:a="http://schemas.openxmlformats.org/drawingml/2006/main">
            <a:noFill/>
          </a:ln>
        </p:spPr>
      </p:pic>
      <p:sp>
        <p:nvSpPr>
          <p:cNvPr id="130" name="">
            <a:extLst xmlns:a="http://schemas.openxmlformats.org/drawingml/2006/main">
              <a:ext uri="{FF2B5EF4-FFF2-40B4-BE49-F238E27FC236}">
                <a16:creationId xmlns:a16="http://schemas.microsoft.com/office/drawing/2014/main" id="{027CE98D-5BA7-4B06-8EA0-A1F88D8E26CA}"/>
              </a:ext>
            </a:extLst>
          </p:cNvPr>
          <p:cNvSpPr>
            <a:spLocks xmlns:a="http://schemas.openxmlformats.org/drawingml/2006/main" noGrp="1"/>
          </p:cNvSpPr>
          <p:nvPr/>
        </p:nvSpPr>
        <p:spPr>
          <a:xfrm xmlns:a="http://schemas.openxmlformats.org/drawingml/2006/main">
            <a:off x="819150" y="457200"/>
            <a:ext cx="514350" cy="514350"/>
          </a:xfrm>
          <a:prstGeom xmlns:a="http://schemas.openxmlformats.org/drawingml/2006/main" prst="ellipse">
            <a:avLst/>
          </a:prstGeom>
          <a:solidFill xmlns:a="http://schemas.openxmlformats.org/drawingml/2006/main">
            <a:srgbClr val="17385D"/>
          </a:solidFill>
          <a:ln xmlns:a="http://schemas.openxmlformats.org/drawingml/2006/main" w="9525">
            <a:solidFill>
              <a:srgbClr val="17385D"/>
            </a:solidFill>
            <a:prstDash val="solid"/>
          </a:ln>
        </p:spPr>
      </p:sp>
      <p:sp>
        <p:nvSpPr>
          <p:cNvPr id="131" name="">
            <a:extLst xmlns:a="http://schemas.openxmlformats.org/drawingml/2006/main">
              <a:ext uri="{FF2B5EF4-FFF2-40B4-BE49-F238E27FC236}">
                <a16:creationId xmlns:a16="http://schemas.microsoft.com/office/drawing/2014/main" id="{89D8C457-2A5A-46C9-966D-140CC75D7CAD}"/>
              </a:ext>
            </a:extLst>
          </p:cNvPr>
          <p:cNvSpPr>
            <a:spLocks xmlns:a="http://schemas.openxmlformats.org/drawingml/2006/main" noGrp="1"/>
          </p:cNvSpPr>
          <p:nvPr/>
        </p:nvSpPr>
        <p:spPr>
          <a:xfrm xmlns:a="http://schemas.openxmlformats.org/drawingml/2006/main">
            <a:off x="819150" y="533400"/>
            <a:ext cx="514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b="1">
                <a:solidFill>
                  <a:srgbClr val="FFFFFF"/>
                </a:solidFill>
                <a:latin typeface="Noto Sans"/>
                <a:ea typeface="Noto Sans"/>
                <a:cs typeface="Noto Sans"/>
              </a:defRPr>
            </a:pPr>
            <a:r>
              <a:rPr sz="1350" b="1">
                <a:solidFill>
                  <a:srgbClr val="FFFFFF"/>
                </a:solidFill>
                <a:latin typeface="Noto Sans"/>
                <a:ea typeface="Noto Sans"/>
                <a:cs typeface="Noto Sans"/>
              </a:rPr>
              <a:t>!</a:t>
            </a:r>
          </a:p>
        </p:txBody>
      </p:sp>
      <p:sp>
        <p:nvSpPr>
          <p:cNvPr id="132" name="">
            <a:extLst xmlns:a="http://schemas.openxmlformats.org/drawingml/2006/main">
              <a:ext uri="{FF2B5EF4-FFF2-40B4-BE49-F238E27FC236}">
                <a16:creationId xmlns:a16="http://schemas.microsoft.com/office/drawing/2014/main" id="{1509C5D0-8B40-4A3E-8F1A-F73A341499C2}"/>
              </a:ext>
            </a:extLst>
          </p:cNvPr>
          <p:cNvSpPr>
            <a:spLocks xmlns:a="http://schemas.openxmlformats.org/drawingml/2006/main" noGrp="1"/>
          </p:cNvSpPr>
          <p:nvPr/>
        </p:nvSpPr>
        <p:spPr>
          <a:xfrm xmlns:a="http://schemas.openxmlformats.org/drawingml/2006/main">
            <a:off x="1562100" y="542925"/>
            <a:ext cx="4191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2563A8"/>
                </a:solidFill>
                <a:latin typeface="Noto Sans"/>
                <a:ea typeface="Noto Sans"/>
                <a:cs typeface="Noto Sans"/>
              </a:defRPr>
            </a:pPr>
            <a:r>
              <a:rPr sz="975" b="1">
                <a:solidFill>
                  <a:srgbClr val="2563A8"/>
                </a:solidFill>
                <a:latin typeface="Noto Sans"/>
                <a:ea typeface="Noto Sans"/>
                <a:cs typeface="Noto Sans"/>
              </a:rPr>
              <a:t>SLIDE 5 ｜ ボトルネック整理</a:t>
            </a:r>
          </a:p>
        </p:txBody>
      </p:sp>
      <p:sp>
        <p:nvSpPr>
          <p:cNvPr id="133" name="">
            <a:extLst xmlns:a="http://schemas.openxmlformats.org/drawingml/2006/main">
              <a:ext uri="{FF2B5EF4-FFF2-40B4-BE49-F238E27FC236}">
                <a16:creationId xmlns:a16="http://schemas.microsoft.com/office/drawing/2014/main" id="{C528B529-069E-4162-B2F3-08CB772FF113}"/>
              </a:ext>
            </a:extLst>
          </p:cNvPr>
          <p:cNvSpPr>
            <a:spLocks xmlns:a="http://schemas.openxmlformats.org/drawingml/2006/main" noGrp="1"/>
          </p:cNvSpPr>
          <p:nvPr/>
        </p:nvSpPr>
        <p:spPr>
          <a:xfrm xmlns:a="http://schemas.openxmlformats.org/drawingml/2006/main">
            <a:off x="1562100" y="819150"/>
            <a:ext cx="857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550" b="1">
                <a:solidFill>
                  <a:srgbClr val="102033"/>
                </a:solidFill>
                <a:latin typeface="Noto Sans"/>
                <a:ea typeface="Noto Sans"/>
                <a:cs typeface="Noto Sans"/>
              </a:defRPr>
            </a:pPr>
            <a:r>
              <a:rPr sz="2550" b="1">
                <a:solidFill>
                  <a:srgbClr val="102033"/>
                </a:solidFill>
                <a:latin typeface="Noto Sans"/>
                <a:ea typeface="Noto Sans"/>
                <a:cs typeface="Noto Sans"/>
              </a:rPr>
              <a:t>利用率低下から見えたボトルネック</a:t>
            </a:r>
          </a:p>
        </p:txBody>
      </p:sp>
      <p:sp>
        <p:nvSpPr>
          <p:cNvPr id="134" name="">
            <a:extLst xmlns:a="http://schemas.openxmlformats.org/drawingml/2006/main">
              <a:ext uri="{FF2B5EF4-FFF2-40B4-BE49-F238E27FC236}">
                <a16:creationId xmlns:a16="http://schemas.microsoft.com/office/drawing/2014/main" id="{B08B6DE2-D539-46D0-8D7F-903829C76E80}"/>
              </a:ext>
            </a:extLst>
          </p:cNvPr>
          <p:cNvSpPr>
            <a:spLocks xmlns:a="http://schemas.openxmlformats.org/drawingml/2006/main" noGrp="1"/>
          </p:cNvSpPr>
          <p:nvPr/>
        </p:nvSpPr>
        <p:spPr>
          <a:xfrm xmlns:a="http://schemas.openxmlformats.org/drawingml/2006/main">
            <a:off x="1562100" y="1257300"/>
            <a:ext cx="895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0">
                <a:solidFill>
                  <a:srgbClr val="475569"/>
                </a:solidFill>
                <a:latin typeface="Noto Sans"/>
                <a:ea typeface="Noto Sans"/>
                <a:cs typeface="Noto Sans"/>
              </a:defRPr>
            </a:pPr>
            <a:r>
              <a:rPr sz="1275" b="0">
                <a:solidFill>
                  <a:srgbClr val="475569"/>
                </a:solidFill>
                <a:latin typeface="Noto Sans"/>
                <a:ea typeface="Noto Sans"/>
                <a:cs typeface="Noto Sans"/>
              </a:rPr>
              <a:t>利用率分析で見えた低下を、利用者単位の流れとフォロー設計に接続して整理する。</a:t>
            </a:r>
          </a:p>
        </p:txBody>
      </p:sp>
      <p:sp>
        <p:nvSpPr>
          <p:cNvPr id="135" name="">
            <a:extLst xmlns:a="http://schemas.openxmlformats.org/drawingml/2006/main">
              <a:ext uri="{FF2B5EF4-FFF2-40B4-BE49-F238E27FC236}">
                <a16:creationId xmlns:a16="http://schemas.microsoft.com/office/drawing/2014/main" id="{EFE5E5A0-22B6-4817-8D13-96EA98ECB6CE}"/>
              </a:ext>
            </a:extLst>
          </p:cNvPr>
          <p:cNvSpPr>
            <a:spLocks xmlns:a="http://schemas.openxmlformats.org/drawingml/2006/main" noGrp="1"/>
          </p:cNvSpPr>
          <p:nvPr/>
        </p:nvSpPr>
        <p:spPr>
          <a:xfrm xmlns:a="http://schemas.openxmlformats.org/drawingml/2006/main">
            <a:off x="819150" y="1676400"/>
            <a:ext cx="10553700" cy="552450"/>
          </a:xfrm>
          <a:prstGeom xmlns:a="http://schemas.openxmlformats.org/drawingml/2006/main" prst="roundRect">
            <a:avLst>
              <a:gd name="adj" fmla="val 10345"/>
            </a:avLst>
          </a:prstGeom>
          <a:solidFill xmlns:a="http://schemas.openxmlformats.org/drawingml/2006/main">
            <a:srgbClr val="EDF5FB"/>
          </a:solidFill>
          <a:ln xmlns:a="http://schemas.openxmlformats.org/drawingml/2006/main" w="9525">
            <a:solidFill>
              <a:srgbClr val="D9E8F5"/>
            </a:solidFill>
            <a:prstDash val="solid"/>
          </a:ln>
        </p:spPr>
      </p:sp>
      <p:sp>
        <p:nvSpPr>
          <p:cNvPr id="136" name="">
            <a:extLst xmlns:a="http://schemas.openxmlformats.org/drawingml/2006/main">
              <a:ext uri="{FF2B5EF4-FFF2-40B4-BE49-F238E27FC236}">
                <a16:creationId xmlns:a16="http://schemas.microsoft.com/office/drawing/2014/main" id="{76A9C2C2-9EC9-4243-A678-11C8AA8B2361}"/>
              </a:ext>
            </a:extLst>
          </p:cNvPr>
          <p:cNvSpPr>
            <a:spLocks xmlns:a="http://schemas.openxmlformats.org/drawingml/2006/main" noGrp="1"/>
          </p:cNvSpPr>
          <p:nvPr/>
        </p:nvSpPr>
        <p:spPr>
          <a:xfrm xmlns:a="http://schemas.openxmlformats.org/drawingml/2006/main">
            <a:off x="1104900" y="1847850"/>
            <a:ext cx="9982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b="1">
                <a:solidFill>
                  <a:srgbClr val="17385D"/>
                </a:solidFill>
                <a:latin typeface="Noto Sans"/>
                <a:ea typeface="Noto Sans"/>
                <a:cs typeface="Noto Sans"/>
              </a:defRPr>
            </a:pPr>
            <a:r>
              <a:rPr sz="1350" b="1">
                <a:solidFill>
                  <a:srgbClr val="17385D"/>
                </a:solidFill>
                <a:latin typeface="Noto Sans"/>
                <a:ea typeface="Noto Sans"/>
                <a:cs typeface="Noto Sans"/>
              </a:rPr>
              <a:t>数値低下そのものではなく、誰に・いつ・どのサービスへつなぐかの判断が現場で継続的に見えにくいことが論点。</a:t>
            </a:r>
          </a:p>
        </p:txBody>
      </p:sp>
      <p:sp>
        <p:nvSpPr>
          <p:cNvPr id="137" name="">
            <a:extLst xmlns:a="http://schemas.openxmlformats.org/drawingml/2006/main">
              <a:ext uri="{FF2B5EF4-FFF2-40B4-BE49-F238E27FC236}">
                <a16:creationId xmlns:a16="http://schemas.microsoft.com/office/drawing/2014/main" id="{2878C44F-9AAC-4F92-AB7E-DFCFE9AE9F69}"/>
              </a:ext>
            </a:extLst>
          </p:cNvPr>
          <p:cNvSpPr>
            <a:spLocks xmlns:a="http://schemas.openxmlformats.org/drawingml/2006/main" noGrp="1"/>
          </p:cNvSpPr>
          <p:nvPr/>
        </p:nvSpPr>
        <p:spPr>
          <a:xfrm xmlns:a="http://schemas.openxmlformats.org/drawingml/2006/main">
            <a:off x="819150" y="2647950"/>
            <a:ext cx="3009900" cy="2705100"/>
          </a:xfrm>
          <a:prstGeom xmlns:a="http://schemas.openxmlformats.org/drawingml/2006/main" prst="roundRect">
            <a:avLst>
              <a:gd name="adj" fmla="val 2817"/>
            </a:avLst>
          </a:prstGeom>
          <a:solidFill xmlns:a="http://schemas.openxmlformats.org/drawingml/2006/main">
            <a:srgbClr val="F8FAFC"/>
          </a:solidFill>
          <a:ln xmlns:a="http://schemas.openxmlformats.org/drawingml/2006/main" w="9525">
            <a:solidFill>
              <a:srgbClr val="D7E2EE"/>
            </a:solidFill>
            <a:prstDash val="solid"/>
          </a:ln>
        </p:spPr>
      </p:sp>
      <p:sp>
        <p:nvSpPr>
          <p:cNvPr id="138" name="">
            <a:extLst xmlns:a="http://schemas.openxmlformats.org/drawingml/2006/main">
              <a:ext uri="{FF2B5EF4-FFF2-40B4-BE49-F238E27FC236}">
                <a16:creationId xmlns:a16="http://schemas.microsoft.com/office/drawing/2014/main" id="{0A97F497-794D-4ED4-8687-6AD92C561272}"/>
              </a:ext>
            </a:extLst>
          </p:cNvPr>
          <p:cNvSpPr>
            <a:spLocks xmlns:a="http://schemas.openxmlformats.org/drawingml/2006/main" noGrp="1"/>
          </p:cNvSpPr>
          <p:nvPr/>
        </p:nvSpPr>
        <p:spPr>
          <a:xfrm xmlns:a="http://schemas.openxmlformats.org/drawingml/2006/main">
            <a:off x="4191000" y="2476500"/>
            <a:ext cx="3543300" cy="3048000"/>
          </a:xfrm>
          <a:prstGeom xmlns:a="http://schemas.openxmlformats.org/drawingml/2006/main" prst="roundRect">
            <a:avLst>
              <a:gd name="adj" fmla="val 2500"/>
            </a:avLst>
          </a:prstGeom>
          <a:solidFill xmlns:a="http://schemas.openxmlformats.org/drawingml/2006/main">
            <a:srgbClr val="17385D"/>
          </a:solidFill>
          <a:ln xmlns:a="http://schemas.openxmlformats.org/drawingml/2006/main" w="9525">
            <a:solidFill>
              <a:srgbClr val="17385D"/>
            </a:solidFill>
            <a:prstDash val="solid"/>
          </a:ln>
        </p:spPr>
      </p:sp>
      <p:sp>
        <p:nvSpPr>
          <p:cNvPr id="139" name="">
            <a:extLst xmlns:a="http://schemas.openxmlformats.org/drawingml/2006/main">
              <a:ext uri="{FF2B5EF4-FFF2-40B4-BE49-F238E27FC236}">
                <a16:creationId xmlns:a16="http://schemas.microsoft.com/office/drawing/2014/main" id="{B63EB22D-43F9-4B09-B90C-8F04AB4DB0A0}"/>
              </a:ext>
            </a:extLst>
          </p:cNvPr>
          <p:cNvSpPr>
            <a:spLocks xmlns:a="http://schemas.openxmlformats.org/drawingml/2006/main" noGrp="1"/>
          </p:cNvSpPr>
          <p:nvPr/>
        </p:nvSpPr>
        <p:spPr>
          <a:xfrm xmlns:a="http://schemas.openxmlformats.org/drawingml/2006/main">
            <a:off x="8096250" y="2647950"/>
            <a:ext cx="3276600" cy="2705100"/>
          </a:xfrm>
          <a:prstGeom xmlns:a="http://schemas.openxmlformats.org/drawingml/2006/main" prst="roundRect">
            <a:avLst>
              <a:gd name="adj" fmla="val 2817"/>
            </a:avLst>
          </a:prstGeom>
          <a:solidFill xmlns:a="http://schemas.openxmlformats.org/drawingml/2006/main">
            <a:srgbClr val="F8FAFC"/>
          </a:solidFill>
          <a:ln xmlns:a="http://schemas.openxmlformats.org/drawingml/2006/main" w="9525">
            <a:solidFill>
              <a:srgbClr val="D7E2EE"/>
            </a:solidFill>
            <a:prstDash val="solid"/>
          </a:ln>
        </p:spPr>
      </p:sp>
      <p:sp>
        <p:nvSpPr>
          <p:cNvPr id="140" name="">
            <a:extLst xmlns:a="http://schemas.openxmlformats.org/drawingml/2006/main">
              <a:ext uri="{FF2B5EF4-FFF2-40B4-BE49-F238E27FC236}">
                <a16:creationId xmlns:a16="http://schemas.microsoft.com/office/drawing/2014/main" id="{2F078985-D51E-41C2-B695-60439642DBC4}"/>
              </a:ext>
            </a:extLst>
          </p:cNvPr>
          <p:cNvSpPr>
            <a:spLocks xmlns:a="http://schemas.openxmlformats.org/drawingml/2006/main" noGrp="1"/>
          </p:cNvSpPr>
          <p:nvPr/>
        </p:nvSpPr>
        <p:spPr>
          <a:xfrm xmlns:a="http://schemas.openxmlformats.org/drawingml/2006/main">
            <a:off x="3829050" y="3867150"/>
            <a:ext cx="476250" cy="266700"/>
          </a:xfrm>
          <a:prstGeom xmlns:a="http://schemas.openxmlformats.org/drawingml/2006/main" prst="rightArrow">
            <a:avLst/>
          </a:prstGeom>
          <a:solidFill xmlns:a="http://schemas.openxmlformats.org/drawingml/2006/main">
            <a:srgbClr val="B9D8EE"/>
          </a:solidFill>
          <a:ln xmlns:a="http://schemas.openxmlformats.org/drawingml/2006/main" w="0">
            <a:solidFill>
              <a:srgbClr val="B9D8EE"/>
            </a:solidFill>
            <a:prstDash val="solid"/>
          </a:ln>
        </p:spPr>
      </p:sp>
      <p:sp>
        <p:nvSpPr>
          <p:cNvPr id="141" name="">
            <a:extLst xmlns:a="http://schemas.openxmlformats.org/drawingml/2006/main">
              <a:ext uri="{FF2B5EF4-FFF2-40B4-BE49-F238E27FC236}">
                <a16:creationId xmlns:a16="http://schemas.microsoft.com/office/drawing/2014/main" id="{BB9E2E12-BA6E-4C5E-891B-5D6AEC2C06B2}"/>
              </a:ext>
            </a:extLst>
          </p:cNvPr>
          <p:cNvSpPr>
            <a:spLocks xmlns:a="http://schemas.openxmlformats.org/drawingml/2006/main" noGrp="1"/>
          </p:cNvSpPr>
          <p:nvPr/>
        </p:nvSpPr>
        <p:spPr>
          <a:xfrm xmlns:a="http://schemas.openxmlformats.org/drawingml/2006/main">
            <a:off x="7639050" y="3867150"/>
            <a:ext cx="476250" cy="266700"/>
          </a:xfrm>
          <a:prstGeom xmlns:a="http://schemas.openxmlformats.org/drawingml/2006/main" prst="rightArrow">
            <a:avLst/>
          </a:prstGeom>
          <a:solidFill xmlns:a="http://schemas.openxmlformats.org/drawingml/2006/main">
            <a:srgbClr val="B9D8EE"/>
          </a:solidFill>
          <a:ln xmlns:a="http://schemas.openxmlformats.org/drawingml/2006/main" w="0">
            <a:solidFill>
              <a:srgbClr val="B9D8EE"/>
            </a:solidFill>
            <a:prstDash val="solid"/>
          </a:ln>
        </p:spPr>
      </p:sp>
      <p:sp>
        <p:nvSpPr>
          <p:cNvPr id="142" name="">
            <a:extLst xmlns:a="http://schemas.openxmlformats.org/drawingml/2006/main">
              <a:ext uri="{FF2B5EF4-FFF2-40B4-BE49-F238E27FC236}">
                <a16:creationId xmlns:a16="http://schemas.microsoft.com/office/drawing/2014/main" id="{4ECC0265-15F4-4009-9019-29906CAFFE6A}"/>
              </a:ext>
            </a:extLst>
          </p:cNvPr>
          <p:cNvSpPr>
            <a:spLocks xmlns:a="http://schemas.openxmlformats.org/drawingml/2006/main" noGrp="1"/>
          </p:cNvSpPr>
          <p:nvPr/>
        </p:nvSpPr>
        <p:spPr>
          <a:xfrm xmlns:a="http://schemas.openxmlformats.org/drawingml/2006/main">
            <a:off x="1066800" y="2914650"/>
            <a:ext cx="400050" cy="400050"/>
          </a:xfrm>
          <a:prstGeom xmlns:a="http://schemas.openxmlformats.org/drawingml/2006/main" prst="ellipse">
            <a:avLst/>
          </a:prstGeom>
          <a:solidFill xmlns:a="http://schemas.openxmlformats.org/drawingml/2006/main">
            <a:srgbClr val="2F7FBD"/>
          </a:solidFill>
          <a:ln xmlns:a="http://schemas.openxmlformats.org/drawingml/2006/main" w="9525">
            <a:solidFill>
              <a:srgbClr val="2F7FBD"/>
            </a:solidFill>
            <a:prstDash val="solid"/>
          </a:ln>
        </p:spPr>
      </p:sp>
      <p:sp>
        <p:nvSpPr>
          <p:cNvPr id="143" name="">
            <a:extLst xmlns:a="http://schemas.openxmlformats.org/drawingml/2006/main">
              <a:ext uri="{FF2B5EF4-FFF2-40B4-BE49-F238E27FC236}">
                <a16:creationId xmlns:a16="http://schemas.microsoft.com/office/drawing/2014/main" id="{D6931681-EF8D-4DF4-87F9-A3359D5F3403}"/>
              </a:ext>
            </a:extLst>
          </p:cNvPr>
          <p:cNvSpPr>
            <a:spLocks xmlns:a="http://schemas.openxmlformats.org/drawingml/2006/main" noGrp="1"/>
          </p:cNvSpPr>
          <p:nvPr/>
        </p:nvSpPr>
        <p:spPr>
          <a:xfrm xmlns:a="http://schemas.openxmlformats.org/drawingml/2006/main">
            <a:off x="1066800" y="299085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b="1">
                <a:solidFill>
                  <a:srgbClr val="FFFFFF"/>
                </a:solidFill>
                <a:latin typeface="Noto Sans"/>
                <a:ea typeface="Noto Sans"/>
                <a:cs typeface="Noto Sans"/>
              </a:defRPr>
            </a:pPr>
            <a:r>
              <a:rPr sz="1350" b="1">
                <a:solidFill>
                  <a:srgbClr val="FFFFFF"/>
                </a:solidFill>
                <a:latin typeface="Noto Sans"/>
                <a:ea typeface="Noto Sans"/>
                <a:cs typeface="Noto Sans"/>
              </a:rPr>
              <a:t>1</a:t>
            </a:r>
          </a:p>
        </p:txBody>
      </p:sp>
      <p:sp>
        <p:nvSpPr>
          <p:cNvPr id="144" name="">
            <a:extLst xmlns:a="http://schemas.openxmlformats.org/drawingml/2006/main">
              <a:ext uri="{FF2B5EF4-FFF2-40B4-BE49-F238E27FC236}">
                <a16:creationId xmlns:a16="http://schemas.microsoft.com/office/drawing/2014/main" id="{4827F35F-DE31-43C9-9534-8C48EB8BBA30}"/>
              </a:ext>
            </a:extLst>
          </p:cNvPr>
          <p:cNvSpPr>
            <a:spLocks xmlns:a="http://schemas.openxmlformats.org/drawingml/2006/main" noGrp="1"/>
          </p:cNvSpPr>
          <p:nvPr/>
        </p:nvSpPr>
        <p:spPr>
          <a:xfrm xmlns:a="http://schemas.openxmlformats.org/drawingml/2006/main">
            <a:off x="1600200" y="2895600"/>
            <a:ext cx="1981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1">
                <a:solidFill>
                  <a:srgbClr val="17385D"/>
                </a:solidFill>
                <a:latin typeface="Noto Sans"/>
                <a:ea typeface="Noto Sans"/>
                <a:cs typeface="Noto Sans"/>
              </a:defRPr>
            </a:pPr>
            <a:r>
              <a:rPr sz="1575" b="1">
                <a:solidFill>
                  <a:srgbClr val="17385D"/>
                </a:solidFill>
                <a:latin typeface="Noto Sans"/>
                <a:ea typeface="Noto Sans"/>
                <a:cs typeface="Noto Sans"/>
              </a:rPr>
              <a:t>利用率分析で</a:t>
            </a:r>
          </a:p>
          <a:p xmlns:a="http://schemas.openxmlformats.org/drawingml/2006/main">
            <a:pPr algn="l">
              <a:buNone/>
              <a:defRPr sz="1575" b="1">
                <a:solidFill>
                  <a:srgbClr val="17385D"/>
                </a:solidFill>
                <a:latin typeface="Noto Sans"/>
                <a:ea typeface="Noto Sans"/>
                <a:cs typeface="Noto Sans"/>
              </a:defRPr>
            </a:pPr>
            <a:r>
              <a:rPr sz="1575" b="1">
                <a:solidFill>
                  <a:srgbClr val="17385D"/>
                </a:solidFill>
                <a:latin typeface="Noto Sans"/>
                <a:ea typeface="Noto Sans"/>
                <a:cs typeface="Noto Sans"/>
              </a:rPr>
              <a:t>見えたこと</a:t>
            </a:r>
          </a:p>
        </p:txBody>
      </p:sp>
      <p:sp>
        <p:nvSpPr>
          <p:cNvPr id="145" name="">
            <a:extLst xmlns:a="http://schemas.openxmlformats.org/drawingml/2006/main">
              <a:ext uri="{FF2B5EF4-FFF2-40B4-BE49-F238E27FC236}">
                <a16:creationId xmlns:a16="http://schemas.microsoft.com/office/drawing/2014/main" id="{B9A91ED5-AD16-4A83-9130-F2099D30370B}"/>
              </a:ext>
            </a:extLst>
          </p:cNvPr>
          <p:cNvSpPr>
            <a:spLocks xmlns:a="http://schemas.openxmlformats.org/drawingml/2006/main" noGrp="1"/>
          </p:cNvSpPr>
          <p:nvPr/>
        </p:nvSpPr>
        <p:spPr>
          <a:xfrm xmlns:a="http://schemas.openxmlformats.org/drawingml/2006/main">
            <a:off x="1162050" y="3638550"/>
            <a:ext cx="209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334155"/>
                </a:solidFill>
                <a:latin typeface="Noto Sans"/>
                <a:ea typeface="Noto Sans"/>
                <a:cs typeface="Noto Sans"/>
              </a:defRPr>
            </a:pPr>
            <a:r>
              <a:rPr sz="1200" b="1">
                <a:solidFill>
                  <a:srgbClr val="334155"/>
                </a:solidFill>
                <a:latin typeface="Noto Sans"/>
                <a:ea typeface="Noto Sans"/>
                <a:cs typeface="Noto Sans"/>
              </a:rPr>
              <a:t>・</a:t>
            </a:r>
          </a:p>
        </p:txBody>
      </p:sp>
      <p:sp>
        <p:nvSpPr>
          <p:cNvPr id="146" name="">
            <a:extLst xmlns:a="http://schemas.openxmlformats.org/drawingml/2006/main">
              <a:ext uri="{FF2B5EF4-FFF2-40B4-BE49-F238E27FC236}">
                <a16:creationId xmlns:a16="http://schemas.microsoft.com/office/drawing/2014/main" id="{46E8238C-CF86-47AD-90A3-57A60F60D60C}"/>
              </a:ext>
            </a:extLst>
          </p:cNvPr>
          <p:cNvSpPr>
            <a:spLocks xmlns:a="http://schemas.openxmlformats.org/drawingml/2006/main" noGrp="1"/>
          </p:cNvSpPr>
          <p:nvPr/>
        </p:nvSpPr>
        <p:spPr>
          <a:xfrm xmlns:a="http://schemas.openxmlformats.org/drawingml/2006/main">
            <a:off x="1428750" y="3638550"/>
            <a:ext cx="2114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0">
                <a:solidFill>
                  <a:srgbClr val="334155"/>
                </a:solidFill>
                <a:latin typeface="Noto Sans"/>
                <a:ea typeface="Noto Sans"/>
                <a:cs typeface="Noto Sans"/>
              </a:defRPr>
            </a:pPr>
            <a:r>
              <a:rPr sz="1200" b="0">
                <a:solidFill>
                  <a:srgbClr val="334155"/>
                </a:solidFill>
                <a:latin typeface="Noto Sans"/>
                <a:ea typeface="Noto Sans"/>
                <a:cs typeface="Noto Sans"/>
              </a:rPr>
              <a:t>2F・3Fで利用率低下が確認された</a:t>
            </a:r>
          </a:p>
        </p:txBody>
      </p:sp>
      <p:sp>
        <p:nvSpPr>
          <p:cNvPr id="147" name="">
            <a:extLst xmlns:a="http://schemas.openxmlformats.org/drawingml/2006/main">
              <a:ext uri="{FF2B5EF4-FFF2-40B4-BE49-F238E27FC236}">
                <a16:creationId xmlns:a16="http://schemas.microsoft.com/office/drawing/2014/main" id="{11C5EEAB-F6FD-4815-A243-516733322441}"/>
              </a:ext>
            </a:extLst>
          </p:cNvPr>
          <p:cNvSpPr>
            <a:spLocks xmlns:a="http://schemas.openxmlformats.org/drawingml/2006/main" noGrp="1"/>
          </p:cNvSpPr>
          <p:nvPr/>
        </p:nvSpPr>
        <p:spPr>
          <a:xfrm xmlns:a="http://schemas.openxmlformats.org/drawingml/2006/main">
            <a:off x="1162050" y="4057650"/>
            <a:ext cx="209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334155"/>
                </a:solidFill>
                <a:latin typeface="Noto Sans"/>
                <a:ea typeface="Noto Sans"/>
                <a:cs typeface="Noto Sans"/>
              </a:defRPr>
            </a:pPr>
            <a:r>
              <a:rPr sz="1200" b="1">
                <a:solidFill>
                  <a:srgbClr val="334155"/>
                </a:solidFill>
                <a:latin typeface="Noto Sans"/>
                <a:ea typeface="Noto Sans"/>
                <a:cs typeface="Noto Sans"/>
              </a:rPr>
              <a:t>・</a:t>
            </a:r>
          </a:p>
        </p:txBody>
      </p:sp>
      <p:sp>
        <p:nvSpPr>
          <p:cNvPr id="148" name="">
            <a:extLst xmlns:a="http://schemas.openxmlformats.org/drawingml/2006/main">
              <a:ext uri="{FF2B5EF4-FFF2-40B4-BE49-F238E27FC236}">
                <a16:creationId xmlns:a16="http://schemas.microsoft.com/office/drawing/2014/main" id="{ABB73F99-F360-445B-8EB2-A2E5BBF47544}"/>
              </a:ext>
            </a:extLst>
          </p:cNvPr>
          <p:cNvSpPr>
            <a:spLocks xmlns:a="http://schemas.openxmlformats.org/drawingml/2006/main" noGrp="1"/>
          </p:cNvSpPr>
          <p:nvPr/>
        </p:nvSpPr>
        <p:spPr>
          <a:xfrm xmlns:a="http://schemas.openxmlformats.org/drawingml/2006/main">
            <a:off x="1428750" y="4057650"/>
            <a:ext cx="2114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0">
                <a:solidFill>
                  <a:srgbClr val="334155"/>
                </a:solidFill>
                <a:latin typeface="Noto Sans"/>
                <a:ea typeface="Noto Sans"/>
                <a:cs typeface="Noto Sans"/>
              </a:defRPr>
            </a:pPr>
            <a:r>
              <a:rPr sz="1200" b="0">
                <a:solidFill>
                  <a:srgbClr val="334155"/>
                </a:solidFill>
                <a:latin typeface="Noto Sans"/>
                <a:ea typeface="Noto Sans"/>
                <a:cs typeface="Noto Sans"/>
              </a:rPr>
              <a:t>3Fではショート利用の減少が目立つ</a:t>
            </a:r>
          </a:p>
        </p:txBody>
      </p:sp>
      <p:sp>
        <p:nvSpPr>
          <p:cNvPr id="149" name="">
            <a:extLst xmlns:a="http://schemas.openxmlformats.org/drawingml/2006/main">
              <a:ext uri="{FF2B5EF4-FFF2-40B4-BE49-F238E27FC236}">
                <a16:creationId xmlns:a16="http://schemas.microsoft.com/office/drawing/2014/main" id="{15503D2E-D513-4B89-B4DC-2393E7289E5B}"/>
              </a:ext>
            </a:extLst>
          </p:cNvPr>
          <p:cNvSpPr>
            <a:spLocks xmlns:a="http://schemas.openxmlformats.org/drawingml/2006/main" noGrp="1"/>
          </p:cNvSpPr>
          <p:nvPr/>
        </p:nvSpPr>
        <p:spPr>
          <a:xfrm xmlns:a="http://schemas.openxmlformats.org/drawingml/2006/main">
            <a:off x="1162050" y="4476750"/>
            <a:ext cx="209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334155"/>
                </a:solidFill>
                <a:latin typeface="Noto Sans"/>
                <a:ea typeface="Noto Sans"/>
                <a:cs typeface="Noto Sans"/>
              </a:defRPr>
            </a:pPr>
            <a:r>
              <a:rPr sz="1200" b="1">
                <a:solidFill>
                  <a:srgbClr val="334155"/>
                </a:solidFill>
                <a:latin typeface="Noto Sans"/>
                <a:ea typeface="Noto Sans"/>
                <a:cs typeface="Noto Sans"/>
              </a:rPr>
              <a:t>・</a:t>
            </a:r>
          </a:p>
        </p:txBody>
      </p:sp>
      <p:sp>
        <p:nvSpPr>
          <p:cNvPr id="150" name="">
            <a:extLst xmlns:a="http://schemas.openxmlformats.org/drawingml/2006/main">
              <a:ext uri="{FF2B5EF4-FFF2-40B4-BE49-F238E27FC236}">
                <a16:creationId xmlns:a16="http://schemas.microsoft.com/office/drawing/2014/main" id="{2D556930-FFE4-4E5C-9EC8-0244B835BA73}"/>
              </a:ext>
            </a:extLst>
          </p:cNvPr>
          <p:cNvSpPr>
            <a:spLocks xmlns:a="http://schemas.openxmlformats.org/drawingml/2006/main" noGrp="1"/>
          </p:cNvSpPr>
          <p:nvPr/>
        </p:nvSpPr>
        <p:spPr>
          <a:xfrm xmlns:a="http://schemas.openxmlformats.org/drawingml/2006/main">
            <a:off x="1428750" y="4476750"/>
            <a:ext cx="2114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0">
                <a:solidFill>
                  <a:srgbClr val="334155"/>
                </a:solidFill>
                <a:latin typeface="Noto Sans"/>
                <a:ea typeface="Noto Sans"/>
                <a:cs typeface="Noto Sans"/>
              </a:defRPr>
            </a:pPr>
            <a:r>
              <a:rPr sz="1200" b="0">
                <a:solidFill>
                  <a:srgbClr val="334155"/>
                </a:solidFill>
                <a:latin typeface="Noto Sans"/>
                <a:ea typeface="Noto Sans"/>
                <a:cs typeface="Noto Sans"/>
              </a:rPr>
              <a:t>2Fでは候補者管理の見える化余地がある</a:t>
            </a:r>
          </a:p>
        </p:txBody>
      </p:sp>
      <p:sp>
        <p:nvSpPr>
          <p:cNvPr id="151" name="">
            <a:extLst xmlns:a="http://schemas.openxmlformats.org/drawingml/2006/main">
              <a:ext uri="{FF2B5EF4-FFF2-40B4-BE49-F238E27FC236}">
                <a16:creationId xmlns:a16="http://schemas.microsoft.com/office/drawing/2014/main" id="{3087531A-F0DF-4F49-80FF-408D8F5BDB44}"/>
              </a:ext>
            </a:extLst>
          </p:cNvPr>
          <p:cNvSpPr>
            <a:spLocks xmlns:a="http://schemas.openxmlformats.org/drawingml/2006/main" noGrp="1"/>
          </p:cNvSpPr>
          <p:nvPr/>
        </p:nvSpPr>
        <p:spPr>
          <a:xfrm xmlns:a="http://schemas.openxmlformats.org/drawingml/2006/main">
            <a:off x="4476750" y="2743200"/>
            <a:ext cx="419100" cy="419100"/>
          </a:xfrm>
          <a:prstGeom xmlns:a="http://schemas.openxmlformats.org/drawingml/2006/main" prst="ellipse">
            <a:avLst/>
          </a:prstGeom>
          <a:solidFill xmlns:a="http://schemas.openxmlformats.org/drawingml/2006/main">
            <a:srgbClr val="7FB7DD"/>
          </a:solidFill>
          <a:ln xmlns:a="http://schemas.openxmlformats.org/drawingml/2006/main" w="9525">
            <a:solidFill>
              <a:srgbClr val="7FB7DD"/>
            </a:solidFill>
            <a:prstDash val="solid"/>
          </a:ln>
        </p:spPr>
      </p:sp>
      <p:sp>
        <p:nvSpPr>
          <p:cNvPr id="152" name="">
            <a:extLst xmlns:a="http://schemas.openxmlformats.org/drawingml/2006/main">
              <a:ext uri="{FF2B5EF4-FFF2-40B4-BE49-F238E27FC236}">
                <a16:creationId xmlns:a16="http://schemas.microsoft.com/office/drawing/2014/main" id="{41A10C4C-BFB6-4982-A781-643C41A3C9CB}"/>
              </a:ext>
            </a:extLst>
          </p:cNvPr>
          <p:cNvSpPr>
            <a:spLocks xmlns:a="http://schemas.openxmlformats.org/drawingml/2006/main" noGrp="1"/>
          </p:cNvSpPr>
          <p:nvPr/>
        </p:nvSpPr>
        <p:spPr>
          <a:xfrm xmlns:a="http://schemas.openxmlformats.org/drawingml/2006/main">
            <a:off x="4476750" y="2819400"/>
            <a:ext cx="419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b="1">
                <a:solidFill>
                  <a:srgbClr val="FFFFFF"/>
                </a:solidFill>
                <a:latin typeface="Noto Sans"/>
                <a:ea typeface="Noto Sans"/>
                <a:cs typeface="Noto Sans"/>
              </a:defRPr>
            </a:pPr>
            <a:r>
              <a:rPr sz="1350" b="1">
                <a:solidFill>
                  <a:srgbClr val="FFFFFF"/>
                </a:solidFill>
                <a:latin typeface="Noto Sans"/>
                <a:ea typeface="Noto Sans"/>
                <a:cs typeface="Noto Sans"/>
              </a:rPr>
              <a:t>2</a:t>
            </a:r>
          </a:p>
        </p:txBody>
      </p:sp>
      <p:sp>
        <p:nvSpPr>
          <p:cNvPr id="153" name="">
            <a:extLst xmlns:a="http://schemas.openxmlformats.org/drawingml/2006/main">
              <a:ext uri="{FF2B5EF4-FFF2-40B4-BE49-F238E27FC236}">
                <a16:creationId xmlns:a16="http://schemas.microsoft.com/office/drawing/2014/main" id="{38EE6DC8-BB22-4327-A2F6-517E7B9842DA}"/>
              </a:ext>
            </a:extLst>
          </p:cNvPr>
          <p:cNvSpPr>
            <a:spLocks xmlns:a="http://schemas.openxmlformats.org/drawingml/2006/main" noGrp="1"/>
          </p:cNvSpPr>
          <p:nvPr/>
        </p:nvSpPr>
        <p:spPr>
          <a:xfrm xmlns:a="http://schemas.openxmlformats.org/drawingml/2006/main">
            <a:off x="5067300" y="2667000"/>
            <a:ext cx="23241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FFFFFF"/>
                </a:solidFill>
                <a:latin typeface="Noto Sans"/>
                <a:ea typeface="Noto Sans"/>
                <a:cs typeface="Noto Sans"/>
              </a:defRPr>
            </a:pPr>
            <a:r>
              <a:rPr sz="1650" b="1">
                <a:solidFill>
                  <a:srgbClr val="FFFFFF"/>
                </a:solidFill>
                <a:latin typeface="Noto Sans"/>
                <a:ea typeface="Noto Sans"/>
                <a:cs typeface="Noto Sans"/>
              </a:rPr>
              <a:t>見えてきた</a:t>
            </a:r>
          </a:p>
          <a:p xmlns:a="http://schemas.openxmlformats.org/drawingml/2006/main">
            <a:pPr algn="l">
              <a:buNone/>
              <a:defRPr sz="1650" b="1">
                <a:solidFill>
                  <a:srgbClr val="FFFFFF"/>
                </a:solidFill>
                <a:latin typeface="Noto Sans"/>
                <a:ea typeface="Noto Sans"/>
                <a:cs typeface="Noto Sans"/>
              </a:defRPr>
            </a:pPr>
            <a:r>
              <a:rPr sz="1650" b="1">
                <a:solidFill>
                  <a:srgbClr val="FFFFFF"/>
                </a:solidFill>
                <a:latin typeface="Noto Sans"/>
                <a:ea typeface="Noto Sans"/>
                <a:cs typeface="Noto Sans"/>
              </a:rPr>
              <a:t>ボトルネック</a:t>
            </a:r>
          </a:p>
        </p:txBody>
      </p:sp>
      <p:sp>
        <p:nvSpPr>
          <p:cNvPr id="154" name="">
            <a:extLst xmlns:a="http://schemas.openxmlformats.org/drawingml/2006/main">
              <a:ext uri="{FF2B5EF4-FFF2-40B4-BE49-F238E27FC236}">
                <a16:creationId xmlns:a16="http://schemas.microsoft.com/office/drawing/2014/main" id="{9ED837BC-3D80-446C-B912-FF46600574F6}"/>
              </a:ext>
            </a:extLst>
          </p:cNvPr>
          <p:cNvSpPr>
            <a:spLocks xmlns:a="http://schemas.openxmlformats.org/drawingml/2006/main" noGrp="1"/>
          </p:cNvSpPr>
          <p:nvPr/>
        </p:nvSpPr>
        <p:spPr>
          <a:xfrm xmlns:a="http://schemas.openxmlformats.org/drawingml/2006/main">
            <a:off x="4533900" y="3390900"/>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00" b="1">
                <a:solidFill>
                  <a:srgbClr val="FFFFFF"/>
                </a:solidFill>
                <a:latin typeface="Noto Sans"/>
                <a:ea typeface="Noto Sans"/>
                <a:cs typeface="Noto Sans"/>
              </a:defRPr>
            </a:pPr>
            <a:r>
              <a:rPr sz="1500" b="1">
                <a:solidFill>
                  <a:srgbClr val="FFFFFF"/>
                </a:solidFill>
                <a:latin typeface="Noto Sans"/>
                <a:ea typeface="Noto Sans"/>
                <a:cs typeface="Noto Sans"/>
              </a:rPr>
              <a:t>利用者の流れとフォロー状況が、継続的に見えにくい。</a:t>
            </a:r>
          </a:p>
        </p:txBody>
      </p:sp>
      <p:sp>
        <p:nvSpPr>
          <p:cNvPr id="155" name="">
            <a:extLst xmlns:a="http://schemas.openxmlformats.org/drawingml/2006/main">
              <a:ext uri="{FF2B5EF4-FFF2-40B4-BE49-F238E27FC236}">
                <a16:creationId xmlns:a16="http://schemas.microsoft.com/office/drawing/2014/main" id="{F582A1B1-3F8E-4BD7-9FE7-193BE9CA4553}"/>
              </a:ext>
            </a:extLst>
          </p:cNvPr>
          <p:cNvSpPr>
            <a:spLocks xmlns:a="http://schemas.openxmlformats.org/drawingml/2006/main" noGrp="1"/>
          </p:cNvSpPr>
          <p:nvPr/>
        </p:nvSpPr>
        <p:spPr>
          <a:xfrm xmlns:a="http://schemas.openxmlformats.org/drawingml/2006/main">
            <a:off x="4629150" y="4057650"/>
            <a:ext cx="2667000" cy="14288"/>
          </a:xfrm>
          <a:prstGeom xmlns:a="http://schemas.openxmlformats.org/drawingml/2006/main" prst="rect">
            <a:avLst/>
          </a:prstGeom>
          <a:solidFill xmlns:a="http://schemas.openxmlformats.org/drawingml/2006/main">
            <a:srgbClr val="7FB7DD"/>
          </a:solidFill>
          <a:ln xmlns:a="http://schemas.openxmlformats.org/drawingml/2006/main" w="0">
            <a:noFill/>
            <a:prstDash val="solid"/>
          </a:ln>
        </p:spPr>
      </p:sp>
      <p:sp>
        <p:nvSpPr>
          <p:cNvPr id="156" name="">
            <a:extLst xmlns:a="http://schemas.openxmlformats.org/drawingml/2006/main">
              <a:ext uri="{FF2B5EF4-FFF2-40B4-BE49-F238E27FC236}">
                <a16:creationId xmlns:a16="http://schemas.microsoft.com/office/drawing/2014/main" id="{FFCC5CB6-775E-44EB-B8B8-60E730904E7F}"/>
              </a:ext>
            </a:extLst>
          </p:cNvPr>
          <p:cNvSpPr>
            <a:spLocks xmlns:a="http://schemas.openxmlformats.org/drawingml/2006/main" noGrp="1"/>
          </p:cNvSpPr>
          <p:nvPr/>
        </p:nvSpPr>
        <p:spPr>
          <a:xfrm xmlns:a="http://schemas.openxmlformats.org/drawingml/2006/main">
            <a:off x="4552950" y="4286250"/>
            <a:ext cx="28194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75" b="0">
                <a:solidFill>
                  <a:srgbClr val="DBEAFE"/>
                </a:solidFill>
                <a:latin typeface="Noto Sans"/>
                <a:ea typeface="Noto Sans"/>
                <a:cs typeface="Noto Sans"/>
              </a:defRPr>
            </a:pPr>
            <a:r>
              <a:rPr sz="1275" b="0">
                <a:solidFill>
                  <a:srgbClr val="DBEAFE"/>
                </a:solidFill>
                <a:latin typeface="Noto Sans"/>
                <a:ea typeface="Noto Sans"/>
                <a:cs typeface="Noto Sans"/>
              </a:rPr>
              <a:t>誰に、いつ、どのサービスにつなぐかの判断が担当者個人の業務に閉じており、判断基準が明文化・共有されていない。</a:t>
            </a:r>
          </a:p>
        </p:txBody>
      </p:sp>
      <p:sp>
        <p:nvSpPr>
          <p:cNvPr id="157" name="">
            <a:extLst xmlns:a="http://schemas.openxmlformats.org/drawingml/2006/main">
              <a:ext uri="{FF2B5EF4-FFF2-40B4-BE49-F238E27FC236}">
                <a16:creationId xmlns:a16="http://schemas.microsoft.com/office/drawing/2014/main" id="{1A1E9CCE-836D-4EBE-9F39-9108519B6188}"/>
              </a:ext>
            </a:extLst>
          </p:cNvPr>
          <p:cNvSpPr>
            <a:spLocks xmlns:a="http://schemas.openxmlformats.org/drawingml/2006/main" noGrp="1"/>
          </p:cNvSpPr>
          <p:nvPr/>
        </p:nvSpPr>
        <p:spPr>
          <a:xfrm xmlns:a="http://schemas.openxmlformats.org/drawingml/2006/main">
            <a:off x="8343900" y="2914650"/>
            <a:ext cx="400050" cy="400050"/>
          </a:xfrm>
          <a:prstGeom xmlns:a="http://schemas.openxmlformats.org/drawingml/2006/main" prst="ellipse">
            <a:avLst/>
          </a:prstGeom>
          <a:solidFill xmlns:a="http://schemas.openxmlformats.org/drawingml/2006/main">
            <a:srgbClr val="2F8A70"/>
          </a:solidFill>
          <a:ln xmlns:a="http://schemas.openxmlformats.org/drawingml/2006/main" w="9525">
            <a:solidFill>
              <a:srgbClr val="2F8A70"/>
            </a:solidFill>
            <a:prstDash val="solid"/>
          </a:ln>
        </p:spPr>
      </p:sp>
      <p:sp>
        <p:nvSpPr>
          <p:cNvPr id="158" name="">
            <a:extLst xmlns:a="http://schemas.openxmlformats.org/drawingml/2006/main">
              <a:ext uri="{FF2B5EF4-FFF2-40B4-BE49-F238E27FC236}">
                <a16:creationId xmlns:a16="http://schemas.microsoft.com/office/drawing/2014/main" id="{51B063FD-D421-4E87-ADAE-B8B61D5D31A7}"/>
              </a:ext>
            </a:extLst>
          </p:cNvPr>
          <p:cNvSpPr>
            <a:spLocks xmlns:a="http://schemas.openxmlformats.org/drawingml/2006/main" noGrp="1"/>
          </p:cNvSpPr>
          <p:nvPr/>
        </p:nvSpPr>
        <p:spPr>
          <a:xfrm xmlns:a="http://schemas.openxmlformats.org/drawingml/2006/main">
            <a:off x="8343900" y="299085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b="1">
                <a:solidFill>
                  <a:srgbClr val="FFFFFF"/>
                </a:solidFill>
                <a:latin typeface="Noto Sans"/>
                <a:ea typeface="Noto Sans"/>
                <a:cs typeface="Noto Sans"/>
              </a:defRPr>
            </a:pPr>
            <a:r>
              <a:rPr sz="1350" b="1">
                <a:solidFill>
                  <a:srgbClr val="FFFFFF"/>
                </a:solidFill>
                <a:latin typeface="Noto Sans"/>
                <a:ea typeface="Noto Sans"/>
                <a:cs typeface="Noto Sans"/>
              </a:rPr>
              <a:t>3</a:t>
            </a:r>
          </a:p>
        </p:txBody>
      </p:sp>
      <p:sp>
        <p:nvSpPr>
          <p:cNvPr id="159" name="">
            <a:extLst xmlns:a="http://schemas.openxmlformats.org/drawingml/2006/main">
              <a:ext uri="{FF2B5EF4-FFF2-40B4-BE49-F238E27FC236}">
                <a16:creationId xmlns:a16="http://schemas.microsoft.com/office/drawing/2014/main" id="{CFFE00E2-C24E-46E8-82B2-5E16CB121B27}"/>
              </a:ext>
            </a:extLst>
          </p:cNvPr>
          <p:cNvSpPr>
            <a:spLocks xmlns:a="http://schemas.openxmlformats.org/drawingml/2006/main" noGrp="1"/>
          </p:cNvSpPr>
          <p:nvPr/>
        </p:nvSpPr>
        <p:spPr>
          <a:xfrm xmlns:a="http://schemas.openxmlformats.org/drawingml/2006/main">
            <a:off x="8877300" y="293370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1">
                <a:solidFill>
                  <a:srgbClr val="17385D"/>
                </a:solidFill>
                <a:latin typeface="Noto Sans"/>
                <a:ea typeface="Noto Sans"/>
                <a:cs typeface="Noto Sans"/>
              </a:defRPr>
            </a:pPr>
            <a:r>
              <a:rPr sz="1575" b="1">
                <a:solidFill>
                  <a:srgbClr val="17385D"/>
                </a:solidFill>
                <a:latin typeface="Noto Sans"/>
                <a:ea typeface="Noto Sans"/>
                <a:cs typeface="Noto Sans"/>
              </a:rPr>
              <a:t>次に必要なこと</a:t>
            </a:r>
          </a:p>
        </p:txBody>
      </p:sp>
      <p:sp>
        <p:nvSpPr>
          <p:cNvPr id="160" name="">
            <a:extLst xmlns:a="http://schemas.openxmlformats.org/drawingml/2006/main">
              <a:ext uri="{FF2B5EF4-FFF2-40B4-BE49-F238E27FC236}">
                <a16:creationId xmlns:a16="http://schemas.microsoft.com/office/drawing/2014/main" id="{7C484F47-F4D1-45CC-B348-B1FE09A9B272}"/>
              </a:ext>
            </a:extLst>
          </p:cNvPr>
          <p:cNvSpPr>
            <a:spLocks xmlns:a="http://schemas.openxmlformats.org/drawingml/2006/main" noGrp="1"/>
          </p:cNvSpPr>
          <p:nvPr/>
        </p:nvSpPr>
        <p:spPr>
          <a:xfrm xmlns:a="http://schemas.openxmlformats.org/drawingml/2006/main">
            <a:off x="8458200" y="3657600"/>
            <a:ext cx="209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334155"/>
                </a:solidFill>
                <a:latin typeface="Noto Sans"/>
                <a:ea typeface="Noto Sans"/>
                <a:cs typeface="Noto Sans"/>
              </a:defRPr>
            </a:pPr>
            <a:r>
              <a:rPr sz="1275" b="1">
                <a:solidFill>
                  <a:srgbClr val="334155"/>
                </a:solidFill>
                <a:latin typeface="Noto Sans"/>
                <a:ea typeface="Noto Sans"/>
                <a:cs typeface="Noto Sans"/>
              </a:rPr>
              <a:t>・</a:t>
            </a:r>
          </a:p>
        </p:txBody>
      </p:sp>
      <p:sp>
        <p:nvSpPr>
          <p:cNvPr id="161" name="">
            <a:extLst xmlns:a="http://schemas.openxmlformats.org/drawingml/2006/main">
              <a:ext uri="{FF2B5EF4-FFF2-40B4-BE49-F238E27FC236}">
                <a16:creationId xmlns:a16="http://schemas.microsoft.com/office/drawing/2014/main" id="{AB8F7D9F-BE9D-4691-8165-8D2E5367902A}"/>
              </a:ext>
            </a:extLst>
          </p:cNvPr>
          <p:cNvSpPr>
            <a:spLocks xmlns:a="http://schemas.openxmlformats.org/drawingml/2006/main" noGrp="1"/>
          </p:cNvSpPr>
          <p:nvPr/>
        </p:nvSpPr>
        <p:spPr>
          <a:xfrm xmlns:a="http://schemas.openxmlformats.org/drawingml/2006/main">
            <a:off x="8724900" y="3657600"/>
            <a:ext cx="2324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0">
                <a:solidFill>
                  <a:srgbClr val="334155"/>
                </a:solidFill>
                <a:latin typeface="Noto Sans"/>
                <a:ea typeface="Noto Sans"/>
                <a:cs typeface="Noto Sans"/>
              </a:defRPr>
            </a:pPr>
            <a:r>
              <a:rPr sz="1275" b="0">
                <a:solidFill>
                  <a:srgbClr val="334155"/>
                </a:solidFill>
                <a:latin typeface="Noto Sans"/>
                <a:ea typeface="Noto Sans"/>
                <a:cs typeface="Noto Sans"/>
              </a:rPr>
              <a:t>利用者単位で履歴を追う</a:t>
            </a:r>
          </a:p>
        </p:txBody>
      </p:sp>
      <p:sp>
        <p:nvSpPr>
          <p:cNvPr id="162" name="">
            <a:extLst xmlns:a="http://schemas.openxmlformats.org/drawingml/2006/main">
              <a:ext uri="{FF2B5EF4-FFF2-40B4-BE49-F238E27FC236}">
                <a16:creationId xmlns:a16="http://schemas.microsoft.com/office/drawing/2014/main" id="{C9DD159B-EC8F-48F3-B3A3-2F4324BD9ACE}"/>
              </a:ext>
            </a:extLst>
          </p:cNvPr>
          <p:cNvSpPr>
            <a:spLocks xmlns:a="http://schemas.openxmlformats.org/drawingml/2006/main" noGrp="1"/>
          </p:cNvSpPr>
          <p:nvPr/>
        </p:nvSpPr>
        <p:spPr>
          <a:xfrm xmlns:a="http://schemas.openxmlformats.org/drawingml/2006/main">
            <a:off x="8458200" y="4076700"/>
            <a:ext cx="209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334155"/>
                </a:solidFill>
                <a:latin typeface="Noto Sans"/>
                <a:ea typeface="Noto Sans"/>
                <a:cs typeface="Noto Sans"/>
              </a:defRPr>
            </a:pPr>
            <a:r>
              <a:rPr sz="1275" b="1">
                <a:solidFill>
                  <a:srgbClr val="334155"/>
                </a:solidFill>
                <a:latin typeface="Noto Sans"/>
                <a:ea typeface="Noto Sans"/>
                <a:cs typeface="Noto Sans"/>
              </a:rPr>
              <a:t>・</a:t>
            </a:r>
          </a:p>
        </p:txBody>
      </p:sp>
      <p:sp>
        <p:nvSpPr>
          <p:cNvPr id="163" name="">
            <a:extLst xmlns:a="http://schemas.openxmlformats.org/drawingml/2006/main">
              <a:ext uri="{FF2B5EF4-FFF2-40B4-BE49-F238E27FC236}">
                <a16:creationId xmlns:a16="http://schemas.microsoft.com/office/drawing/2014/main" id="{94FA7C5C-8488-42B8-A859-34C1295A1131}"/>
              </a:ext>
            </a:extLst>
          </p:cNvPr>
          <p:cNvSpPr>
            <a:spLocks xmlns:a="http://schemas.openxmlformats.org/drawingml/2006/main" noGrp="1"/>
          </p:cNvSpPr>
          <p:nvPr/>
        </p:nvSpPr>
        <p:spPr>
          <a:xfrm xmlns:a="http://schemas.openxmlformats.org/drawingml/2006/main">
            <a:off x="8724900" y="4076700"/>
            <a:ext cx="2324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0">
                <a:solidFill>
                  <a:srgbClr val="334155"/>
                </a:solidFill>
                <a:latin typeface="Noto Sans"/>
                <a:ea typeface="Noto Sans"/>
                <a:cs typeface="Noto Sans"/>
              </a:defRPr>
            </a:pPr>
            <a:r>
              <a:rPr sz="1275" b="0">
                <a:solidFill>
                  <a:srgbClr val="334155"/>
                </a:solidFill>
                <a:latin typeface="Noto Sans"/>
                <a:ea typeface="Noto Sans"/>
                <a:cs typeface="Noto Sans"/>
              </a:rPr>
              <a:t>フォロー状況と次回確認を見える化する</a:t>
            </a:r>
          </a:p>
        </p:txBody>
      </p:sp>
      <p:sp>
        <p:nvSpPr>
          <p:cNvPr id="164" name="">
            <a:extLst xmlns:a="http://schemas.openxmlformats.org/drawingml/2006/main">
              <a:ext uri="{FF2B5EF4-FFF2-40B4-BE49-F238E27FC236}">
                <a16:creationId xmlns:a16="http://schemas.microsoft.com/office/drawing/2014/main" id="{CA2713DC-1FA2-4767-9AB1-65AD113E3467}"/>
              </a:ext>
            </a:extLst>
          </p:cNvPr>
          <p:cNvSpPr>
            <a:spLocks xmlns:a="http://schemas.openxmlformats.org/drawingml/2006/main" noGrp="1"/>
          </p:cNvSpPr>
          <p:nvPr/>
        </p:nvSpPr>
        <p:spPr>
          <a:xfrm xmlns:a="http://schemas.openxmlformats.org/drawingml/2006/main">
            <a:off x="8458200" y="4495800"/>
            <a:ext cx="209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334155"/>
                </a:solidFill>
                <a:latin typeface="Noto Sans"/>
                <a:ea typeface="Noto Sans"/>
                <a:cs typeface="Noto Sans"/>
              </a:defRPr>
            </a:pPr>
            <a:r>
              <a:rPr sz="1275" b="1">
                <a:solidFill>
                  <a:srgbClr val="334155"/>
                </a:solidFill>
                <a:latin typeface="Noto Sans"/>
                <a:ea typeface="Noto Sans"/>
                <a:cs typeface="Noto Sans"/>
              </a:rPr>
              <a:t>・</a:t>
            </a:r>
          </a:p>
        </p:txBody>
      </p:sp>
      <p:sp>
        <p:nvSpPr>
          <p:cNvPr id="165" name="">
            <a:extLst xmlns:a="http://schemas.openxmlformats.org/drawingml/2006/main">
              <a:ext uri="{FF2B5EF4-FFF2-40B4-BE49-F238E27FC236}">
                <a16:creationId xmlns:a16="http://schemas.microsoft.com/office/drawing/2014/main" id="{75FE643F-0DD3-48D9-8C92-DE95677F57D6}"/>
              </a:ext>
            </a:extLst>
          </p:cNvPr>
          <p:cNvSpPr>
            <a:spLocks xmlns:a="http://schemas.openxmlformats.org/drawingml/2006/main" noGrp="1"/>
          </p:cNvSpPr>
          <p:nvPr/>
        </p:nvSpPr>
        <p:spPr>
          <a:xfrm xmlns:a="http://schemas.openxmlformats.org/drawingml/2006/main">
            <a:off x="8724900" y="4495800"/>
            <a:ext cx="2324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0">
                <a:solidFill>
                  <a:srgbClr val="334155"/>
                </a:solidFill>
                <a:latin typeface="Noto Sans"/>
                <a:ea typeface="Noto Sans"/>
                <a:cs typeface="Noto Sans"/>
              </a:defRPr>
            </a:pPr>
            <a:r>
              <a:rPr sz="1275" b="0">
                <a:solidFill>
                  <a:srgbClr val="334155"/>
                </a:solidFill>
                <a:latin typeface="Noto Sans"/>
                <a:ea typeface="Noto Sans"/>
                <a:cs typeface="Noto Sans"/>
              </a:rPr>
              <a:t>確認対象と判断基準を整理する</a:t>
            </a:r>
          </a:p>
        </p:txBody>
      </p:sp>
      <p:sp>
        <p:nvSpPr>
          <p:cNvPr id="166" name="">
            <a:extLst xmlns:a="http://schemas.openxmlformats.org/drawingml/2006/main">
              <a:ext uri="{FF2B5EF4-FFF2-40B4-BE49-F238E27FC236}">
                <a16:creationId xmlns:a16="http://schemas.microsoft.com/office/drawing/2014/main" id="{D66BF020-0B9B-4E31-A6A6-964B38A05C46}"/>
              </a:ext>
            </a:extLst>
          </p:cNvPr>
          <p:cNvSpPr>
            <a:spLocks xmlns:a="http://schemas.openxmlformats.org/drawingml/2006/main" noGrp="1"/>
          </p:cNvSpPr>
          <p:nvPr/>
        </p:nvSpPr>
        <p:spPr>
          <a:xfrm xmlns:a="http://schemas.openxmlformats.org/drawingml/2006/main">
            <a:off x="1581150" y="5848350"/>
            <a:ext cx="9029700" cy="400050"/>
          </a:xfrm>
          <a:prstGeom xmlns:a="http://schemas.openxmlformats.org/drawingml/2006/main" prst="roundRect">
            <a:avLst>
              <a:gd name="adj" fmla="val 14286"/>
            </a:avLst>
          </a:prstGeom>
          <a:solidFill xmlns:a="http://schemas.openxmlformats.org/drawingml/2006/main">
            <a:srgbClr val="F1F5F9"/>
          </a:solidFill>
          <a:ln xmlns:a="http://schemas.openxmlformats.org/drawingml/2006/main" w="9525">
            <a:solidFill>
              <a:srgbClr val="D7E2EE"/>
            </a:solidFill>
            <a:prstDash val="solid"/>
          </a:ln>
        </p:spPr>
      </p:sp>
      <p:sp>
        <p:nvSpPr>
          <p:cNvPr id="167" name="">
            <a:extLst xmlns:a="http://schemas.openxmlformats.org/drawingml/2006/main">
              <a:ext uri="{FF2B5EF4-FFF2-40B4-BE49-F238E27FC236}">
                <a16:creationId xmlns:a16="http://schemas.microsoft.com/office/drawing/2014/main" id="{6FAAD95D-C0E7-4EF3-8F82-1A3C6A6C7BB6}"/>
              </a:ext>
            </a:extLst>
          </p:cNvPr>
          <p:cNvSpPr>
            <a:spLocks xmlns:a="http://schemas.openxmlformats.org/drawingml/2006/main" noGrp="1"/>
          </p:cNvSpPr>
          <p:nvPr/>
        </p:nvSpPr>
        <p:spPr>
          <a:xfrm xmlns:a="http://schemas.openxmlformats.org/drawingml/2006/main">
            <a:off x="1905000" y="5962650"/>
            <a:ext cx="838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75" b="1">
                <a:solidFill>
                  <a:srgbClr val="17385D"/>
                </a:solidFill>
                <a:latin typeface="Noto Sans"/>
                <a:ea typeface="Noto Sans"/>
                <a:cs typeface="Noto Sans"/>
              </a:defRPr>
            </a:pPr>
            <a:r>
              <a:rPr sz="1275" b="1">
                <a:solidFill>
                  <a:srgbClr val="17385D"/>
                </a:solidFill>
                <a:latin typeface="Noto Sans"/>
                <a:ea typeface="Noto Sans"/>
                <a:cs typeface="Noto Sans"/>
              </a:rPr>
              <a:t>このボトルネックを解くため、次に利用者単位の分析へ進む</a:t>
            </a:r>
          </a:p>
        </p:txBody>
      </p:sp>
      <p:sp>
        <p:nvSpPr>
          <p:cNvPr id="168" name="">
            <a:extLst xmlns:a="http://schemas.openxmlformats.org/drawingml/2006/main">
              <a:ext uri="{FF2B5EF4-FFF2-40B4-BE49-F238E27FC236}">
                <a16:creationId xmlns:a16="http://schemas.microsoft.com/office/drawing/2014/main" id="{BE3D5824-35CF-415E-B17E-22B0A4AFBF43}"/>
              </a:ext>
            </a:extLst>
          </p:cNvPr>
          <p:cNvSpPr>
            <a:spLocks xmlns:a="http://schemas.openxmlformats.org/drawingml/2006/main" noGrp="1"/>
          </p:cNvSpPr>
          <p:nvPr/>
        </p:nvSpPr>
        <p:spPr>
          <a:xfrm xmlns:a="http://schemas.openxmlformats.org/drawingml/2006/main">
            <a:off x="819150" y="6400800"/>
            <a:ext cx="7315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64748B"/>
                </a:solidFill>
                <a:latin typeface="Noto Sans"/>
                <a:ea typeface="Noto Sans"/>
                <a:cs typeface="Noto Sans"/>
              </a:defRPr>
            </a:pPr>
            <a:r>
              <a:rPr sz="900" b="0">
                <a:solidFill>
                  <a:srgbClr val="64748B"/>
                </a:solidFill>
                <a:latin typeface="Noto Sans"/>
                <a:ea typeface="Noto Sans"/>
                <a:cs typeface="Noto Sans"/>
              </a:rPr>
              <a:t>アルボース ｜ 利用率低下分析の報告</a:t>
            </a:r>
          </a:p>
        </p:txBody>
      </p:sp>
      <p:sp>
        <p:nvSpPr>
          <p:cNvPr id="169" name="">
            <a:extLst xmlns:a="http://schemas.openxmlformats.org/drawingml/2006/main">
              <a:ext uri="{FF2B5EF4-FFF2-40B4-BE49-F238E27FC236}">
                <a16:creationId xmlns:a16="http://schemas.microsoft.com/office/drawing/2014/main" id="{419A26A5-3D39-4158-8195-5C734A106885}"/>
              </a:ext>
            </a:extLst>
          </p:cNvPr>
          <p:cNvSpPr>
            <a:spLocks xmlns:a="http://schemas.openxmlformats.org/drawingml/2006/main" noGrp="1"/>
          </p:cNvSpPr>
          <p:nvPr/>
        </p:nvSpPr>
        <p:spPr>
          <a:xfrm xmlns:a="http://schemas.openxmlformats.org/drawingml/2006/main">
            <a:off x="10782300" y="6400800"/>
            <a:ext cx="552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0">
                <a:solidFill>
                  <a:srgbClr val="64748B"/>
                </a:solidFill>
                <a:latin typeface="Noto Sans"/>
                <a:ea typeface="Noto Sans"/>
                <a:cs typeface="Noto Sans"/>
              </a:defRPr>
            </a:pPr>
            <a:r>
              <a:rPr sz="900" b="0">
                <a:solidFill>
                  <a:srgbClr val="64748B"/>
                </a:solidFill>
                <a:latin typeface="Noto Sans"/>
                <a:ea typeface="Noto Sans"/>
                <a:cs typeface="Noto Sans"/>
              </a:rPr>
              <a:t>5</a:t>
            </a:r>
          </a:p>
        </p:txBody>
      </p:sp>
    </p:spTree>
    <p:extLst>
      <p:ext uri="{BB962C8B-B14F-4D97-AF65-F5344CB8AC3E}">
        <p14:creationId xmlns:p14="http://schemas.microsoft.com/office/powerpoint/2010/main" val="201897650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89" name="Google Shape;89;p16">
            <a:extLst xmlns:a="http://schemas.openxmlformats.org/drawingml/2006/main">
              <a:ext uri="{FF2B5EF4-FFF2-40B4-BE49-F238E27FC236}">
                <a16:creationId xmlns:a16="http://schemas.microsoft.com/office/drawing/2014/main" id="{7FADE4BE-F9D2-4FD0-8A55-CB2131F46B2D}"/>
              </a:ext>
            </a:extLst>
          </p:cNvPr>
          <p:cNvSpPr>
            <a:spLocks xmlns:a="http://schemas.openxmlformats.org/drawingml/2006/main" noGrp="1"/>
          </p:cNvSpPr>
          <p:nvPr/>
        </p:nvSpPr>
        <p:spPr>
          <a:xfrm xmlns:a="http://schemas.openxmlformats.org/drawingml/2006/main">
            <a:off x="822960" y="566928"/>
            <a:ext cx="566800" cy="566800"/>
          </a:xfrm>
          <a:prstGeom xmlns:a="http://schemas.openxmlformats.org/drawingml/2006/main" prst="ellipse">
            <a:avLst/>
          </a:prstGeom>
          <a:solidFill xmlns:a="http://schemas.openxmlformats.org/drawingml/2006/main">
            <a:srgbClr val="1E3A5F"/>
          </a:solidFill>
          <a:ln xmlns:a="http://schemas.openxmlformats.org/drawingml/2006/main">
            <a:noFill/>
          </a:ln>
        </p:spPr>
        <p:txBody>
          <a:bodyPr xmlns:a="http://schemas.openxmlformats.org/drawingml/2006/main" spcFirstLastPara="1" wrap="square" lIns="91433" tIns="91433" rIns="91433" bIns="91433" anchor="ctr">
            <a:noAutofit/>
          </a:bodyPr>
          <a:lstStyle xmlns:a="http://schemas.openxmlformats.org/drawingml/2006/main"/>
          <a:p xmlns:a="http://schemas.openxmlformats.org/drawingml/2006/main"/>
        </p:txBody>
      </p:sp>
      <p:pic>
        <p:nvPicPr>
          <p:cNvPr id="171" name="Google Shape;90;p16"/>
          <p:cNvPicPr>
            <a:picLocks xmlns:a="http://schemas.openxmlformats.org/drawingml/2006/main" noChangeAspect="1"/>
          </p:cNvPicPr>
          <p:nvPr/>
        </p:nvPicPr>
        <p:blipFill rotWithShape="1">
          <a:blip xmlns:r="http://schemas.openxmlformats.org/officeDocument/2006/relationships" xmlns:a="http://schemas.openxmlformats.org/drawingml/2006/main" r:embed="Rad546378dbcf4263">
            <a:alphaModFix/>
          </a:blip>
          <a:srcRect xmlns:a="http://schemas.openxmlformats.org/drawingml/2006/main" l="0" t="0" r="0" b="0"/>
          <a:stretch xmlns:a="http://schemas.openxmlformats.org/drawingml/2006/main"/>
        </p:blipFill>
        <p:spPr>
          <a:xfrm xmlns:a="http://schemas.openxmlformats.org/drawingml/2006/main">
            <a:off x="970362" y="714330"/>
            <a:ext cx="272124" cy="272124"/>
          </a:xfrm>
          <a:prstGeom xmlns:a="http://schemas.openxmlformats.org/drawingml/2006/main" prst="rect">
            <a:avLst/>
          </a:prstGeom>
          <a:ln xmlns:a="http://schemas.openxmlformats.org/drawingml/2006/main">
            <a:noFill/>
          </a:ln>
        </p:spPr>
      </p:pic>
      <p:sp>
        <p:nvSpPr>
          <p:cNvPr id="91" name="Google Shape;91;p16">
            <a:extLst xmlns:a="http://schemas.openxmlformats.org/drawingml/2006/main">
              <a:ext uri="{FF2B5EF4-FFF2-40B4-BE49-F238E27FC236}">
                <a16:creationId xmlns:a16="http://schemas.microsoft.com/office/drawing/2014/main" id="{563DD3E1-AD03-4C7A-89DB-FCB455B9D0C5}"/>
              </a:ext>
            </a:extLst>
          </p:cNvPr>
          <p:cNvSpPr>
            <a:spLocks xmlns:a="http://schemas.openxmlformats.org/drawingml/2006/main" noGrp="1"/>
          </p:cNvSpPr>
          <p:nvPr/>
        </p:nvSpPr>
        <p:spPr>
          <a:xfrm xmlns:a="http://schemas.openxmlformats.org/drawingml/2006/main">
            <a:off x="1572768" y="548640"/>
            <a:ext cx="8229600" cy="27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a:buNone/>
            </a:pPr>
            <a:r>
              <a:rPr sz="1067" b="1">
                <a:solidFill>
                  <a:srgbClr val="3A6FA5"/>
                </a:solidFill>
                <a:latin typeface="Noto Sans"/>
                <a:ea typeface="Noto Sans"/>
                <a:cs typeface="Noto Sans"/>
              </a:rPr>
              <a:t>SLIDE 6 ｜ 利用者分析</a:t>
            </a:r>
          </a:p>
        </p:txBody>
      </p:sp>
      <p:sp>
        <p:nvSpPr>
          <p:cNvPr id="92" name="Google Shape;92;p16">
            <a:extLst xmlns:a="http://schemas.openxmlformats.org/drawingml/2006/main">
              <a:ext uri="{FF2B5EF4-FFF2-40B4-BE49-F238E27FC236}">
                <a16:creationId xmlns:a16="http://schemas.microsoft.com/office/drawing/2014/main" id="{D19DC2F8-20DB-4243-8038-145A0A0AEFA5}"/>
              </a:ext>
            </a:extLst>
          </p:cNvPr>
          <p:cNvSpPr>
            <a:spLocks xmlns:a="http://schemas.openxmlformats.org/drawingml/2006/main" noGrp="1"/>
          </p:cNvSpPr>
          <p:nvPr/>
        </p:nvSpPr>
        <p:spPr>
          <a:xfrm xmlns:a="http://schemas.openxmlformats.org/drawingml/2006/main">
            <a:off x="1572768" y="822960"/>
            <a:ext cx="9766000" cy="60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a:buNone/>
            </a:pPr>
            <a:r>
              <a:rPr sz="2667" b="1">
                <a:solidFill>
                  <a:srgbClr val="1B2A3A"/>
                </a:solidFill>
                <a:latin typeface="Noto Sans"/>
                <a:ea typeface="Noto Sans"/>
                <a:cs typeface="Noto Sans"/>
              </a:rPr>
              <a:t>ボトルネック解決のための利用者分析</a:t>
            </a:r>
          </a:p>
        </p:txBody>
      </p:sp>
      <p:sp>
        <p:nvSpPr>
          <p:cNvPr id="93" name="Google Shape;93;p16">
            <a:extLst xmlns:a="http://schemas.openxmlformats.org/drawingml/2006/main">
              <a:ext uri="{FF2B5EF4-FFF2-40B4-BE49-F238E27FC236}">
                <a16:creationId xmlns:a16="http://schemas.microsoft.com/office/drawing/2014/main" id="{2811928B-9833-4AD9-8DD4-FE4203C3DD82}"/>
              </a:ext>
            </a:extLst>
          </p:cNvPr>
          <p:cNvSpPr>
            <a:spLocks xmlns:a="http://schemas.openxmlformats.org/drawingml/2006/main" noGrp="1"/>
          </p:cNvSpPr>
          <p:nvPr/>
        </p:nvSpPr>
        <p:spPr>
          <a:xfrm xmlns:a="http://schemas.openxmlformats.org/drawingml/2006/main">
            <a:off x="822960" y="1600200"/>
            <a:ext cx="10515600" cy="749600"/>
          </a:xfrm>
          <a:prstGeom xmlns:a="http://schemas.openxmlformats.org/drawingml/2006/main" prst="roundRect">
            <a:avLst>
              <a:gd name="adj" fmla="val 9756"/>
            </a:avLst>
          </a:prstGeom>
          <a:solidFill xmlns:a="http://schemas.openxmlformats.org/drawingml/2006/main">
            <a:srgbClr val="EAF1F8"/>
          </a:solidFill>
          <a:ln xmlns:a="http://schemas.openxmlformats.org/drawingml/2006/main">
            <a:noFill/>
          </a:ln>
        </p:spPr>
        <p:txBody>
          <a:bodyPr xmlns:a="http://schemas.openxmlformats.org/drawingml/2006/main" spcFirstLastPara="1" wrap="square" lIns="91433" tIns="91433" rIns="91433" bIns="91433" anchor="ctr">
            <a:noAutofit/>
          </a:bodyPr>
          <a:lstStyle xmlns:a="http://schemas.openxmlformats.org/drawingml/2006/main"/>
          <a:p xmlns:a="http://schemas.openxmlformats.org/drawingml/2006/main"/>
        </p:txBody>
      </p:sp>
      <p:sp>
        <p:nvSpPr>
          <p:cNvPr id="94" name="Google Shape;94;p16">
            <a:extLst xmlns:a="http://schemas.openxmlformats.org/drawingml/2006/main">
              <a:ext uri="{FF2B5EF4-FFF2-40B4-BE49-F238E27FC236}">
                <a16:creationId xmlns:a16="http://schemas.microsoft.com/office/drawing/2014/main" id="{E853336F-42A4-42CE-9640-28C813CBBB7D}"/>
              </a:ext>
            </a:extLst>
          </p:cNvPr>
          <p:cNvSpPr>
            <a:spLocks xmlns:a="http://schemas.openxmlformats.org/drawingml/2006/main" noGrp="1"/>
          </p:cNvSpPr>
          <p:nvPr/>
        </p:nvSpPr>
        <p:spPr>
          <a:xfrm xmlns:a="http://schemas.openxmlformats.org/drawingml/2006/main">
            <a:off x="1143000" y="1600200"/>
            <a:ext cx="9875200" cy="74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a:lnSpc>
                <a:spcPct val="110000"/>
              </a:lnSpc>
              <a:buNone/>
            </a:pPr>
            <a:r>
              <a:rPr sz="1333" b="1">
                <a:solidFill>
                  <a:srgbClr val="1E3A5F"/>
                </a:solidFill>
                <a:latin typeface="Noto Sans"/>
                <a:ea typeface="Noto Sans"/>
                <a:cs typeface="Noto Sans"/>
              </a:rPr>
              <a:t>ボトルネックを解決するため、サービス別件数だけでなく、利用者ごとの履歴を時系列で追い、次の利用につながったかを確認した。</a:t>
            </a:r>
          </a:p>
        </p:txBody>
      </p:sp>
      <p:sp>
        <p:nvSpPr>
          <p:cNvPr id="95" name="Google Shape;95;p16">
            <a:extLst xmlns:a="http://schemas.openxmlformats.org/drawingml/2006/main">
              <a:ext uri="{FF2B5EF4-FFF2-40B4-BE49-F238E27FC236}">
                <a16:creationId xmlns:a16="http://schemas.microsoft.com/office/drawing/2014/main" id="{E5BEEC10-FA1A-4218-B381-86666D0CBB8E}"/>
              </a:ext>
            </a:extLst>
          </p:cNvPr>
          <p:cNvSpPr>
            <a:spLocks xmlns:a="http://schemas.openxmlformats.org/drawingml/2006/main" noGrp="1"/>
          </p:cNvSpPr>
          <p:nvPr/>
        </p:nvSpPr>
        <p:spPr>
          <a:xfrm xmlns:a="http://schemas.openxmlformats.org/drawingml/2006/main">
            <a:off x="822960" y="6400800"/>
            <a:ext cx="7315200" cy="27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a:buNone/>
            </a:pPr>
            <a:r>
              <a:rPr sz="933">
                <a:solidFill>
                  <a:srgbClr val="5E7589"/>
                </a:solidFill>
                <a:latin typeface="Noto Sans"/>
                <a:ea typeface="Noto Sans"/>
                <a:cs typeface="Noto Sans"/>
              </a:rPr>
              <a:t>アルボース ｜ 利用率低下分析の報告</a:t>
            </a:r>
          </a:p>
        </p:txBody>
      </p:sp>
      <p:sp>
        <p:nvSpPr>
          <p:cNvPr id="96" name="Google Shape;96;p16">
            <a:extLst xmlns:a="http://schemas.openxmlformats.org/drawingml/2006/main">
              <a:ext uri="{FF2B5EF4-FFF2-40B4-BE49-F238E27FC236}">
                <a16:creationId xmlns:a16="http://schemas.microsoft.com/office/drawing/2014/main" id="{6C11101A-18CD-4B4F-BEA7-7E1AAC851F2F}"/>
              </a:ext>
            </a:extLst>
          </p:cNvPr>
          <p:cNvSpPr>
            <a:spLocks xmlns:a="http://schemas.openxmlformats.org/drawingml/2006/main" noGrp="1"/>
          </p:cNvSpPr>
          <p:nvPr/>
        </p:nvSpPr>
        <p:spPr>
          <a:xfrm xmlns:a="http://schemas.openxmlformats.org/drawingml/2006/main">
            <a:off x="10789920" y="6400800"/>
            <a:ext cx="548800" cy="27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algn="r">
              <a:buNone/>
            </a:pPr>
            <a:r>
              <a:rPr sz="933">
                <a:solidFill>
                  <a:srgbClr val="5E7589"/>
                </a:solidFill>
                <a:latin typeface="Noto Sans"/>
                <a:ea typeface="Noto Sans"/>
                <a:cs typeface="Noto Sans"/>
              </a:rPr>
              <a:t>6</a:t>
            </a:r>
          </a:p>
        </p:txBody>
      </p:sp>
      <p:sp>
        <p:nvSpPr>
          <p:cNvPr id="97" name="Google Shape;97;p16">
            <a:extLst xmlns:a="http://schemas.openxmlformats.org/drawingml/2006/main">
              <a:ext uri="{FF2B5EF4-FFF2-40B4-BE49-F238E27FC236}">
                <a16:creationId xmlns:a16="http://schemas.microsoft.com/office/drawing/2014/main" id="{479BCBD8-0D22-4E19-A2D9-962B6F370D55}"/>
              </a:ext>
            </a:extLst>
          </p:cNvPr>
          <p:cNvSpPr>
            <a:spLocks xmlns:a="http://schemas.openxmlformats.org/drawingml/2006/main" noGrp="1"/>
          </p:cNvSpPr>
          <p:nvPr/>
        </p:nvSpPr>
        <p:spPr>
          <a:xfrm xmlns:a="http://schemas.openxmlformats.org/drawingml/2006/main">
            <a:off x="685800" y="2667000"/>
            <a:ext cx="10820400" cy="3143600"/>
          </a:xfrm>
          <a:prstGeom xmlns:a="http://schemas.openxmlformats.org/drawingml/2006/main" prst="rect">
            <a:avLst/>
          </a:prstGeom>
          <a:solidFill xmlns:a="http://schemas.openxmlformats.org/drawingml/2006/main">
            <a:srgbClr val="FFFFFF"/>
          </a:solidFill>
          <a:ln xmlns:a="http://schemas.openxmlformats.org/drawingml/2006/main" w="7150" cmpd="sng">
            <a:solidFill>
              <a:srgbClr val="FFFFFF"/>
            </a:solidFill>
            <a:prstDash val="solid"/>
          </a:ln>
        </p:spPr>
        <p:txBody>
          <a:bodyPr xmlns:a="http://schemas.openxmlformats.org/drawingml/2006/main" spcFirstLastPara="1" wrap="square" lIns="91433" tIns="91433" rIns="91433" bIns="91433" anchor="ctr">
            <a:noAutofit/>
          </a:bodyPr>
          <a:lstStyle xmlns:a="http://schemas.openxmlformats.org/drawingml/2006/main"/>
          <a:p xmlns:a="http://schemas.openxmlformats.org/drawingml/2006/main"/>
        </p:txBody>
      </p:sp>
      <p:sp>
        <p:nvSpPr>
          <p:cNvPr id="98" name="Google Shape;98;p16">
            <a:extLst xmlns:a="http://schemas.openxmlformats.org/drawingml/2006/main">
              <a:ext uri="{FF2B5EF4-FFF2-40B4-BE49-F238E27FC236}">
                <a16:creationId xmlns:a16="http://schemas.microsoft.com/office/drawing/2014/main" id="{5EDC4CD2-1267-4D43-AD45-8E5A6A72A6FB}"/>
              </a:ext>
            </a:extLst>
          </p:cNvPr>
          <p:cNvSpPr>
            <a:spLocks xmlns:a="http://schemas.openxmlformats.org/drawingml/2006/main" noGrp="1"/>
          </p:cNvSpPr>
          <p:nvPr/>
        </p:nvSpPr>
        <p:spPr>
          <a:xfrm xmlns:a="http://schemas.openxmlformats.org/drawingml/2006/main">
            <a:off x="819151" y="2714625"/>
            <a:ext cx="1048000" cy="228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33" tIns="45700" rIns="91433" bIns="45700" anchor="t">
            <a:noAutofit/>
          </a:bodyPr>
          <a:lstStyle xmlns:a="http://schemas.openxmlformats.org/drawingml/2006/main"/>
          <a:p xmlns:a="http://schemas.openxmlformats.org/drawingml/2006/main">
            <a:r>
              <a:rPr sz="933" b="1">
                <a:solidFill>
                  <a:srgbClr val="3A6FA5"/>
                </a:solidFill>
                <a:latin typeface="Noto Sans"/>
                <a:ea typeface="Noto Sans"/>
                <a:cs typeface="Noto Sans"/>
              </a:rPr>
              <a:t>匿名利用者</a:t>
            </a:r>
          </a:p>
        </p:txBody>
      </p:sp>
      <p:sp>
        <p:nvSpPr>
          <p:cNvPr id="99" name="Google Shape;99;p16">
            <a:extLst xmlns:a="http://schemas.openxmlformats.org/drawingml/2006/main">
              <a:ext uri="{FF2B5EF4-FFF2-40B4-BE49-F238E27FC236}">
                <a16:creationId xmlns:a16="http://schemas.microsoft.com/office/drawing/2014/main" id="{0A6CEC1B-780F-4077-A170-D4A307F2194E}"/>
              </a:ext>
            </a:extLst>
          </p:cNvPr>
          <p:cNvSpPr>
            <a:spLocks xmlns:a="http://schemas.openxmlformats.org/drawingml/2006/main" noGrp="1"/>
          </p:cNvSpPr>
          <p:nvPr/>
        </p:nvSpPr>
        <p:spPr>
          <a:xfrm xmlns:a="http://schemas.openxmlformats.org/drawingml/2006/main">
            <a:off x="2038351" y="2714625"/>
            <a:ext cx="4953200" cy="228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33" tIns="45700" rIns="91433" bIns="45700" anchor="t">
            <a:noAutofit/>
          </a:bodyPr>
          <a:lstStyle xmlns:a="http://schemas.openxmlformats.org/drawingml/2006/main"/>
          <a:p xmlns:a="http://schemas.openxmlformats.org/drawingml/2006/main">
            <a:r>
              <a:rPr sz="933" b="1">
                <a:solidFill>
                  <a:srgbClr val="3A6FA5"/>
                </a:solidFill>
                <a:latin typeface="Noto Sans"/>
                <a:ea typeface="Noto Sans"/>
                <a:cs typeface="Noto Sans"/>
              </a:rPr>
              <a:t>日付つきの利用履歴</a:t>
            </a:r>
          </a:p>
        </p:txBody>
      </p:sp>
      <p:sp>
        <p:nvSpPr>
          <p:cNvPr id="100" name="Google Shape;100;p16">
            <a:extLst xmlns:a="http://schemas.openxmlformats.org/drawingml/2006/main">
              <a:ext uri="{FF2B5EF4-FFF2-40B4-BE49-F238E27FC236}">
                <a16:creationId xmlns:a16="http://schemas.microsoft.com/office/drawing/2014/main" id="{E401B881-9B22-449B-9F51-B93CFF658F8C}"/>
              </a:ext>
            </a:extLst>
          </p:cNvPr>
          <p:cNvSpPr>
            <a:spLocks xmlns:a="http://schemas.openxmlformats.org/drawingml/2006/main" noGrp="1"/>
          </p:cNvSpPr>
          <p:nvPr/>
        </p:nvSpPr>
        <p:spPr>
          <a:xfrm xmlns:a="http://schemas.openxmlformats.org/drawingml/2006/main">
            <a:off x="8620125" y="2714625"/>
            <a:ext cx="2190800" cy="228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33" tIns="45700" rIns="91433" bIns="45700" anchor="t">
            <a:noAutofit/>
          </a:bodyPr>
          <a:lstStyle xmlns:a="http://schemas.openxmlformats.org/drawingml/2006/main"/>
          <a:p xmlns:a="http://schemas.openxmlformats.org/drawingml/2006/main">
            <a:r>
              <a:rPr sz="933" b="1">
                <a:solidFill>
                  <a:srgbClr val="3A6FA5"/>
                </a:solidFill>
                <a:latin typeface="Noto Sans"/>
                <a:ea typeface="Noto Sans"/>
                <a:cs typeface="Noto Sans"/>
              </a:rPr>
              <a:t>分析で見えたこと</a:t>
            </a:r>
          </a:p>
        </p:txBody>
      </p:sp>
      <p:sp>
        <p:nvSpPr>
          <p:cNvPr id="101" name="Google Shape;101;p16">
            <a:extLst xmlns:a="http://schemas.openxmlformats.org/drawingml/2006/main">
              <a:ext uri="{FF2B5EF4-FFF2-40B4-BE49-F238E27FC236}">
                <a16:creationId xmlns:a16="http://schemas.microsoft.com/office/drawing/2014/main" id="{183E7C3F-24E4-44A9-A48A-67CA4DCF799D}"/>
              </a:ext>
            </a:extLst>
          </p:cNvPr>
          <p:cNvSpPr>
            <a:spLocks xmlns:a="http://schemas.openxmlformats.org/drawingml/2006/main" noGrp="1"/>
          </p:cNvSpPr>
          <p:nvPr/>
        </p:nvSpPr>
        <p:spPr>
          <a:xfrm xmlns:a="http://schemas.openxmlformats.org/drawingml/2006/main">
            <a:off x="819151" y="2952751"/>
            <a:ext cx="10515600" cy="514400"/>
          </a:xfrm>
          <a:prstGeom xmlns:a="http://schemas.openxmlformats.org/drawingml/2006/main" prst="roundRect">
            <a:avLst>
              <a:gd name="adj" fmla="val 14815"/>
            </a:avLst>
          </a:prstGeom>
          <a:solidFill xmlns:a="http://schemas.openxmlformats.org/drawingml/2006/main">
            <a:srgbClr val="F8FBFE"/>
          </a:solidFill>
          <a:ln xmlns:a="http://schemas.openxmlformats.org/drawingml/2006/main" w="7150" cmpd="sng">
            <a:solidFill>
              <a:srgbClr val="DCE7F2"/>
            </a:solidFill>
            <a:prstDash val="solid"/>
          </a:ln>
        </p:spPr>
        <p:txBody>
          <a:bodyPr xmlns:a="http://schemas.openxmlformats.org/drawingml/2006/main" spcFirstLastPara="1" wrap="square" lIns="91433" tIns="91433" rIns="91433" bIns="91433" anchor="ctr">
            <a:noAutofit/>
          </a:bodyPr>
          <a:lstStyle xmlns:a="http://schemas.openxmlformats.org/drawingml/2006/main"/>
          <a:p xmlns:a="http://schemas.openxmlformats.org/drawingml/2006/main"/>
        </p:txBody>
      </p:sp>
      <p:sp>
        <p:nvSpPr>
          <p:cNvPr id="102" name="Google Shape;102;p16">
            <a:extLst xmlns:a="http://schemas.openxmlformats.org/drawingml/2006/main">
              <a:ext uri="{FF2B5EF4-FFF2-40B4-BE49-F238E27FC236}">
                <a16:creationId xmlns:a16="http://schemas.microsoft.com/office/drawing/2014/main" id="{FA533C32-0DE6-4F44-9803-E61252EFF952}"/>
              </a:ext>
            </a:extLst>
          </p:cNvPr>
          <p:cNvSpPr>
            <a:spLocks xmlns:a="http://schemas.openxmlformats.org/drawingml/2006/main" noGrp="1"/>
          </p:cNvSpPr>
          <p:nvPr/>
        </p:nvSpPr>
        <p:spPr>
          <a:xfrm xmlns:a="http://schemas.openxmlformats.org/drawingml/2006/main">
            <a:off x="1009651" y="3095625"/>
            <a:ext cx="781200" cy="228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33" tIns="45700" rIns="91433" bIns="45700" anchor="ctr">
            <a:noAutofit/>
          </a:bodyPr>
          <a:lstStyle xmlns:a="http://schemas.openxmlformats.org/drawingml/2006/main"/>
          <a:p xmlns:a="http://schemas.openxmlformats.org/drawingml/2006/main">
            <a:pPr algn="ctr">
              <a:buNone/>
            </a:pPr>
            <a:r>
              <a:rPr sz="1067" b="1">
                <a:solidFill>
                  <a:srgbClr val="1E3A5F"/>
                </a:solidFill>
                <a:latin typeface="Noto Sans"/>
                <a:ea typeface="Noto Sans"/>
                <a:cs typeface="Noto Sans"/>
              </a:rPr>
              <a:t>利用者</a:t>
            </a:r>
            <a:r>
              <a:rPr sz="1067" b="1">
                <a:solidFill>
                  <a:srgbClr val="1E3A5F"/>
                </a:solidFill>
                <a:latin typeface="Noto Sans"/>
                <a:ea typeface="Noto Sans"/>
                <a:cs typeface="Noto Sans"/>
              </a:rPr>
              <a:t>A</a:t>
            </a:r>
          </a:p>
        </p:txBody>
      </p:sp>
      <p:sp>
        <p:nvSpPr>
          <p:cNvPr id="103" name="Google Shape;103;p16">
            <a:extLst xmlns:a="http://schemas.openxmlformats.org/drawingml/2006/main">
              <a:ext uri="{FF2B5EF4-FFF2-40B4-BE49-F238E27FC236}">
                <a16:creationId xmlns:a16="http://schemas.microsoft.com/office/drawing/2014/main" id="{F2A4E04D-CA91-4DEA-AE59-3375FDFA68FF}"/>
              </a:ext>
            </a:extLst>
          </p:cNvPr>
          <p:cNvSpPr>
            <a:spLocks xmlns:a="http://schemas.openxmlformats.org/drawingml/2006/main" noGrp="1"/>
          </p:cNvSpPr>
          <p:nvPr/>
        </p:nvSpPr>
        <p:spPr>
          <a:xfrm xmlns:a="http://schemas.openxmlformats.org/drawingml/2006/main">
            <a:off x="2038351" y="3067051"/>
            <a:ext cx="1409600" cy="286000"/>
          </a:xfrm>
          <a:prstGeom xmlns:a="http://schemas.openxmlformats.org/drawingml/2006/main" prst="roundRect">
            <a:avLst>
              <a:gd name="adj" fmla="val 20000"/>
            </a:avLst>
          </a:prstGeom>
          <a:solidFill xmlns:a="http://schemas.openxmlformats.org/drawingml/2006/main">
            <a:srgbClr val="1E3A5F"/>
          </a:solidFill>
          <a:ln xmlns:a="http://schemas.openxmlformats.org/drawingml/2006/main" w="7150" cmpd="sng">
            <a:solidFill>
              <a:srgbClr val="1E3A5F"/>
            </a:solidFill>
            <a:prstDash val="solid"/>
          </a:ln>
        </p:spPr>
        <p:txBody>
          <a:bodyPr xmlns:a="http://schemas.openxmlformats.org/drawingml/2006/main" spcFirstLastPara="1" wrap="square" lIns="91433" tIns="91433" rIns="91433" bIns="91433" anchor="ctr">
            <a:noAutofit/>
          </a:bodyPr>
          <a:lstStyle xmlns:a="http://schemas.openxmlformats.org/drawingml/2006/main"/>
          <a:p xmlns:a="http://schemas.openxmlformats.org/drawingml/2006/main"/>
        </p:txBody>
      </p:sp>
      <p:sp>
        <p:nvSpPr>
          <p:cNvPr id="104" name="Google Shape;104;p16">
            <a:extLst xmlns:a="http://schemas.openxmlformats.org/drawingml/2006/main">
              <a:ext uri="{FF2B5EF4-FFF2-40B4-BE49-F238E27FC236}">
                <a16:creationId xmlns:a16="http://schemas.microsoft.com/office/drawing/2014/main" id="{82247641-B1A9-4439-9CB2-9C12E3EA2CBA}"/>
              </a:ext>
            </a:extLst>
          </p:cNvPr>
          <p:cNvSpPr>
            <a:spLocks xmlns:a="http://schemas.openxmlformats.org/drawingml/2006/main" noGrp="1"/>
          </p:cNvSpPr>
          <p:nvPr/>
        </p:nvSpPr>
        <p:spPr>
          <a:xfrm xmlns:a="http://schemas.openxmlformats.org/drawingml/2006/main">
            <a:off x="2038351" y="3067051"/>
            <a:ext cx="609600" cy="286000"/>
          </a:xfrm>
          <a:prstGeom xmlns:a="http://schemas.openxmlformats.org/drawingml/2006/main" prst="roundRect">
            <a:avLst>
              <a:gd name="adj" fmla="val 20000"/>
            </a:avLst>
          </a:prstGeom>
          <a:solidFill xmlns:a="http://schemas.openxmlformats.org/drawingml/2006/main">
            <a:srgbClr val="163250"/>
          </a:solidFill>
          <a:ln xmlns:a="http://schemas.openxmlformats.org/drawingml/2006/main" w="7150" cmpd="sng">
            <a:solidFill>
              <a:srgbClr val="163250"/>
            </a:solidFill>
            <a:prstDash val="solid"/>
          </a:ln>
        </p:spPr>
        <p:txBody>
          <a:bodyPr xmlns:a="http://schemas.openxmlformats.org/drawingml/2006/main" spcFirstLastPara="1" wrap="square" lIns="91433" tIns="91433" rIns="91433" bIns="91433" anchor="ctr">
            <a:noAutofit/>
          </a:bodyPr>
          <a:lstStyle xmlns:a="http://schemas.openxmlformats.org/drawingml/2006/main"/>
          <a:p xmlns:a="http://schemas.openxmlformats.org/drawingml/2006/main"/>
        </p:txBody>
      </p:sp>
      <p:sp>
        <p:nvSpPr>
          <p:cNvPr id="105" name="Google Shape;105;p16">
            <a:extLst xmlns:a="http://schemas.openxmlformats.org/drawingml/2006/main">
              <a:ext uri="{FF2B5EF4-FFF2-40B4-BE49-F238E27FC236}">
                <a16:creationId xmlns:a16="http://schemas.microsoft.com/office/drawing/2014/main" id="{866468B8-6DC1-496D-9A6B-78F48C02436C}"/>
              </a:ext>
            </a:extLst>
          </p:cNvPr>
          <p:cNvSpPr>
            <a:spLocks xmlns:a="http://schemas.openxmlformats.org/drawingml/2006/main" noGrp="1"/>
          </p:cNvSpPr>
          <p:nvPr/>
        </p:nvSpPr>
        <p:spPr>
          <a:xfrm xmlns:a="http://schemas.openxmlformats.org/drawingml/2006/main">
            <a:off x="2095500" y="3095625"/>
            <a:ext cx="495200" cy="228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33" tIns="45700" rIns="91433" bIns="45700" anchor="ctr">
            <a:noAutofit/>
          </a:bodyPr>
          <a:lstStyle xmlns:a="http://schemas.openxmlformats.org/drawingml/2006/main"/>
          <a:p xmlns:a="http://schemas.openxmlformats.org/drawingml/2006/main">
            <a:pPr algn="ctr">
              <a:buNone/>
            </a:pPr>
            <a:r>
              <a:rPr sz="933" b="1">
                <a:solidFill>
                  <a:srgbClr val="FFFFFF"/>
                </a:solidFill>
                <a:latin typeface="Noto Sans"/>
                <a:ea typeface="Noto Sans"/>
                <a:cs typeface="Noto Sans"/>
              </a:rPr>
              <a:t>4/12</a:t>
            </a:r>
          </a:p>
        </p:txBody>
      </p:sp>
      <p:sp>
        <p:nvSpPr>
          <p:cNvPr id="106" name="Google Shape;106;p16">
            <a:extLst xmlns:a="http://schemas.openxmlformats.org/drawingml/2006/main">
              <a:ext uri="{FF2B5EF4-FFF2-40B4-BE49-F238E27FC236}">
                <a16:creationId xmlns:a16="http://schemas.microsoft.com/office/drawing/2014/main" id="{2B586C9E-8428-4716-9567-4EA3BC9FF1C6}"/>
              </a:ext>
            </a:extLst>
          </p:cNvPr>
          <p:cNvSpPr>
            <a:spLocks xmlns:a="http://schemas.openxmlformats.org/drawingml/2006/main" noGrp="1"/>
          </p:cNvSpPr>
          <p:nvPr/>
        </p:nvSpPr>
        <p:spPr>
          <a:xfrm xmlns:a="http://schemas.openxmlformats.org/drawingml/2006/main">
            <a:off x="2724151" y="3095625"/>
            <a:ext cx="666800" cy="228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33" tIns="45700" rIns="91433" bIns="45700" anchor="ctr">
            <a:noAutofit/>
          </a:bodyPr>
          <a:lstStyle xmlns:a="http://schemas.openxmlformats.org/drawingml/2006/main"/>
          <a:p xmlns:a="http://schemas.openxmlformats.org/drawingml/2006/main">
            <a:r>
              <a:rPr sz="933" b="1">
                <a:solidFill>
                  <a:srgbClr val="FFFFFF"/>
                </a:solidFill>
                <a:latin typeface="Noto Sans"/>
                <a:ea typeface="Noto Sans"/>
                <a:cs typeface="Noto Sans"/>
              </a:rPr>
              <a:t>デイ利用</a:t>
            </a:r>
          </a:p>
        </p:txBody>
      </p:sp>
      <p:sp>
        <p:nvSpPr>
          <p:cNvPr id="107" name="Google Shape;107;p16">
            <a:extLst xmlns:a="http://schemas.openxmlformats.org/drawingml/2006/main">
              <a:ext uri="{FF2B5EF4-FFF2-40B4-BE49-F238E27FC236}">
                <a16:creationId xmlns:a16="http://schemas.microsoft.com/office/drawing/2014/main" id="{D3EFD31D-91B8-453F-B8E9-C6BD731E8364}"/>
              </a:ext>
            </a:extLst>
          </p:cNvPr>
          <p:cNvSpPr>
            <a:spLocks xmlns:a="http://schemas.openxmlformats.org/drawingml/2006/main" noGrp="1"/>
          </p:cNvSpPr>
          <p:nvPr/>
        </p:nvSpPr>
        <p:spPr>
          <a:xfrm xmlns:a="http://schemas.openxmlformats.org/drawingml/2006/main">
            <a:off x="3467100" y="3057525"/>
            <a:ext cx="266800" cy="28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33" tIns="45700" rIns="91433" bIns="45700" anchor="ctr">
            <a:noAutofit/>
          </a:bodyPr>
          <a:lstStyle xmlns:a="http://schemas.openxmlformats.org/drawingml/2006/main"/>
          <a:p xmlns:a="http://schemas.openxmlformats.org/drawingml/2006/main">
            <a:pPr algn="ctr">
              <a:buNone/>
            </a:pPr>
            <a:r>
              <a:rPr sz="1467" b="1">
                <a:solidFill>
                  <a:srgbClr val="3A6FA5"/>
                </a:solidFill>
                <a:latin typeface="Noto Sans"/>
                <a:ea typeface="Noto Sans"/>
                <a:cs typeface="Noto Sans"/>
              </a:rPr>
              <a:t>→</a:t>
            </a:r>
          </a:p>
        </p:txBody>
      </p:sp>
      <p:sp>
        <p:nvSpPr>
          <p:cNvPr id="108" name="Google Shape;108;p16">
            <a:extLst xmlns:a="http://schemas.openxmlformats.org/drawingml/2006/main">
              <a:ext uri="{FF2B5EF4-FFF2-40B4-BE49-F238E27FC236}">
                <a16:creationId xmlns:a16="http://schemas.microsoft.com/office/drawing/2014/main" id="{DCD4D16D-B831-40C5-B864-4AF20479CF0E}"/>
              </a:ext>
            </a:extLst>
          </p:cNvPr>
          <p:cNvSpPr>
            <a:spLocks xmlns:a="http://schemas.openxmlformats.org/drawingml/2006/main" noGrp="1"/>
          </p:cNvSpPr>
          <p:nvPr/>
        </p:nvSpPr>
        <p:spPr>
          <a:xfrm xmlns:a="http://schemas.openxmlformats.org/drawingml/2006/main">
            <a:off x="3638551" y="3067051"/>
            <a:ext cx="1657600" cy="286000"/>
          </a:xfrm>
          <a:prstGeom xmlns:a="http://schemas.openxmlformats.org/drawingml/2006/main" prst="roundRect">
            <a:avLst>
              <a:gd name="adj" fmla="val 20000"/>
            </a:avLst>
          </a:prstGeom>
          <a:solidFill xmlns:a="http://schemas.openxmlformats.org/drawingml/2006/main">
            <a:srgbClr val="EAF1F8"/>
          </a:solidFill>
          <a:ln xmlns:a="http://schemas.openxmlformats.org/drawingml/2006/main" w="7150" cmpd="sng">
            <a:solidFill>
              <a:srgbClr val="D2DEEA"/>
            </a:solidFill>
            <a:prstDash val="solid"/>
          </a:ln>
        </p:spPr>
        <p:txBody>
          <a:bodyPr xmlns:a="http://schemas.openxmlformats.org/drawingml/2006/main" spcFirstLastPara="1" wrap="square" lIns="91433" tIns="91433" rIns="91433" bIns="91433" anchor="ctr">
            <a:noAutofit/>
          </a:bodyPr>
          <a:lstStyle xmlns:a="http://schemas.openxmlformats.org/drawingml/2006/main"/>
          <a:p xmlns:a="http://schemas.openxmlformats.org/drawingml/2006/main"/>
        </p:txBody>
      </p:sp>
      <p:sp>
        <p:nvSpPr>
          <p:cNvPr id="109" name="Google Shape;109;p16">
            <a:extLst xmlns:a="http://schemas.openxmlformats.org/drawingml/2006/main">
              <a:ext uri="{FF2B5EF4-FFF2-40B4-BE49-F238E27FC236}">
                <a16:creationId xmlns:a16="http://schemas.microsoft.com/office/drawing/2014/main" id="{99B2F16C-6313-455E-9F37-2D3148292D2D}"/>
              </a:ext>
            </a:extLst>
          </p:cNvPr>
          <p:cNvSpPr>
            <a:spLocks xmlns:a="http://schemas.openxmlformats.org/drawingml/2006/main" noGrp="1"/>
          </p:cNvSpPr>
          <p:nvPr/>
        </p:nvSpPr>
        <p:spPr>
          <a:xfrm xmlns:a="http://schemas.openxmlformats.org/drawingml/2006/main">
            <a:off x="3638551" y="3067051"/>
            <a:ext cx="609600" cy="286000"/>
          </a:xfrm>
          <a:prstGeom xmlns:a="http://schemas.openxmlformats.org/drawingml/2006/main" prst="roundRect">
            <a:avLst>
              <a:gd name="adj" fmla="val 20000"/>
            </a:avLst>
          </a:prstGeom>
          <a:solidFill xmlns:a="http://schemas.openxmlformats.org/drawingml/2006/main">
            <a:srgbClr val="1E3A5F"/>
          </a:solidFill>
          <a:ln xmlns:a="http://schemas.openxmlformats.org/drawingml/2006/main" w="7150" cmpd="sng">
            <a:solidFill>
              <a:srgbClr val="1E3A5F"/>
            </a:solidFill>
            <a:prstDash val="solid"/>
          </a:ln>
        </p:spPr>
        <p:txBody>
          <a:bodyPr xmlns:a="http://schemas.openxmlformats.org/drawingml/2006/main" spcFirstLastPara="1" wrap="square" lIns="91433" tIns="91433" rIns="91433" bIns="91433" anchor="ctr">
            <a:noAutofit/>
          </a:bodyPr>
          <a:lstStyle xmlns:a="http://schemas.openxmlformats.org/drawingml/2006/main"/>
          <a:p xmlns:a="http://schemas.openxmlformats.org/drawingml/2006/main"/>
        </p:txBody>
      </p:sp>
      <p:sp>
        <p:nvSpPr>
          <p:cNvPr id="110" name="Google Shape;110;p16">
            <a:extLst xmlns:a="http://schemas.openxmlformats.org/drawingml/2006/main">
              <a:ext uri="{FF2B5EF4-FFF2-40B4-BE49-F238E27FC236}">
                <a16:creationId xmlns:a16="http://schemas.microsoft.com/office/drawing/2014/main" id="{1853AECA-2EFE-4BF3-8525-88BE3A1092DB}"/>
              </a:ext>
            </a:extLst>
          </p:cNvPr>
          <p:cNvSpPr>
            <a:spLocks xmlns:a="http://schemas.openxmlformats.org/drawingml/2006/main" noGrp="1"/>
          </p:cNvSpPr>
          <p:nvPr/>
        </p:nvSpPr>
        <p:spPr>
          <a:xfrm xmlns:a="http://schemas.openxmlformats.org/drawingml/2006/main">
            <a:off x="3695700" y="3095625"/>
            <a:ext cx="495200" cy="228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33" tIns="45700" rIns="91433" bIns="45700" anchor="ctr">
            <a:noAutofit/>
          </a:bodyPr>
          <a:lstStyle xmlns:a="http://schemas.openxmlformats.org/drawingml/2006/main"/>
          <a:p xmlns:a="http://schemas.openxmlformats.org/drawingml/2006/main">
            <a:pPr algn="ctr">
              <a:buNone/>
            </a:pPr>
            <a:r>
              <a:rPr sz="933" b="1">
                <a:solidFill>
                  <a:srgbClr val="FFFFFF"/>
                </a:solidFill>
                <a:latin typeface="Noto Sans"/>
                <a:ea typeface="Noto Sans"/>
                <a:cs typeface="Noto Sans"/>
              </a:rPr>
              <a:t>5/10</a:t>
            </a:r>
          </a:p>
        </p:txBody>
      </p:sp>
      <p:sp>
        <p:nvSpPr>
          <p:cNvPr id="111" name="Google Shape;111;p16">
            <a:extLst xmlns:a="http://schemas.openxmlformats.org/drawingml/2006/main">
              <a:ext uri="{FF2B5EF4-FFF2-40B4-BE49-F238E27FC236}">
                <a16:creationId xmlns:a16="http://schemas.microsoft.com/office/drawing/2014/main" id="{4E11C9FD-FBF6-4535-9B51-94DFEA16AE30}"/>
              </a:ext>
            </a:extLst>
          </p:cNvPr>
          <p:cNvSpPr>
            <a:spLocks xmlns:a="http://schemas.openxmlformats.org/drawingml/2006/main" noGrp="1"/>
          </p:cNvSpPr>
          <p:nvPr/>
        </p:nvSpPr>
        <p:spPr>
          <a:xfrm xmlns:a="http://schemas.openxmlformats.org/drawingml/2006/main">
            <a:off x="4324351" y="3095625"/>
            <a:ext cx="914400" cy="228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33" tIns="45700" rIns="91433" bIns="45700" anchor="ctr">
            <a:noAutofit/>
          </a:bodyPr>
          <a:lstStyle xmlns:a="http://schemas.openxmlformats.org/drawingml/2006/main"/>
          <a:p xmlns:a="http://schemas.openxmlformats.org/drawingml/2006/main">
            <a:r>
              <a:rPr sz="933" b="1">
                <a:solidFill>
                  <a:srgbClr val="1B2A3A"/>
                </a:solidFill>
                <a:latin typeface="Noto Sans"/>
                <a:ea typeface="Noto Sans"/>
                <a:cs typeface="Noto Sans"/>
              </a:rPr>
              <a:t>初回ショート</a:t>
            </a:r>
          </a:p>
        </p:txBody>
      </p:sp>
      <p:sp>
        <p:nvSpPr>
          <p:cNvPr id="112" name="Google Shape;112;p16">
            <a:extLst xmlns:a="http://schemas.openxmlformats.org/drawingml/2006/main">
              <a:ext uri="{FF2B5EF4-FFF2-40B4-BE49-F238E27FC236}">
                <a16:creationId xmlns:a16="http://schemas.microsoft.com/office/drawing/2014/main" id="{E602F2B3-0840-4A27-A502-C8D56FB7DEB9}"/>
              </a:ext>
            </a:extLst>
          </p:cNvPr>
          <p:cNvSpPr>
            <a:spLocks xmlns:a="http://schemas.openxmlformats.org/drawingml/2006/main" noGrp="1"/>
          </p:cNvSpPr>
          <p:nvPr/>
        </p:nvSpPr>
        <p:spPr>
          <a:xfrm xmlns:a="http://schemas.openxmlformats.org/drawingml/2006/main">
            <a:off x="5314951" y="3057525"/>
            <a:ext cx="266800" cy="28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33" tIns="45700" rIns="91433" bIns="45700" anchor="ctr">
            <a:noAutofit/>
          </a:bodyPr>
          <a:lstStyle xmlns:a="http://schemas.openxmlformats.org/drawingml/2006/main"/>
          <a:p xmlns:a="http://schemas.openxmlformats.org/drawingml/2006/main">
            <a:pPr algn="ctr">
              <a:buNone/>
            </a:pPr>
            <a:r>
              <a:rPr sz="1467" b="1">
                <a:solidFill>
                  <a:srgbClr val="3A6FA5"/>
                </a:solidFill>
                <a:latin typeface="Noto Sans"/>
                <a:ea typeface="Noto Sans"/>
                <a:cs typeface="Noto Sans"/>
              </a:rPr>
              <a:t>→</a:t>
            </a:r>
          </a:p>
        </p:txBody>
      </p:sp>
      <p:sp>
        <p:nvSpPr>
          <p:cNvPr id="113" name="Google Shape;113;p16">
            <a:extLst xmlns:a="http://schemas.openxmlformats.org/drawingml/2006/main">
              <a:ext uri="{FF2B5EF4-FFF2-40B4-BE49-F238E27FC236}">
                <a16:creationId xmlns:a16="http://schemas.microsoft.com/office/drawing/2014/main" id="{71AEB997-BF61-408D-8936-4A4DFF134EC1}"/>
              </a:ext>
            </a:extLst>
          </p:cNvPr>
          <p:cNvSpPr>
            <a:spLocks xmlns:a="http://schemas.openxmlformats.org/drawingml/2006/main" noGrp="1"/>
          </p:cNvSpPr>
          <p:nvPr/>
        </p:nvSpPr>
        <p:spPr>
          <a:xfrm xmlns:a="http://schemas.openxmlformats.org/drawingml/2006/main">
            <a:off x="5486400" y="3067051"/>
            <a:ext cx="1752800" cy="286000"/>
          </a:xfrm>
          <a:prstGeom xmlns:a="http://schemas.openxmlformats.org/drawingml/2006/main" prst="roundRect">
            <a:avLst>
              <a:gd name="adj" fmla="val 20000"/>
            </a:avLst>
          </a:prstGeom>
          <a:solidFill xmlns:a="http://schemas.openxmlformats.org/drawingml/2006/main">
            <a:srgbClr val="EAF1F8"/>
          </a:solidFill>
          <a:ln xmlns:a="http://schemas.openxmlformats.org/drawingml/2006/main" w="7150" cmpd="sng">
            <a:solidFill>
              <a:srgbClr val="D2DEEA"/>
            </a:solidFill>
            <a:prstDash val="solid"/>
          </a:ln>
        </p:spPr>
        <p:txBody>
          <a:bodyPr xmlns:a="http://schemas.openxmlformats.org/drawingml/2006/main" spcFirstLastPara="1" wrap="square" lIns="91433" tIns="91433" rIns="91433" bIns="91433" anchor="ctr">
            <a:noAutofit/>
          </a:bodyPr>
          <a:lstStyle xmlns:a="http://schemas.openxmlformats.org/drawingml/2006/main"/>
          <a:p xmlns:a="http://schemas.openxmlformats.org/drawingml/2006/main"/>
        </p:txBody>
      </p:sp>
      <p:sp>
        <p:nvSpPr>
          <p:cNvPr id="114" name="Google Shape;114;p16">
            <a:extLst xmlns:a="http://schemas.openxmlformats.org/drawingml/2006/main">
              <a:ext uri="{FF2B5EF4-FFF2-40B4-BE49-F238E27FC236}">
                <a16:creationId xmlns:a16="http://schemas.microsoft.com/office/drawing/2014/main" id="{C8C9C588-5A1C-4386-A7EA-B8AC46145472}"/>
              </a:ext>
            </a:extLst>
          </p:cNvPr>
          <p:cNvSpPr>
            <a:spLocks xmlns:a="http://schemas.openxmlformats.org/drawingml/2006/main" noGrp="1"/>
          </p:cNvSpPr>
          <p:nvPr/>
        </p:nvSpPr>
        <p:spPr>
          <a:xfrm xmlns:a="http://schemas.openxmlformats.org/drawingml/2006/main">
            <a:off x="5486400" y="3067051"/>
            <a:ext cx="609600" cy="286000"/>
          </a:xfrm>
          <a:prstGeom xmlns:a="http://schemas.openxmlformats.org/drawingml/2006/main" prst="roundRect">
            <a:avLst>
              <a:gd name="adj" fmla="val 20000"/>
            </a:avLst>
          </a:prstGeom>
          <a:solidFill xmlns:a="http://schemas.openxmlformats.org/drawingml/2006/main">
            <a:srgbClr val="1E3A5F"/>
          </a:solidFill>
          <a:ln xmlns:a="http://schemas.openxmlformats.org/drawingml/2006/main" w="7150" cmpd="sng">
            <a:solidFill>
              <a:srgbClr val="1E3A5F"/>
            </a:solidFill>
            <a:prstDash val="solid"/>
          </a:ln>
        </p:spPr>
        <p:txBody>
          <a:bodyPr xmlns:a="http://schemas.openxmlformats.org/drawingml/2006/main" spcFirstLastPara="1" wrap="square" lIns="91433" tIns="91433" rIns="91433" bIns="91433" anchor="ctr">
            <a:noAutofit/>
          </a:bodyPr>
          <a:lstStyle xmlns:a="http://schemas.openxmlformats.org/drawingml/2006/main"/>
          <a:p xmlns:a="http://schemas.openxmlformats.org/drawingml/2006/main"/>
        </p:txBody>
      </p:sp>
      <p:sp>
        <p:nvSpPr>
          <p:cNvPr id="115" name="Google Shape;115;p16">
            <a:extLst xmlns:a="http://schemas.openxmlformats.org/drawingml/2006/main">
              <a:ext uri="{FF2B5EF4-FFF2-40B4-BE49-F238E27FC236}">
                <a16:creationId xmlns:a16="http://schemas.microsoft.com/office/drawing/2014/main" id="{4F35CEDD-99E1-4F16-A17E-2B6DECC627A1}"/>
              </a:ext>
            </a:extLst>
          </p:cNvPr>
          <p:cNvSpPr>
            <a:spLocks xmlns:a="http://schemas.openxmlformats.org/drawingml/2006/main" noGrp="1"/>
          </p:cNvSpPr>
          <p:nvPr/>
        </p:nvSpPr>
        <p:spPr>
          <a:xfrm xmlns:a="http://schemas.openxmlformats.org/drawingml/2006/main">
            <a:off x="5543551" y="3095625"/>
            <a:ext cx="495200" cy="228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33" tIns="45700" rIns="91433" bIns="45700" anchor="ctr">
            <a:noAutofit/>
          </a:bodyPr>
          <a:lstStyle xmlns:a="http://schemas.openxmlformats.org/drawingml/2006/main"/>
          <a:p xmlns:a="http://schemas.openxmlformats.org/drawingml/2006/main">
            <a:pPr algn="ctr">
              <a:buNone/>
            </a:pPr>
            <a:r>
              <a:rPr sz="933" b="1">
                <a:solidFill>
                  <a:srgbClr val="FFFFFF"/>
                </a:solidFill>
                <a:latin typeface="Noto Sans"/>
                <a:ea typeface="Noto Sans"/>
                <a:cs typeface="Noto Sans"/>
              </a:rPr>
              <a:t>5/24</a:t>
            </a:r>
          </a:p>
        </p:txBody>
      </p:sp>
      <p:sp>
        <p:nvSpPr>
          <p:cNvPr id="116" name="Google Shape;116;p16">
            <a:extLst xmlns:a="http://schemas.openxmlformats.org/drawingml/2006/main">
              <a:ext uri="{FF2B5EF4-FFF2-40B4-BE49-F238E27FC236}">
                <a16:creationId xmlns:a16="http://schemas.microsoft.com/office/drawing/2014/main" id="{2087DD40-70DA-4FE6-B286-E53EF7258490}"/>
              </a:ext>
            </a:extLst>
          </p:cNvPr>
          <p:cNvSpPr>
            <a:spLocks xmlns:a="http://schemas.openxmlformats.org/drawingml/2006/main" noGrp="1"/>
          </p:cNvSpPr>
          <p:nvPr/>
        </p:nvSpPr>
        <p:spPr>
          <a:xfrm xmlns:a="http://schemas.openxmlformats.org/drawingml/2006/main">
            <a:off x="6172200" y="3095625"/>
            <a:ext cx="1010000" cy="228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33" tIns="45700" rIns="91433" bIns="45700" anchor="ctr">
            <a:noAutofit/>
          </a:bodyPr>
          <a:lstStyle xmlns:a="http://schemas.openxmlformats.org/drawingml/2006/main"/>
          <a:p xmlns:a="http://schemas.openxmlformats.org/drawingml/2006/main">
            <a:r>
              <a:rPr sz="933" b="1">
                <a:solidFill>
                  <a:srgbClr val="1B2A3A"/>
                </a:solidFill>
                <a:latin typeface="Noto Sans"/>
                <a:ea typeface="Noto Sans"/>
                <a:cs typeface="Noto Sans"/>
              </a:rPr>
              <a:t>ショート再利用</a:t>
            </a:r>
          </a:p>
        </p:txBody>
      </p:sp>
      <p:sp>
        <p:nvSpPr>
          <p:cNvPr id="117" name="Google Shape;117;p16">
            <a:extLst xmlns:a="http://schemas.openxmlformats.org/drawingml/2006/main">
              <a:ext uri="{FF2B5EF4-FFF2-40B4-BE49-F238E27FC236}">
                <a16:creationId xmlns:a16="http://schemas.microsoft.com/office/drawing/2014/main" id="{3F8F0679-8A89-4EE3-A8E0-86FDF14093D2}"/>
              </a:ext>
            </a:extLst>
          </p:cNvPr>
          <p:cNvSpPr>
            <a:spLocks xmlns:a="http://schemas.openxmlformats.org/drawingml/2006/main" noGrp="1"/>
          </p:cNvSpPr>
          <p:nvPr/>
        </p:nvSpPr>
        <p:spPr>
          <a:xfrm xmlns:a="http://schemas.openxmlformats.org/drawingml/2006/main">
            <a:off x="8477251" y="3019425"/>
            <a:ext cx="2666800" cy="381200"/>
          </a:xfrm>
          <a:prstGeom xmlns:a="http://schemas.openxmlformats.org/drawingml/2006/main" prst="roundRect">
            <a:avLst>
              <a:gd name="adj" fmla="val 20000"/>
            </a:avLst>
          </a:prstGeom>
          <a:solidFill xmlns:a="http://schemas.openxmlformats.org/drawingml/2006/main">
            <a:srgbClr val="1E3A5F"/>
          </a:solidFill>
          <a:ln xmlns:a="http://schemas.openxmlformats.org/drawingml/2006/main" w="7150" cmpd="sng">
            <a:solidFill>
              <a:srgbClr val="1E3A5F"/>
            </a:solidFill>
            <a:prstDash val="solid"/>
          </a:ln>
        </p:spPr>
        <p:txBody>
          <a:bodyPr xmlns:a="http://schemas.openxmlformats.org/drawingml/2006/main" spcFirstLastPara="1" wrap="square" lIns="91433" tIns="91433" rIns="91433" bIns="91433" anchor="ctr">
            <a:noAutofit/>
          </a:bodyPr>
          <a:lstStyle xmlns:a="http://schemas.openxmlformats.org/drawingml/2006/main"/>
          <a:p xmlns:a="http://schemas.openxmlformats.org/drawingml/2006/main"/>
        </p:txBody>
      </p:sp>
      <p:sp>
        <p:nvSpPr>
          <p:cNvPr id="118" name="Google Shape;118;p16">
            <a:extLst xmlns:a="http://schemas.openxmlformats.org/drawingml/2006/main">
              <a:ext uri="{FF2B5EF4-FFF2-40B4-BE49-F238E27FC236}">
                <a16:creationId xmlns:a16="http://schemas.microsoft.com/office/drawing/2014/main" id="{C37CE845-98BE-4150-8F42-D78EAB247CAB}"/>
              </a:ext>
            </a:extLst>
          </p:cNvPr>
          <p:cNvSpPr>
            <a:spLocks xmlns:a="http://schemas.openxmlformats.org/drawingml/2006/main" noGrp="1"/>
          </p:cNvSpPr>
          <p:nvPr/>
        </p:nvSpPr>
        <p:spPr>
          <a:xfrm xmlns:a="http://schemas.openxmlformats.org/drawingml/2006/main">
            <a:off x="8629651" y="3076575"/>
            <a:ext cx="2362400" cy="26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33" tIns="45700" rIns="91433" bIns="45700" anchor="ctr">
            <a:noAutofit/>
          </a:bodyPr>
          <a:lstStyle xmlns:a="http://schemas.openxmlformats.org/drawingml/2006/main"/>
          <a:p xmlns:a="http://schemas.openxmlformats.org/drawingml/2006/main">
            <a:pPr algn="ctr">
              <a:buNone/>
            </a:pPr>
            <a:r>
              <a:rPr sz="933" b="1">
                <a:solidFill>
                  <a:srgbClr val="FFFFFF"/>
                </a:solidFill>
                <a:latin typeface="Noto Sans"/>
                <a:ea typeface="Noto Sans"/>
                <a:cs typeface="Noto Sans"/>
              </a:rPr>
              <a:t>再利用につながっている</a:t>
            </a:r>
          </a:p>
        </p:txBody>
      </p:sp>
      <p:sp>
        <p:nvSpPr>
          <p:cNvPr id="119" name="Google Shape;119;p16">
            <a:extLst xmlns:a="http://schemas.openxmlformats.org/drawingml/2006/main">
              <a:ext uri="{FF2B5EF4-FFF2-40B4-BE49-F238E27FC236}">
                <a16:creationId xmlns:a16="http://schemas.microsoft.com/office/drawing/2014/main" id="{DB5E7186-6CB5-4E2A-B9C5-506AEC245221}"/>
              </a:ext>
            </a:extLst>
          </p:cNvPr>
          <p:cNvSpPr>
            <a:spLocks xmlns:a="http://schemas.openxmlformats.org/drawingml/2006/main" noGrp="1"/>
          </p:cNvSpPr>
          <p:nvPr/>
        </p:nvSpPr>
        <p:spPr>
          <a:xfrm xmlns:a="http://schemas.openxmlformats.org/drawingml/2006/main">
            <a:off x="819151" y="3581400"/>
            <a:ext cx="10515600" cy="514400"/>
          </a:xfrm>
          <a:prstGeom xmlns:a="http://schemas.openxmlformats.org/drawingml/2006/main" prst="roundRect">
            <a:avLst>
              <a:gd name="adj" fmla="val 14815"/>
            </a:avLst>
          </a:prstGeom>
          <a:solidFill xmlns:a="http://schemas.openxmlformats.org/drawingml/2006/main">
            <a:srgbClr val="F8FBFE"/>
          </a:solidFill>
          <a:ln xmlns:a="http://schemas.openxmlformats.org/drawingml/2006/main" w="7150" cmpd="sng">
            <a:solidFill>
              <a:srgbClr val="DCE7F2"/>
            </a:solidFill>
            <a:prstDash val="solid"/>
          </a:ln>
        </p:spPr>
        <p:txBody>
          <a:bodyPr xmlns:a="http://schemas.openxmlformats.org/drawingml/2006/main" spcFirstLastPara="1" wrap="square" lIns="91433" tIns="91433" rIns="91433" bIns="91433" anchor="ctr">
            <a:noAutofit/>
          </a:bodyPr>
          <a:lstStyle xmlns:a="http://schemas.openxmlformats.org/drawingml/2006/main"/>
          <a:p xmlns:a="http://schemas.openxmlformats.org/drawingml/2006/main"/>
        </p:txBody>
      </p:sp>
      <p:sp>
        <p:nvSpPr>
          <p:cNvPr id="120" name="Google Shape;120;p16">
            <a:extLst xmlns:a="http://schemas.openxmlformats.org/drawingml/2006/main">
              <a:ext uri="{FF2B5EF4-FFF2-40B4-BE49-F238E27FC236}">
                <a16:creationId xmlns:a16="http://schemas.microsoft.com/office/drawing/2014/main" id="{41F22625-1D63-4013-BFEE-CCEAACA94F2C}"/>
              </a:ext>
            </a:extLst>
          </p:cNvPr>
          <p:cNvSpPr>
            <a:spLocks xmlns:a="http://schemas.openxmlformats.org/drawingml/2006/main" noGrp="1"/>
          </p:cNvSpPr>
          <p:nvPr/>
        </p:nvSpPr>
        <p:spPr>
          <a:xfrm xmlns:a="http://schemas.openxmlformats.org/drawingml/2006/main">
            <a:off x="1009651" y="3724275"/>
            <a:ext cx="781200" cy="228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33" tIns="45700" rIns="91433" bIns="45700" anchor="ctr">
            <a:noAutofit/>
          </a:bodyPr>
          <a:lstStyle xmlns:a="http://schemas.openxmlformats.org/drawingml/2006/main"/>
          <a:p xmlns:a="http://schemas.openxmlformats.org/drawingml/2006/main">
            <a:pPr algn="ctr">
              <a:buNone/>
            </a:pPr>
            <a:r>
              <a:rPr sz="1067" b="1">
                <a:solidFill>
                  <a:srgbClr val="1E3A5F"/>
                </a:solidFill>
                <a:latin typeface="Noto Sans"/>
                <a:ea typeface="Noto Sans"/>
                <a:cs typeface="Noto Sans"/>
              </a:rPr>
              <a:t>利用者</a:t>
            </a:r>
            <a:r>
              <a:rPr sz="1067" b="1">
                <a:solidFill>
                  <a:srgbClr val="1E3A5F"/>
                </a:solidFill>
                <a:latin typeface="Noto Sans"/>
                <a:ea typeface="Noto Sans"/>
                <a:cs typeface="Noto Sans"/>
              </a:rPr>
              <a:t>B</a:t>
            </a:r>
          </a:p>
        </p:txBody>
      </p:sp>
      <p:sp>
        <p:nvSpPr>
          <p:cNvPr id="121" name="Google Shape;121;p16">
            <a:extLst xmlns:a="http://schemas.openxmlformats.org/drawingml/2006/main">
              <a:ext uri="{FF2B5EF4-FFF2-40B4-BE49-F238E27FC236}">
                <a16:creationId xmlns:a16="http://schemas.microsoft.com/office/drawing/2014/main" id="{7CE4D821-ABDC-4613-9F23-A43E2D066C60}"/>
              </a:ext>
            </a:extLst>
          </p:cNvPr>
          <p:cNvSpPr>
            <a:spLocks xmlns:a="http://schemas.openxmlformats.org/drawingml/2006/main" noGrp="1"/>
          </p:cNvSpPr>
          <p:nvPr/>
        </p:nvSpPr>
        <p:spPr>
          <a:xfrm xmlns:a="http://schemas.openxmlformats.org/drawingml/2006/main">
            <a:off x="2038351" y="3695700"/>
            <a:ext cx="1409600" cy="286000"/>
          </a:xfrm>
          <a:prstGeom xmlns:a="http://schemas.openxmlformats.org/drawingml/2006/main" prst="roundRect">
            <a:avLst>
              <a:gd name="adj" fmla="val 20000"/>
            </a:avLst>
          </a:prstGeom>
          <a:solidFill xmlns:a="http://schemas.openxmlformats.org/drawingml/2006/main">
            <a:srgbClr val="EAF1F8"/>
          </a:solidFill>
          <a:ln xmlns:a="http://schemas.openxmlformats.org/drawingml/2006/main" w="7150" cmpd="sng">
            <a:solidFill>
              <a:srgbClr val="D2DEEA"/>
            </a:solidFill>
            <a:prstDash val="solid"/>
          </a:ln>
        </p:spPr>
        <p:txBody>
          <a:bodyPr xmlns:a="http://schemas.openxmlformats.org/drawingml/2006/main" spcFirstLastPara="1" wrap="square" lIns="91433" tIns="91433" rIns="91433" bIns="91433" anchor="ctr">
            <a:noAutofit/>
          </a:bodyPr>
          <a:lstStyle xmlns:a="http://schemas.openxmlformats.org/drawingml/2006/main"/>
          <a:p xmlns:a="http://schemas.openxmlformats.org/drawingml/2006/main"/>
        </p:txBody>
      </p:sp>
      <p:sp>
        <p:nvSpPr>
          <p:cNvPr id="122" name="Google Shape;122;p16">
            <a:extLst xmlns:a="http://schemas.openxmlformats.org/drawingml/2006/main">
              <a:ext uri="{FF2B5EF4-FFF2-40B4-BE49-F238E27FC236}">
                <a16:creationId xmlns:a16="http://schemas.microsoft.com/office/drawing/2014/main" id="{6F1717E3-3D95-4E59-B1B2-123F44EBD8D7}"/>
              </a:ext>
            </a:extLst>
          </p:cNvPr>
          <p:cNvSpPr>
            <a:spLocks xmlns:a="http://schemas.openxmlformats.org/drawingml/2006/main" noGrp="1"/>
          </p:cNvSpPr>
          <p:nvPr/>
        </p:nvSpPr>
        <p:spPr>
          <a:xfrm xmlns:a="http://schemas.openxmlformats.org/drawingml/2006/main">
            <a:off x="2038351" y="3695700"/>
            <a:ext cx="609600" cy="286000"/>
          </a:xfrm>
          <a:prstGeom xmlns:a="http://schemas.openxmlformats.org/drawingml/2006/main" prst="roundRect">
            <a:avLst>
              <a:gd name="adj" fmla="val 20000"/>
            </a:avLst>
          </a:prstGeom>
          <a:solidFill xmlns:a="http://schemas.openxmlformats.org/drawingml/2006/main">
            <a:srgbClr val="1E3A5F"/>
          </a:solidFill>
          <a:ln xmlns:a="http://schemas.openxmlformats.org/drawingml/2006/main" w="7150" cmpd="sng">
            <a:solidFill>
              <a:srgbClr val="1E3A5F"/>
            </a:solidFill>
            <a:prstDash val="solid"/>
          </a:ln>
        </p:spPr>
        <p:txBody>
          <a:bodyPr xmlns:a="http://schemas.openxmlformats.org/drawingml/2006/main" spcFirstLastPara="1" wrap="square" lIns="91433" tIns="91433" rIns="91433" bIns="91433" anchor="ctr">
            <a:noAutofit/>
          </a:bodyPr>
          <a:lstStyle xmlns:a="http://schemas.openxmlformats.org/drawingml/2006/main"/>
          <a:p xmlns:a="http://schemas.openxmlformats.org/drawingml/2006/main"/>
        </p:txBody>
      </p:sp>
      <p:sp>
        <p:nvSpPr>
          <p:cNvPr id="123" name="Google Shape;123;p16">
            <a:extLst xmlns:a="http://schemas.openxmlformats.org/drawingml/2006/main">
              <a:ext uri="{FF2B5EF4-FFF2-40B4-BE49-F238E27FC236}">
                <a16:creationId xmlns:a16="http://schemas.microsoft.com/office/drawing/2014/main" id="{804CE187-A077-4AC0-A0AC-426671F7B697}"/>
              </a:ext>
            </a:extLst>
          </p:cNvPr>
          <p:cNvSpPr>
            <a:spLocks xmlns:a="http://schemas.openxmlformats.org/drawingml/2006/main" noGrp="1"/>
          </p:cNvSpPr>
          <p:nvPr/>
        </p:nvSpPr>
        <p:spPr>
          <a:xfrm xmlns:a="http://schemas.openxmlformats.org/drawingml/2006/main">
            <a:off x="2095500" y="3724275"/>
            <a:ext cx="495200" cy="228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33" tIns="45700" rIns="91433" bIns="45700" anchor="ctr">
            <a:noAutofit/>
          </a:bodyPr>
          <a:lstStyle xmlns:a="http://schemas.openxmlformats.org/drawingml/2006/main"/>
          <a:p xmlns:a="http://schemas.openxmlformats.org/drawingml/2006/main">
            <a:pPr algn="ctr">
              <a:buNone/>
            </a:pPr>
            <a:r>
              <a:rPr sz="933" b="1">
                <a:solidFill>
                  <a:srgbClr val="FFFFFF"/>
                </a:solidFill>
                <a:latin typeface="Noto Sans"/>
                <a:ea typeface="Noto Sans"/>
                <a:cs typeface="Noto Sans"/>
              </a:rPr>
              <a:t>4/18</a:t>
            </a:r>
          </a:p>
        </p:txBody>
      </p:sp>
      <p:sp>
        <p:nvSpPr>
          <p:cNvPr id="124" name="Google Shape;124;p16">
            <a:extLst xmlns:a="http://schemas.openxmlformats.org/drawingml/2006/main">
              <a:ext uri="{FF2B5EF4-FFF2-40B4-BE49-F238E27FC236}">
                <a16:creationId xmlns:a16="http://schemas.microsoft.com/office/drawing/2014/main" id="{26B10FA0-6AFF-4F3F-9621-CC3D1A7902CE}"/>
              </a:ext>
            </a:extLst>
          </p:cNvPr>
          <p:cNvSpPr>
            <a:spLocks xmlns:a="http://schemas.openxmlformats.org/drawingml/2006/main" noGrp="1"/>
          </p:cNvSpPr>
          <p:nvPr/>
        </p:nvSpPr>
        <p:spPr>
          <a:xfrm xmlns:a="http://schemas.openxmlformats.org/drawingml/2006/main">
            <a:off x="2724151" y="3724275"/>
            <a:ext cx="666800" cy="228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33" tIns="45700" rIns="91433" bIns="45700" anchor="ctr">
            <a:noAutofit/>
          </a:bodyPr>
          <a:lstStyle xmlns:a="http://schemas.openxmlformats.org/drawingml/2006/main"/>
          <a:p xmlns:a="http://schemas.openxmlformats.org/drawingml/2006/main">
            <a:r>
              <a:rPr sz="933" b="1">
                <a:solidFill>
                  <a:srgbClr val="1B2A3A"/>
                </a:solidFill>
                <a:latin typeface="Noto Sans"/>
                <a:ea typeface="Noto Sans"/>
                <a:cs typeface="Noto Sans"/>
              </a:rPr>
              <a:t>デイ利用</a:t>
            </a:r>
          </a:p>
        </p:txBody>
      </p:sp>
      <p:sp>
        <p:nvSpPr>
          <p:cNvPr id="125" name="Google Shape;125;p16">
            <a:extLst xmlns:a="http://schemas.openxmlformats.org/drawingml/2006/main">
              <a:ext uri="{FF2B5EF4-FFF2-40B4-BE49-F238E27FC236}">
                <a16:creationId xmlns:a16="http://schemas.microsoft.com/office/drawing/2014/main" id="{6A5986C3-E1E1-4104-B307-00FD1FC12233}"/>
              </a:ext>
            </a:extLst>
          </p:cNvPr>
          <p:cNvSpPr>
            <a:spLocks xmlns:a="http://schemas.openxmlformats.org/drawingml/2006/main" noGrp="1"/>
          </p:cNvSpPr>
          <p:nvPr/>
        </p:nvSpPr>
        <p:spPr>
          <a:xfrm xmlns:a="http://schemas.openxmlformats.org/drawingml/2006/main">
            <a:off x="3467100" y="3686175"/>
            <a:ext cx="266800" cy="28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33" tIns="45700" rIns="91433" bIns="45700" anchor="ctr">
            <a:noAutofit/>
          </a:bodyPr>
          <a:lstStyle xmlns:a="http://schemas.openxmlformats.org/drawingml/2006/main"/>
          <a:p xmlns:a="http://schemas.openxmlformats.org/drawingml/2006/main">
            <a:pPr algn="ctr">
              <a:buNone/>
            </a:pPr>
            <a:r>
              <a:rPr sz="1467" b="1">
                <a:solidFill>
                  <a:srgbClr val="3A6FA5"/>
                </a:solidFill>
                <a:latin typeface="Noto Sans"/>
                <a:ea typeface="Noto Sans"/>
                <a:cs typeface="Noto Sans"/>
              </a:rPr>
              <a:t>→</a:t>
            </a:r>
          </a:p>
        </p:txBody>
      </p:sp>
      <p:sp>
        <p:nvSpPr>
          <p:cNvPr id="126" name="Google Shape;126;p16">
            <a:extLst xmlns:a="http://schemas.openxmlformats.org/drawingml/2006/main">
              <a:ext uri="{FF2B5EF4-FFF2-40B4-BE49-F238E27FC236}">
                <a16:creationId xmlns:a16="http://schemas.microsoft.com/office/drawing/2014/main" id="{39A0E036-5418-424E-80A7-1024E945D0B8}"/>
              </a:ext>
            </a:extLst>
          </p:cNvPr>
          <p:cNvSpPr>
            <a:spLocks xmlns:a="http://schemas.openxmlformats.org/drawingml/2006/main" noGrp="1"/>
          </p:cNvSpPr>
          <p:nvPr/>
        </p:nvSpPr>
        <p:spPr>
          <a:xfrm xmlns:a="http://schemas.openxmlformats.org/drawingml/2006/main">
            <a:off x="3638551" y="3695700"/>
            <a:ext cx="1409600" cy="286000"/>
          </a:xfrm>
          <a:prstGeom xmlns:a="http://schemas.openxmlformats.org/drawingml/2006/main" prst="roundRect">
            <a:avLst>
              <a:gd name="adj" fmla="val 20000"/>
            </a:avLst>
          </a:prstGeom>
          <a:solidFill xmlns:a="http://schemas.openxmlformats.org/drawingml/2006/main">
            <a:srgbClr val="EAF1F8"/>
          </a:solidFill>
          <a:ln xmlns:a="http://schemas.openxmlformats.org/drawingml/2006/main" w="7150" cmpd="sng">
            <a:solidFill>
              <a:srgbClr val="D2DEEA"/>
            </a:solidFill>
            <a:prstDash val="solid"/>
          </a:ln>
        </p:spPr>
        <p:txBody>
          <a:bodyPr xmlns:a="http://schemas.openxmlformats.org/drawingml/2006/main" spcFirstLastPara="1" wrap="square" lIns="91433" tIns="91433" rIns="91433" bIns="91433" anchor="ctr">
            <a:noAutofit/>
          </a:bodyPr>
          <a:lstStyle xmlns:a="http://schemas.openxmlformats.org/drawingml/2006/main"/>
          <a:p xmlns:a="http://schemas.openxmlformats.org/drawingml/2006/main"/>
        </p:txBody>
      </p:sp>
      <p:sp>
        <p:nvSpPr>
          <p:cNvPr id="127" name="Google Shape;127;p16">
            <a:extLst xmlns:a="http://schemas.openxmlformats.org/drawingml/2006/main">
              <a:ext uri="{FF2B5EF4-FFF2-40B4-BE49-F238E27FC236}">
                <a16:creationId xmlns:a16="http://schemas.microsoft.com/office/drawing/2014/main" id="{50234E17-9BD5-47E3-AC81-2A773E667F3C}"/>
              </a:ext>
            </a:extLst>
          </p:cNvPr>
          <p:cNvSpPr>
            <a:spLocks xmlns:a="http://schemas.openxmlformats.org/drawingml/2006/main" noGrp="1"/>
          </p:cNvSpPr>
          <p:nvPr/>
        </p:nvSpPr>
        <p:spPr>
          <a:xfrm xmlns:a="http://schemas.openxmlformats.org/drawingml/2006/main">
            <a:off x="3638551" y="3695700"/>
            <a:ext cx="609600" cy="286000"/>
          </a:xfrm>
          <a:prstGeom xmlns:a="http://schemas.openxmlformats.org/drawingml/2006/main" prst="roundRect">
            <a:avLst>
              <a:gd name="adj" fmla="val 20000"/>
            </a:avLst>
          </a:prstGeom>
          <a:solidFill xmlns:a="http://schemas.openxmlformats.org/drawingml/2006/main">
            <a:srgbClr val="1E3A5F"/>
          </a:solidFill>
          <a:ln xmlns:a="http://schemas.openxmlformats.org/drawingml/2006/main" w="7150" cmpd="sng">
            <a:solidFill>
              <a:srgbClr val="1E3A5F"/>
            </a:solidFill>
            <a:prstDash val="solid"/>
          </a:ln>
        </p:spPr>
        <p:txBody>
          <a:bodyPr xmlns:a="http://schemas.openxmlformats.org/drawingml/2006/main" spcFirstLastPara="1" wrap="square" lIns="91433" tIns="91433" rIns="91433" bIns="91433" anchor="ctr">
            <a:noAutofit/>
          </a:bodyPr>
          <a:lstStyle xmlns:a="http://schemas.openxmlformats.org/drawingml/2006/main"/>
          <a:p xmlns:a="http://schemas.openxmlformats.org/drawingml/2006/main"/>
        </p:txBody>
      </p:sp>
      <p:sp>
        <p:nvSpPr>
          <p:cNvPr id="128" name="Google Shape;128;p16">
            <a:extLst xmlns:a="http://schemas.openxmlformats.org/drawingml/2006/main">
              <a:ext uri="{FF2B5EF4-FFF2-40B4-BE49-F238E27FC236}">
                <a16:creationId xmlns:a16="http://schemas.microsoft.com/office/drawing/2014/main" id="{CF622744-5ED3-44A7-9584-93CB86A91B26}"/>
              </a:ext>
            </a:extLst>
          </p:cNvPr>
          <p:cNvSpPr>
            <a:spLocks xmlns:a="http://schemas.openxmlformats.org/drawingml/2006/main" noGrp="1"/>
          </p:cNvSpPr>
          <p:nvPr/>
        </p:nvSpPr>
        <p:spPr>
          <a:xfrm xmlns:a="http://schemas.openxmlformats.org/drawingml/2006/main">
            <a:off x="3695700" y="3724275"/>
            <a:ext cx="495200" cy="228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33" tIns="45700" rIns="91433" bIns="45700" anchor="ctr">
            <a:noAutofit/>
          </a:bodyPr>
          <a:lstStyle xmlns:a="http://schemas.openxmlformats.org/drawingml/2006/main"/>
          <a:p xmlns:a="http://schemas.openxmlformats.org/drawingml/2006/main">
            <a:pPr algn="ctr">
              <a:buNone/>
            </a:pPr>
            <a:r>
              <a:rPr sz="933" b="1">
                <a:solidFill>
                  <a:srgbClr val="FFFFFF"/>
                </a:solidFill>
                <a:latin typeface="Noto Sans"/>
                <a:ea typeface="Noto Sans"/>
                <a:cs typeface="Noto Sans"/>
              </a:rPr>
              <a:t>5/02</a:t>
            </a:r>
          </a:p>
        </p:txBody>
      </p:sp>
      <p:sp>
        <p:nvSpPr>
          <p:cNvPr id="129" name="Google Shape;129;p16">
            <a:extLst xmlns:a="http://schemas.openxmlformats.org/drawingml/2006/main">
              <a:ext uri="{FF2B5EF4-FFF2-40B4-BE49-F238E27FC236}">
                <a16:creationId xmlns:a16="http://schemas.microsoft.com/office/drawing/2014/main" id="{955908E1-29DE-4C1E-9961-C28DE77F4B68}"/>
              </a:ext>
            </a:extLst>
          </p:cNvPr>
          <p:cNvSpPr>
            <a:spLocks xmlns:a="http://schemas.openxmlformats.org/drawingml/2006/main" noGrp="1"/>
          </p:cNvSpPr>
          <p:nvPr/>
        </p:nvSpPr>
        <p:spPr>
          <a:xfrm xmlns:a="http://schemas.openxmlformats.org/drawingml/2006/main">
            <a:off x="4324351" y="3724275"/>
            <a:ext cx="666800" cy="228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33" tIns="45700" rIns="91433" bIns="45700" anchor="ctr">
            <a:noAutofit/>
          </a:bodyPr>
          <a:lstStyle xmlns:a="http://schemas.openxmlformats.org/drawingml/2006/main"/>
          <a:p xmlns:a="http://schemas.openxmlformats.org/drawingml/2006/main">
            <a:r>
              <a:rPr sz="933" b="1">
                <a:solidFill>
                  <a:srgbClr val="1B2A3A"/>
                </a:solidFill>
                <a:latin typeface="Noto Sans"/>
                <a:ea typeface="Noto Sans"/>
                <a:cs typeface="Noto Sans"/>
              </a:rPr>
              <a:t>デイ利用</a:t>
            </a:r>
          </a:p>
        </p:txBody>
      </p:sp>
      <p:sp>
        <p:nvSpPr>
          <p:cNvPr id="130" name="Google Shape;130;p16">
            <a:extLst xmlns:a="http://schemas.openxmlformats.org/drawingml/2006/main">
              <a:ext uri="{FF2B5EF4-FFF2-40B4-BE49-F238E27FC236}">
                <a16:creationId xmlns:a16="http://schemas.microsoft.com/office/drawing/2014/main" id="{C89A3AE5-0A62-49C0-B467-3615833BBDFA}"/>
              </a:ext>
            </a:extLst>
          </p:cNvPr>
          <p:cNvSpPr>
            <a:spLocks xmlns:a="http://schemas.openxmlformats.org/drawingml/2006/main" noGrp="1"/>
          </p:cNvSpPr>
          <p:nvPr/>
        </p:nvSpPr>
        <p:spPr>
          <a:xfrm xmlns:a="http://schemas.openxmlformats.org/drawingml/2006/main">
            <a:off x="5067300" y="3686175"/>
            <a:ext cx="266800" cy="28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33" tIns="45700" rIns="91433" bIns="45700" anchor="ctr">
            <a:noAutofit/>
          </a:bodyPr>
          <a:lstStyle xmlns:a="http://schemas.openxmlformats.org/drawingml/2006/main"/>
          <a:p xmlns:a="http://schemas.openxmlformats.org/drawingml/2006/main">
            <a:pPr algn="ctr">
              <a:buNone/>
            </a:pPr>
            <a:r>
              <a:rPr sz="1467" b="1">
                <a:solidFill>
                  <a:srgbClr val="3A6FA5"/>
                </a:solidFill>
                <a:latin typeface="Noto Sans"/>
                <a:ea typeface="Noto Sans"/>
                <a:cs typeface="Noto Sans"/>
              </a:rPr>
              <a:t>→</a:t>
            </a:r>
          </a:p>
        </p:txBody>
      </p:sp>
      <p:sp>
        <p:nvSpPr>
          <p:cNvPr id="131" name="Google Shape;131;p16">
            <a:extLst xmlns:a="http://schemas.openxmlformats.org/drawingml/2006/main">
              <a:ext uri="{FF2B5EF4-FFF2-40B4-BE49-F238E27FC236}">
                <a16:creationId xmlns:a16="http://schemas.microsoft.com/office/drawing/2014/main" id="{41D22959-2D0E-43B4-A3CD-3AC2879383E3}"/>
              </a:ext>
            </a:extLst>
          </p:cNvPr>
          <p:cNvSpPr>
            <a:spLocks xmlns:a="http://schemas.openxmlformats.org/drawingml/2006/main" noGrp="1"/>
          </p:cNvSpPr>
          <p:nvPr/>
        </p:nvSpPr>
        <p:spPr>
          <a:xfrm xmlns:a="http://schemas.openxmlformats.org/drawingml/2006/main">
            <a:off x="5238751" y="3695700"/>
            <a:ext cx="1409600" cy="286000"/>
          </a:xfrm>
          <a:prstGeom xmlns:a="http://schemas.openxmlformats.org/drawingml/2006/main" prst="roundRect">
            <a:avLst>
              <a:gd name="adj" fmla="val 20000"/>
            </a:avLst>
          </a:prstGeom>
          <a:solidFill xmlns:a="http://schemas.openxmlformats.org/drawingml/2006/main">
            <a:srgbClr val="EAF1F8"/>
          </a:solidFill>
          <a:ln xmlns:a="http://schemas.openxmlformats.org/drawingml/2006/main" w="7150" cmpd="sng">
            <a:solidFill>
              <a:srgbClr val="D2DEEA"/>
            </a:solidFill>
            <a:prstDash val="solid"/>
          </a:ln>
        </p:spPr>
        <p:txBody>
          <a:bodyPr xmlns:a="http://schemas.openxmlformats.org/drawingml/2006/main" spcFirstLastPara="1" wrap="square" lIns="91433" tIns="91433" rIns="91433" bIns="91433" anchor="ctr">
            <a:noAutofit/>
          </a:bodyPr>
          <a:lstStyle xmlns:a="http://schemas.openxmlformats.org/drawingml/2006/main"/>
          <a:p xmlns:a="http://schemas.openxmlformats.org/drawingml/2006/main"/>
        </p:txBody>
      </p:sp>
      <p:sp>
        <p:nvSpPr>
          <p:cNvPr id="132" name="Google Shape;132;p16">
            <a:extLst xmlns:a="http://schemas.openxmlformats.org/drawingml/2006/main">
              <a:ext uri="{FF2B5EF4-FFF2-40B4-BE49-F238E27FC236}">
                <a16:creationId xmlns:a16="http://schemas.microsoft.com/office/drawing/2014/main" id="{EBB16666-978D-4654-83E9-84E7B7DC3C23}"/>
              </a:ext>
            </a:extLst>
          </p:cNvPr>
          <p:cNvSpPr>
            <a:spLocks xmlns:a="http://schemas.openxmlformats.org/drawingml/2006/main" noGrp="1"/>
          </p:cNvSpPr>
          <p:nvPr/>
        </p:nvSpPr>
        <p:spPr>
          <a:xfrm xmlns:a="http://schemas.openxmlformats.org/drawingml/2006/main">
            <a:off x="5238751" y="3695700"/>
            <a:ext cx="609600" cy="286000"/>
          </a:xfrm>
          <a:prstGeom xmlns:a="http://schemas.openxmlformats.org/drawingml/2006/main" prst="roundRect">
            <a:avLst>
              <a:gd name="adj" fmla="val 20000"/>
            </a:avLst>
          </a:prstGeom>
          <a:solidFill xmlns:a="http://schemas.openxmlformats.org/drawingml/2006/main">
            <a:srgbClr val="1E3A5F"/>
          </a:solidFill>
          <a:ln xmlns:a="http://schemas.openxmlformats.org/drawingml/2006/main" w="7150" cmpd="sng">
            <a:solidFill>
              <a:srgbClr val="1E3A5F"/>
            </a:solidFill>
            <a:prstDash val="solid"/>
          </a:ln>
        </p:spPr>
        <p:txBody>
          <a:bodyPr xmlns:a="http://schemas.openxmlformats.org/drawingml/2006/main" spcFirstLastPara="1" wrap="square" lIns="91433" tIns="91433" rIns="91433" bIns="91433" anchor="ctr">
            <a:noAutofit/>
          </a:bodyPr>
          <a:lstStyle xmlns:a="http://schemas.openxmlformats.org/drawingml/2006/main"/>
          <a:p xmlns:a="http://schemas.openxmlformats.org/drawingml/2006/main"/>
        </p:txBody>
      </p:sp>
      <p:sp>
        <p:nvSpPr>
          <p:cNvPr id="133" name="Google Shape;133;p16">
            <a:extLst xmlns:a="http://schemas.openxmlformats.org/drawingml/2006/main">
              <a:ext uri="{FF2B5EF4-FFF2-40B4-BE49-F238E27FC236}">
                <a16:creationId xmlns:a16="http://schemas.microsoft.com/office/drawing/2014/main" id="{C51A77D5-94E8-474B-91EB-3155DEDB9C61}"/>
              </a:ext>
            </a:extLst>
          </p:cNvPr>
          <p:cNvSpPr>
            <a:spLocks xmlns:a="http://schemas.openxmlformats.org/drawingml/2006/main" noGrp="1"/>
          </p:cNvSpPr>
          <p:nvPr/>
        </p:nvSpPr>
        <p:spPr>
          <a:xfrm xmlns:a="http://schemas.openxmlformats.org/drawingml/2006/main">
            <a:off x="5295900" y="3724275"/>
            <a:ext cx="495200" cy="228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33" tIns="45700" rIns="91433" bIns="45700" anchor="ctr">
            <a:noAutofit/>
          </a:bodyPr>
          <a:lstStyle xmlns:a="http://schemas.openxmlformats.org/drawingml/2006/main"/>
          <a:p xmlns:a="http://schemas.openxmlformats.org/drawingml/2006/main">
            <a:pPr algn="ctr">
              <a:buNone/>
            </a:pPr>
            <a:r>
              <a:rPr sz="933" b="1">
                <a:solidFill>
                  <a:srgbClr val="FFFFFF"/>
                </a:solidFill>
                <a:latin typeface="Noto Sans"/>
                <a:ea typeface="Noto Sans"/>
                <a:cs typeface="Noto Sans"/>
              </a:rPr>
              <a:t>5/16</a:t>
            </a:r>
          </a:p>
        </p:txBody>
      </p:sp>
      <p:sp>
        <p:nvSpPr>
          <p:cNvPr id="134" name="Google Shape;134;p16">
            <a:extLst xmlns:a="http://schemas.openxmlformats.org/drawingml/2006/main">
              <a:ext uri="{FF2B5EF4-FFF2-40B4-BE49-F238E27FC236}">
                <a16:creationId xmlns:a16="http://schemas.microsoft.com/office/drawing/2014/main" id="{C2201D66-25F0-4391-BB7D-ED0852E19E88}"/>
              </a:ext>
            </a:extLst>
          </p:cNvPr>
          <p:cNvSpPr>
            <a:spLocks xmlns:a="http://schemas.openxmlformats.org/drawingml/2006/main" noGrp="1"/>
          </p:cNvSpPr>
          <p:nvPr/>
        </p:nvSpPr>
        <p:spPr>
          <a:xfrm xmlns:a="http://schemas.openxmlformats.org/drawingml/2006/main">
            <a:off x="5924551" y="3724275"/>
            <a:ext cx="666800" cy="228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33" tIns="45700" rIns="91433" bIns="45700" anchor="ctr">
            <a:noAutofit/>
          </a:bodyPr>
          <a:lstStyle xmlns:a="http://schemas.openxmlformats.org/drawingml/2006/main"/>
          <a:p xmlns:a="http://schemas.openxmlformats.org/drawingml/2006/main">
            <a:r>
              <a:rPr sz="933" b="1">
                <a:solidFill>
                  <a:srgbClr val="1B2A3A"/>
                </a:solidFill>
                <a:latin typeface="Noto Sans"/>
                <a:ea typeface="Noto Sans"/>
                <a:cs typeface="Noto Sans"/>
              </a:rPr>
              <a:t>デイ利用</a:t>
            </a:r>
          </a:p>
        </p:txBody>
      </p:sp>
      <p:sp>
        <p:nvSpPr>
          <p:cNvPr id="135" name="Google Shape;135;p16">
            <a:extLst xmlns:a="http://schemas.openxmlformats.org/drawingml/2006/main">
              <a:ext uri="{FF2B5EF4-FFF2-40B4-BE49-F238E27FC236}">
                <a16:creationId xmlns:a16="http://schemas.microsoft.com/office/drawing/2014/main" id="{1AD6B0FC-2B71-4B91-9539-E719CC9B8A94}"/>
              </a:ext>
            </a:extLst>
          </p:cNvPr>
          <p:cNvSpPr>
            <a:spLocks xmlns:a="http://schemas.openxmlformats.org/drawingml/2006/main" noGrp="1"/>
          </p:cNvSpPr>
          <p:nvPr/>
        </p:nvSpPr>
        <p:spPr>
          <a:xfrm xmlns:a="http://schemas.openxmlformats.org/drawingml/2006/main">
            <a:off x="8477251" y="3648075"/>
            <a:ext cx="2666800" cy="381200"/>
          </a:xfrm>
          <a:prstGeom xmlns:a="http://schemas.openxmlformats.org/drawingml/2006/main" prst="roundRect">
            <a:avLst>
              <a:gd name="adj" fmla="val 20000"/>
            </a:avLst>
          </a:prstGeom>
          <a:solidFill xmlns:a="http://schemas.openxmlformats.org/drawingml/2006/main">
            <a:srgbClr val="EAF1F8"/>
          </a:solidFill>
          <a:ln xmlns:a="http://schemas.openxmlformats.org/drawingml/2006/main" w="7150" cmpd="sng">
            <a:solidFill>
              <a:srgbClr val="D2DEEA"/>
            </a:solidFill>
            <a:prstDash val="solid"/>
          </a:ln>
        </p:spPr>
        <p:txBody>
          <a:bodyPr xmlns:a="http://schemas.openxmlformats.org/drawingml/2006/main" spcFirstLastPara="1" wrap="square" lIns="91433" tIns="91433" rIns="91433" bIns="91433" anchor="ctr">
            <a:noAutofit/>
          </a:bodyPr>
          <a:lstStyle xmlns:a="http://schemas.openxmlformats.org/drawingml/2006/main"/>
          <a:p xmlns:a="http://schemas.openxmlformats.org/drawingml/2006/main"/>
        </p:txBody>
      </p:sp>
      <p:sp>
        <p:nvSpPr>
          <p:cNvPr id="136" name="Google Shape;136;p16">
            <a:extLst xmlns:a="http://schemas.openxmlformats.org/drawingml/2006/main">
              <a:ext uri="{FF2B5EF4-FFF2-40B4-BE49-F238E27FC236}">
                <a16:creationId xmlns:a16="http://schemas.microsoft.com/office/drawing/2014/main" id="{AE93EE1E-5DFE-41E9-86BC-AE37950E1650}"/>
              </a:ext>
            </a:extLst>
          </p:cNvPr>
          <p:cNvSpPr>
            <a:spLocks xmlns:a="http://schemas.openxmlformats.org/drawingml/2006/main" noGrp="1"/>
          </p:cNvSpPr>
          <p:nvPr/>
        </p:nvSpPr>
        <p:spPr>
          <a:xfrm xmlns:a="http://schemas.openxmlformats.org/drawingml/2006/main">
            <a:off x="8629651" y="3705225"/>
            <a:ext cx="2362400" cy="26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33" tIns="45700" rIns="91433" bIns="45700" anchor="ctr">
            <a:noAutofit/>
          </a:bodyPr>
          <a:lstStyle xmlns:a="http://schemas.openxmlformats.org/drawingml/2006/main"/>
          <a:p xmlns:a="http://schemas.openxmlformats.org/drawingml/2006/main">
            <a:pPr algn="ctr">
              <a:buNone/>
            </a:pPr>
            <a:r>
              <a:rPr sz="933" b="1">
                <a:solidFill>
                  <a:srgbClr val="1B2A3A"/>
                </a:solidFill>
                <a:latin typeface="Noto Sans"/>
                <a:ea typeface="Noto Sans"/>
                <a:cs typeface="Noto Sans"/>
              </a:rPr>
              <a:t>デイ接点はあるがショート未利用</a:t>
            </a:r>
          </a:p>
        </p:txBody>
      </p:sp>
      <p:sp>
        <p:nvSpPr>
          <p:cNvPr id="137" name="Google Shape;137;p16">
            <a:extLst xmlns:a="http://schemas.openxmlformats.org/drawingml/2006/main">
              <a:ext uri="{FF2B5EF4-FFF2-40B4-BE49-F238E27FC236}">
                <a16:creationId xmlns:a16="http://schemas.microsoft.com/office/drawing/2014/main" id="{E768318B-E60C-47B4-B654-AE7DAD6D10DF}"/>
              </a:ext>
            </a:extLst>
          </p:cNvPr>
          <p:cNvSpPr>
            <a:spLocks xmlns:a="http://schemas.openxmlformats.org/drawingml/2006/main" noGrp="1"/>
          </p:cNvSpPr>
          <p:nvPr/>
        </p:nvSpPr>
        <p:spPr>
          <a:xfrm xmlns:a="http://schemas.openxmlformats.org/drawingml/2006/main">
            <a:off x="819151" y="4210051"/>
            <a:ext cx="10515600" cy="514400"/>
          </a:xfrm>
          <a:prstGeom xmlns:a="http://schemas.openxmlformats.org/drawingml/2006/main" prst="roundRect">
            <a:avLst>
              <a:gd name="adj" fmla="val 14815"/>
            </a:avLst>
          </a:prstGeom>
          <a:solidFill xmlns:a="http://schemas.openxmlformats.org/drawingml/2006/main">
            <a:srgbClr val="F8FBFE"/>
          </a:solidFill>
          <a:ln xmlns:a="http://schemas.openxmlformats.org/drawingml/2006/main" w="7150" cmpd="sng">
            <a:solidFill>
              <a:srgbClr val="DCE7F2"/>
            </a:solidFill>
            <a:prstDash val="solid"/>
          </a:ln>
        </p:spPr>
        <p:txBody>
          <a:bodyPr xmlns:a="http://schemas.openxmlformats.org/drawingml/2006/main" spcFirstLastPara="1" wrap="square" lIns="91433" tIns="91433" rIns="91433" bIns="91433" anchor="ctr">
            <a:noAutofit/>
          </a:bodyPr>
          <a:lstStyle xmlns:a="http://schemas.openxmlformats.org/drawingml/2006/main"/>
          <a:p xmlns:a="http://schemas.openxmlformats.org/drawingml/2006/main"/>
        </p:txBody>
      </p:sp>
      <p:sp>
        <p:nvSpPr>
          <p:cNvPr id="138" name="Google Shape;138;p16">
            <a:extLst xmlns:a="http://schemas.openxmlformats.org/drawingml/2006/main">
              <a:ext uri="{FF2B5EF4-FFF2-40B4-BE49-F238E27FC236}">
                <a16:creationId xmlns:a16="http://schemas.microsoft.com/office/drawing/2014/main" id="{45FFB40D-F194-43CE-B2AD-40A19BA20AAD}"/>
              </a:ext>
            </a:extLst>
          </p:cNvPr>
          <p:cNvSpPr>
            <a:spLocks xmlns:a="http://schemas.openxmlformats.org/drawingml/2006/main" noGrp="1"/>
          </p:cNvSpPr>
          <p:nvPr/>
        </p:nvSpPr>
        <p:spPr>
          <a:xfrm xmlns:a="http://schemas.openxmlformats.org/drawingml/2006/main">
            <a:off x="1009651" y="4352925"/>
            <a:ext cx="781200" cy="228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33" tIns="45700" rIns="91433" bIns="45700" anchor="ctr">
            <a:noAutofit/>
          </a:bodyPr>
          <a:lstStyle xmlns:a="http://schemas.openxmlformats.org/drawingml/2006/main"/>
          <a:p xmlns:a="http://schemas.openxmlformats.org/drawingml/2006/main">
            <a:pPr algn="ctr">
              <a:buNone/>
            </a:pPr>
            <a:r>
              <a:rPr sz="1067" b="1">
                <a:solidFill>
                  <a:srgbClr val="1E3A5F"/>
                </a:solidFill>
                <a:latin typeface="Noto Sans"/>
                <a:ea typeface="Noto Sans"/>
                <a:cs typeface="Noto Sans"/>
              </a:rPr>
              <a:t>利用者</a:t>
            </a:r>
            <a:r>
              <a:rPr sz="1067" b="1">
                <a:solidFill>
                  <a:srgbClr val="1E3A5F"/>
                </a:solidFill>
                <a:latin typeface="Noto Sans"/>
                <a:ea typeface="Noto Sans"/>
                <a:cs typeface="Noto Sans"/>
              </a:rPr>
              <a:t>C</a:t>
            </a:r>
          </a:p>
        </p:txBody>
      </p:sp>
      <p:sp>
        <p:nvSpPr>
          <p:cNvPr id="139" name="Google Shape;139;p16">
            <a:extLst xmlns:a="http://schemas.openxmlformats.org/drawingml/2006/main">
              <a:ext uri="{FF2B5EF4-FFF2-40B4-BE49-F238E27FC236}">
                <a16:creationId xmlns:a16="http://schemas.microsoft.com/office/drawing/2014/main" id="{935DB572-CC48-4F4B-9E86-1DD26E660DAE}"/>
              </a:ext>
            </a:extLst>
          </p:cNvPr>
          <p:cNvSpPr>
            <a:spLocks xmlns:a="http://schemas.openxmlformats.org/drawingml/2006/main" noGrp="1"/>
          </p:cNvSpPr>
          <p:nvPr/>
        </p:nvSpPr>
        <p:spPr>
          <a:xfrm xmlns:a="http://schemas.openxmlformats.org/drawingml/2006/main">
            <a:off x="2038351" y="4324351"/>
            <a:ext cx="1657600" cy="286000"/>
          </a:xfrm>
          <a:prstGeom xmlns:a="http://schemas.openxmlformats.org/drawingml/2006/main" prst="roundRect">
            <a:avLst>
              <a:gd name="adj" fmla="val 20000"/>
            </a:avLst>
          </a:prstGeom>
          <a:solidFill xmlns:a="http://schemas.openxmlformats.org/drawingml/2006/main">
            <a:srgbClr val="EAF1F8"/>
          </a:solidFill>
          <a:ln xmlns:a="http://schemas.openxmlformats.org/drawingml/2006/main" w="7150" cmpd="sng">
            <a:solidFill>
              <a:srgbClr val="D2DEEA"/>
            </a:solidFill>
            <a:prstDash val="solid"/>
          </a:ln>
        </p:spPr>
        <p:txBody>
          <a:bodyPr xmlns:a="http://schemas.openxmlformats.org/drawingml/2006/main" spcFirstLastPara="1" wrap="square" lIns="91433" tIns="91433" rIns="91433" bIns="91433" anchor="ctr">
            <a:noAutofit/>
          </a:bodyPr>
          <a:lstStyle xmlns:a="http://schemas.openxmlformats.org/drawingml/2006/main"/>
          <a:p xmlns:a="http://schemas.openxmlformats.org/drawingml/2006/main"/>
        </p:txBody>
      </p:sp>
      <p:sp>
        <p:nvSpPr>
          <p:cNvPr id="140" name="Google Shape;140;p16">
            <a:extLst xmlns:a="http://schemas.openxmlformats.org/drawingml/2006/main">
              <a:ext uri="{FF2B5EF4-FFF2-40B4-BE49-F238E27FC236}">
                <a16:creationId xmlns:a16="http://schemas.microsoft.com/office/drawing/2014/main" id="{20EBBF42-D0A1-4116-9A21-1673219DF6DD}"/>
              </a:ext>
            </a:extLst>
          </p:cNvPr>
          <p:cNvSpPr>
            <a:spLocks xmlns:a="http://schemas.openxmlformats.org/drawingml/2006/main" noGrp="1"/>
          </p:cNvSpPr>
          <p:nvPr/>
        </p:nvSpPr>
        <p:spPr>
          <a:xfrm xmlns:a="http://schemas.openxmlformats.org/drawingml/2006/main">
            <a:off x="2038351" y="4324351"/>
            <a:ext cx="609600" cy="286000"/>
          </a:xfrm>
          <a:prstGeom xmlns:a="http://schemas.openxmlformats.org/drawingml/2006/main" prst="roundRect">
            <a:avLst>
              <a:gd name="adj" fmla="val 20000"/>
            </a:avLst>
          </a:prstGeom>
          <a:solidFill xmlns:a="http://schemas.openxmlformats.org/drawingml/2006/main">
            <a:srgbClr val="1E3A5F"/>
          </a:solidFill>
          <a:ln xmlns:a="http://schemas.openxmlformats.org/drawingml/2006/main" w="7150" cmpd="sng">
            <a:solidFill>
              <a:srgbClr val="1E3A5F"/>
            </a:solidFill>
            <a:prstDash val="solid"/>
          </a:ln>
        </p:spPr>
        <p:txBody>
          <a:bodyPr xmlns:a="http://schemas.openxmlformats.org/drawingml/2006/main" spcFirstLastPara="1" wrap="square" lIns="91433" tIns="91433" rIns="91433" bIns="91433" anchor="ctr">
            <a:noAutofit/>
          </a:bodyPr>
          <a:lstStyle xmlns:a="http://schemas.openxmlformats.org/drawingml/2006/main"/>
          <a:p xmlns:a="http://schemas.openxmlformats.org/drawingml/2006/main"/>
        </p:txBody>
      </p:sp>
      <p:sp>
        <p:nvSpPr>
          <p:cNvPr id="141" name="Google Shape;141;p16">
            <a:extLst xmlns:a="http://schemas.openxmlformats.org/drawingml/2006/main">
              <a:ext uri="{FF2B5EF4-FFF2-40B4-BE49-F238E27FC236}">
                <a16:creationId xmlns:a16="http://schemas.microsoft.com/office/drawing/2014/main" id="{B5B0A52A-6BF2-4210-B281-7A007CFAC0CE}"/>
              </a:ext>
            </a:extLst>
          </p:cNvPr>
          <p:cNvSpPr>
            <a:spLocks xmlns:a="http://schemas.openxmlformats.org/drawingml/2006/main" noGrp="1"/>
          </p:cNvSpPr>
          <p:nvPr/>
        </p:nvSpPr>
        <p:spPr>
          <a:xfrm xmlns:a="http://schemas.openxmlformats.org/drawingml/2006/main">
            <a:off x="2095500" y="4352925"/>
            <a:ext cx="495200" cy="228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33" tIns="45700" rIns="91433" bIns="45700" anchor="ctr">
            <a:noAutofit/>
          </a:bodyPr>
          <a:lstStyle xmlns:a="http://schemas.openxmlformats.org/drawingml/2006/main"/>
          <a:p xmlns:a="http://schemas.openxmlformats.org/drawingml/2006/main">
            <a:pPr algn="ctr">
              <a:buNone/>
            </a:pPr>
            <a:r>
              <a:rPr sz="933" b="1">
                <a:solidFill>
                  <a:srgbClr val="FFFFFF"/>
                </a:solidFill>
                <a:latin typeface="Noto Sans"/>
                <a:ea typeface="Noto Sans"/>
                <a:cs typeface="Noto Sans"/>
              </a:rPr>
              <a:t>4/05</a:t>
            </a:r>
          </a:p>
        </p:txBody>
      </p:sp>
      <p:sp>
        <p:nvSpPr>
          <p:cNvPr id="142" name="Google Shape;142;p16">
            <a:extLst xmlns:a="http://schemas.openxmlformats.org/drawingml/2006/main">
              <a:ext uri="{FF2B5EF4-FFF2-40B4-BE49-F238E27FC236}">
                <a16:creationId xmlns:a16="http://schemas.microsoft.com/office/drawing/2014/main" id="{07D226A6-30BC-42F8-97C8-9ECA2DBACFC7}"/>
              </a:ext>
            </a:extLst>
          </p:cNvPr>
          <p:cNvSpPr>
            <a:spLocks xmlns:a="http://schemas.openxmlformats.org/drawingml/2006/main" noGrp="1"/>
          </p:cNvSpPr>
          <p:nvPr/>
        </p:nvSpPr>
        <p:spPr>
          <a:xfrm xmlns:a="http://schemas.openxmlformats.org/drawingml/2006/main">
            <a:off x="2724151" y="4352925"/>
            <a:ext cx="914400" cy="228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33" tIns="45700" rIns="91433" bIns="45700" anchor="ctr">
            <a:noAutofit/>
          </a:bodyPr>
          <a:lstStyle xmlns:a="http://schemas.openxmlformats.org/drawingml/2006/main"/>
          <a:p xmlns:a="http://schemas.openxmlformats.org/drawingml/2006/main">
            <a:r>
              <a:rPr sz="933" b="1">
                <a:solidFill>
                  <a:srgbClr val="1B2A3A"/>
                </a:solidFill>
                <a:latin typeface="Noto Sans"/>
                <a:ea typeface="Noto Sans"/>
                <a:cs typeface="Noto Sans"/>
              </a:rPr>
              <a:t>ショート開始</a:t>
            </a:r>
          </a:p>
        </p:txBody>
      </p:sp>
      <p:sp>
        <p:nvSpPr>
          <p:cNvPr id="143" name="Google Shape;143;p16">
            <a:extLst xmlns:a="http://schemas.openxmlformats.org/drawingml/2006/main">
              <a:ext uri="{FF2B5EF4-FFF2-40B4-BE49-F238E27FC236}">
                <a16:creationId xmlns:a16="http://schemas.microsoft.com/office/drawing/2014/main" id="{483F5389-48D7-4B48-98C8-FE5D8ADD8FA7}"/>
              </a:ext>
            </a:extLst>
          </p:cNvPr>
          <p:cNvSpPr>
            <a:spLocks xmlns:a="http://schemas.openxmlformats.org/drawingml/2006/main" noGrp="1"/>
          </p:cNvSpPr>
          <p:nvPr/>
        </p:nvSpPr>
        <p:spPr>
          <a:xfrm xmlns:a="http://schemas.openxmlformats.org/drawingml/2006/main">
            <a:off x="3714751" y="4314825"/>
            <a:ext cx="266800" cy="28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33" tIns="45700" rIns="91433" bIns="45700" anchor="ctr">
            <a:noAutofit/>
          </a:bodyPr>
          <a:lstStyle xmlns:a="http://schemas.openxmlformats.org/drawingml/2006/main"/>
          <a:p xmlns:a="http://schemas.openxmlformats.org/drawingml/2006/main">
            <a:pPr algn="ctr">
              <a:buNone/>
            </a:pPr>
            <a:r>
              <a:rPr sz="1467" b="1">
                <a:solidFill>
                  <a:srgbClr val="3A6FA5"/>
                </a:solidFill>
                <a:latin typeface="Noto Sans"/>
                <a:ea typeface="Noto Sans"/>
                <a:cs typeface="Noto Sans"/>
              </a:rPr>
              <a:t>→</a:t>
            </a:r>
          </a:p>
        </p:txBody>
      </p:sp>
      <p:sp>
        <p:nvSpPr>
          <p:cNvPr id="144" name="Google Shape;144;p16">
            <a:extLst xmlns:a="http://schemas.openxmlformats.org/drawingml/2006/main">
              <a:ext uri="{FF2B5EF4-FFF2-40B4-BE49-F238E27FC236}">
                <a16:creationId xmlns:a16="http://schemas.microsoft.com/office/drawing/2014/main" id="{AB063C88-9E7F-4DF5-B828-A1752F1250F5}"/>
              </a:ext>
            </a:extLst>
          </p:cNvPr>
          <p:cNvSpPr>
            <a:spLocks xmlns:a="http://schemas.openxmlformats.org/drawingml/2006/main" noGrp="1"/>
          </p:cNvSpPr>
          <p:nvPr/>
        </p:nvSpPr>
        <p:spPr>
          <a:xfrm xmlns:a="http://schemas.openxmlformats.org/drawingml/2006/main">
            <a:off x="3886200" y="4324351"/>
            <a:ext cx="1657600" cy="286000"/>
          </a:xfrm>
          <a:prstGeom xmlns:a="http://schemas.openxmlformats.org/drawingml/2006/main" prst="roundRect">
            <a:avLst>
              <a:gd name="adj" fmla="val 20000"/>
            </a:avLst>
          </a:prstGeom>
          <a:solidFill xmlns:a="http://schemas.openxmlformats.org/drawingml/2006/main">
            <a:srgbClr val="EAF1F8"/>
          </a:solidFill>
          <a:ln xmlns:a="http://schemas.openxmlformats.org/drawingml/2006/main" w="7150" cmpd="sng">
            <a:solidFill>
              <a:srgbClr val="D2DEEA"/>
            </a:solidFill>
            <a:prstDash val="solid"/>
          </a:ln>
        </p:spPr>
        <p:txBody>
          <a:bodyPr xmlns:a="http://schemas.openxmlformats.org/drawingml/2006/main" spcFirstLastPara="1" wrap="square" lIns="91433" tIns="91433" rIns="91433" bIns="91433" anchor="ctr">
            <a:noAutofit/>
          </a:bodyPr>
          <a:lstStyle xmlns:a="http://schemas.openxmlformats.org/drawingml/2006/main"/>
          <a:p xmlns:a="http://schemas.openxmlformats.org/drawingml/2006/main"/>
        </p:txBody>
      </p:sp>
      <p:sp>
        <p:nvSpPr>
          <p:cNvPr id="145" name="Google Shape;145;p16">
            <a:extLst xmlns:a="http://schemas.openxmlformats.org/drawingml/2006/main">
              <a:ext uri="{FF2B5EF4-FFF2-40B4-BE49-F238E27FC236}">
                <a16:creationId xmlns:a16="http://schemas.microsoft.com/office/drawing/2014/main" id="{FC1DAE99-61BB-43BC-A886-86BC62A158FE}"/>
              </a:ext>
            </a:extLst>
          </p:cNvPr>
          <p:cNvSpPr>
            <a:spLocks xmlns:a="http://schemas.openxmlformats.org/drawingml/2006/main" noGrp="1"/>
          </p:cNvSpPr>
          <p:nvPr/>
        </p:nvSpPr>
        <p:spPr>
          <a:xfrm xmlns:a="http://schemas.openxmlformats.org/drawingml/2006/main">
            <a:off x="3886200" y="4324351"/>
            <a:ext cx="609600" cy="286000"/>
          </a:xfrm>
          <a:prstGeom xmlns:a="http://schemas.openxmlformats.org/drawingml/2006/main" prst="roundRect">
            <a:avLst>
              <a:gd name="adj" fmla="val 20000"/>
            </a:avLst>
          </a:prstGeom>
          <a:solidFill xmlns:a="http://schemas.openxmlformats.org/drawingml/2006/main">
            <a:srgbClr val="1E3A5F"/>
          </a:solidFill>
          <a:ln xmlns:a="http://schemas.openxmlformats.org/drawingml/2006/main" w="7150" cmpd="sng">
            <a:solidFill>
              <a:srgbClr val="1E3A5F"/>
            </a:solidFill>
            <a:prstDash val="solid"/>
          </a:ln>
        </p:spPr>
        <p:txBody>
          <a:bodyPr xmlns:a="http://schemas.openxmlformats.org/drawingml/2006/main" spcFirstLastPara="1" wrap="square" lIns="91433" tIns="91433" rIns="91433" bIns="91433" anchor="ctr">
            <a:noAutofit/>
          </a:bodyPr>
          <a:lstStyle xmlns:a="http://schemas.openxmlformats.org/drawingml/2006/main"/>
          <a:p xmlns:a="http://schemas.openxmlformats.org/drawingml/2006/main"/>
        </p:txBody>
      </p:sp>
      <p:sp>
        <p:nvSpPr>
          <p:cNvPr id="146" name="Google Shape;146;p16">
            <a:extLst xmlns:a="http://schemas.openxmlformats.org/drawingml/2006/main">
              <a:ext uri="{FF2B5EF4-FFF2-40B4-BE49-F238E27FC236}">
                <a16:creationId xmlns:a16="http://schemas.microsoft.com/office/drawing/2014/main" id="{7D701879-313C-4E75-B063-BFB7356008FA}"/>
              </a:ext>
            </a:extLst>
          </p:cNvPr>
          <p:cNvSpPr>
            <a:spLocks xmlns:a="http://schemas.openxmlformats.org/drawingml/2006/main" noGrp="1"/>
          </p:cNvSpPr>
          <p:nvPr/>
        </p:nvSpPr>
        <p:spPr>
          <a:xfrm xmlns:a="http://schemas.openxmlformats.org/drawingml/2006/main">
            <a:off x="3943351" y="4352925"/>
            <a:ext cx="495200" cy="228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33" tIns="45700" rIns="91433" bIns="45700" anchor="ctr">
            <a:noAutofit/>
          </a:bodyPr>
          <a:lstStyle xmlns:a="http://schemas.openxmlformats.org/drawingml/2006/main"/>
          <a:p xmlns:a="http://schemas.openxmlformats.org/drawingml/2006/main">
            <a:pPr algn="ctr">
              <a:buNone/>
            </a:pPr>
            <a:r>
              <a:rPr sz="933" b="1">
                <a:solidFill>
                  <a:srgbClr val="FFFFFF"/>
                </a:solidFill>
                <a:latin typeface="Noto Sans"/>
                <a:ea typeface="Noto Sans"/>
                <a:cs typeface="Noto Sans"/>
              </a:rPr>
              <a:t>4/20</a:t>
            </a:r>
          </a:p>
        </p:txBody>
      </p:sp>
      <p:sp>
        <p:nvSpPr>
          <p:cNvPr id="147" name="Google Shape;147;p16">
            <a:extLst xmlns:a="http://schemas.openxmlformats.org/drawingml/2006/main">
              <a:ext uri="{FF2B5EF4-FFF2-40B4-BE49-F238E27FC236}">
                <a16:creationId xmlns:a16="http://schemas.microsoft.com/office/drawing/2014/main" id="{FE960C70-3BFE-4F40-953F-386D4D1C4F80}"/>
              </a:ext>
            </a:extLst>
          </p:cNvPr>
          <p:cNvSpPr>
            <a:spLocks xmlns:a="http://schemas.openxmlformats.org/drawingml/2006/main" noGrp="1"/>
          </p:cNvSpPr>
          <p:nvPr/>
        </p:nvSpPr>
        <p:spPr>
          <a:xfrm xmlns:a="http://schemas.openxmlformats.org/drawingml/2006/main">
            <a:off x="4572000" y="4352925"/>
            <a:ext cx="914400" cy="228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33" tIns="45700" rIns="91433" bIns="45700" anchor="ctr">
            <a:noAutofit/>
          </a:bodyPr>
          <a:lstStyle xmlns:a="http://schemas.openxmlformats.org/drawingml/2006/main"/>
          <a:p xmlns:a="http://schemas.openxmlformats.org/drawingml/2006/main">
            <a:r>
              <a:rPr sz="933" b="1">
                <a:solidFill>
                  <a:srgbClr val="1B2A3A"/>
                </a:solidFill>
                <a:latin typeface="Noto Sans"/>
                <a:ea typeface="Noto Sans"/>
                <a:cs typeface="Noto Sans"/>
              </a:rPr>
              <a:t>15</a:t>
            </a:r>
            <a:r>
              <a:rPr sz="933" b="1">
                <a:solidFill>
                  <a:srgbClr val="1B2A3A"/>
                </a:solidFill>
                <a:latin typeface="Noto Sans"/>
                <a:ea typeface="Noto Sans"/>
                <a:cs typeface="Noto Sans"/>
              </a:rPr>
              <a:t>日以上利用</a:t>
            </a:r>
          </a:p>
        </p:txBody>
      </p:sp>
      <p:sp>
        <p:nvSpPr>
          <p:cNvPr id="148" name="Google Shape;148;p16">
            <a:extLst xmlns:a="http://schemas.openxmlformats.org/drawingml/2006/main">
              <a:ext uri="{FF2B5EF4-FFF2-40B4-BE49-F238E27FC236}">
                <a16:creationId xmlns:a16="http://schemas.microsoft.com/office/drawing/2014/main" id="{4A112125-0758-42EB-B63A-64987A6FAFC9}"/>
              </a:ext>
            </a:extLst>
          </p:cNvPr>
          <p:cNvSpPr>
            <a:spLocks xmlns:a="http://schemas.openxmlformats.org/drawingml/2006/main" noGrp="1"/>
          </p:cNvSpPr>
          <p:nvPr/>
        </p:nvSpPr>
        <p:spPr>
          <a:xfrm xmlns:a="http://schemas.openxmlformats.org/drawingml/2006/main">
            <a:off x="5562600" y="4314825"/>
            <a:ext cx="266800" cy="28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33" tIns="45700" rIns="91433" bIns="45700" anchor="ctr">
            <a:noAutofit/>
          </a:bodyPr>
          <a:lstStyle xmlns:a="http://schemas.openxmlformats.org/drawingml/2006/main"/>
          <a:p xmlns:a="http://schemas.openxmlformats.org/drawingml/2006/main">
            <a:pPr algn="ctr">
              <a:buNone/>
            </a:pPr>
            <a:r>
              <a:rPr sz="1467" b="1">
                <a:solidFill>
                  <a:srgbClr val="3A6FA5"/>
                </a:solidFill>
                <a:latin typeface="Noto Sans"/>
                <a:ea typeface="Noto Sans"/>
                <a:cs typeface="Noto Sans"/>
              </a:rPr>
              <a:t>→</a:t>
            </a:r>
          </a:p>
        </p:txBody>
      </p:sp>
      <p:sp>
        <p:nvSpPr>
          <p:cNvPr id="149" name="Google Shape;149;p16">
            <a:extLst xmlns:a="http://schemas.openxmlformats.org/drawingml/2006/main">
              <a:ext uri="{FF2B5EF4-FFF2-40B4-BE49-F238E27FC236}">
                <a16:creationId xmlns:a16="http://schemas.microsoft.com/office/drawing/2014/main" id="{5803CF7E-6EC5-41DE-B537-D15F1FC76E5C}"/>
              </a:ext>
            </a:extLst>
          </p:cNvPr>
          <p:cNvSpPr>
            <a:spLocks xmlns:a="http://schemas.openxmlformats.org/drawingml/2006/main" noGrp="1"/>
          </p:cNvSpPr>
          <p:nvPr/>
        </p:nvSpPr>
        <p:spPr>
          <a:xfrm xmlns:a="http://schemas.openxmlformats.org/drawingml/2006/main">
            <a:off x="5734051" y="4324351"/>
            <a:ext cx="1657600" cy="286000"/>
          </a:xfrm>
          <a:prstGeom xmlns:a="http://schemas.openxmlformats.org/drawingml/2006/main" prst="roundRect">
            <a:avLst>
              <a:gd name="adj" fmla="val 20000"/>
            </a:avLst>
          </a:prstGeom>
          <a:solidFill xmlns:a="http://schemas.openxmlformats.org/drawingml/2006/main">
            <a:srgbClr val="EAF1F8"/>
          </a:solidFill>
          <a:ln xmlns:a="http://schemas.openxmlformats.org/drawingml/2006/main" w="7150" cmpd="sng">
            <a:solidFill>
              <a:srgbClr val="D2DEEA"/>
            </a:solidFill>
            <a:prstDash val="solid"/>
          </a:ln>
        </p:spPr>
        <p:txBody>
          <a:bodyPr xmlns:a="http://schemas.openxmlformats.org/drawingml/2006/main" spcFirstLastPara="1" wrap="square" lIns="91433" tIns="91433" rIns="91433" bIns="91433" anchor="ctr">
            <a:noAutofit/>
          </a:bodyPr>
          <a:lstStyle xmlns:a="http://schemas.openxmlformats.org/drawingml/2006/main"/>
          <a:p xmlns:a="http://schemas.openxmlformats.org/drawingml/2006/main"/>
        </p:txBody>
      </p:sp>
      <p:sp>
        <p:nvSpPr>
          <p:cNvPr id="150" name="Google Shape;150;p16">
            <a:extLst xmlns:a="http://schemas.openxmlformats.org/drawingml/2006/main">
              <a:ext uri="{FF2B5EF4-FFF2-40B4-BE49-F238E27FC236}">
                <a16:creationId xmlns:a16="http://schemas.microsoft.com/office/drawing/2014/main" id="{DD46EF1D-93E1-4586-B01F-92703BD14D59}"/>
              </a:ext>
            </a:extLst>
          </p:cNvPr>
          <p:cNvSpPr>
            <a:spLocks xmlns:a="http://schemas.openxmlformats.org/drawingml/2006/main" noGrp="1"/>
          </p:cNvSpPr>
          <p:nvPr/>
        </p:nvSpPr>
        <p:spPr>
          <a:xfrm xmlns:a="http://schemas.openxmlformats.org/drawingml/2006/main">
            <a:off x="5734051" y="4324351"/>
            <a:ext cx="609600" cy="286000"/>
          </a:xfrm>
          <a:prstGeom xmlns:a="http://schemas.openxmlformats.org/drawingml/2006/main" prst="roundRect">
            <a:avLst>
              <a:gd name="adj" fmla="val 20000"/>
            </a:avLst>
          </a:prstGeom>
          <a:solidFill xmlns:a="http://schemas.openxmlformats.org/drawingml/2006/main">
            <a:srgbClr val="1E3A5F"/>
          </a:solidFill>
          <a:ln xmlns:a="http://schemas.openxmlformats.org/drawingml/2006/main" w="7150" cmpd="sng">
            <a:solidFill>
              <a:srgbClr val="1E3A5F"/>
            </a:solidFill>
            <a:prstDash val="solid"/>
          </a:ln>
        </p:spPr>
        <p:txBody>
          <a:bodyPr xmlns:a="http://schemas.openxmlformats.org/drawingml/2006/main" spcFirstLastPara="1" wrap="square" lIns="91433" tIns="91433" rIns="91433" bIns="91433" anchor="ctr">
            <a:noAutofit/>
          </a:bodyPr>
          <a:lstStyle xmlns:a="http://schemas.openxmlformats.org/drawingml/2006/main"/>
          <a:p xmlns:a="http://schemas.openxmlformats.org/drawingml/2006/main"/>
        </p:txBody>
      </p:sp>
      <p:sp>
        <p:nvSpPr>
          <p:cNvPr id="151" name="Google Shape;151;p16">
            <a:extLst xmlns:a="http://schemas.openxmlformats.org/drawingml/2006/main">
              <a:ext uri="{FF2B5EF4-FFF2-40B4-BE49-F238E27FC236}">
                <a16:creationId xmlns:a16="http://schemas.microsoft.com/office/drawing/2014/main" id="{0B8A5676-3E89-41D2-A328-E420A77A1C96}"/>
              </a:ext>
            </a:extLst>
          </p:cNvPr>
          <p:cNvSpPr>
            <a:spLocks xmlns:a="http://schemas.openxmlformats.org/drawingml/2006/main" noGrp="1"/>
          </p:cNvSpPr>
          <p:nvPr/>
        </p:nvSpPr>
        <p:spPr>
          <a:xfrm xmlns:a="http://schemas.openxmlformats.org/drawingml/2006/main">
            <a:off x="5791200" y="4352925"/>
            <a:ext cx="495200" cy="228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33" tIns="45700" rIns="91433" bIns="45700" anchor="ctr">
            <a:noAutofit/>
          </a:bodyPr>
          <a:lstStyle xmlns:a="http://schemas.openxmlformats.org/drawingml/2006/main"/>
          <a:p xmlns:a="http://schemas.openxmlformats.org/drawingml/2006/main">
            <a:pPr algn="ctr">
              <a:buNone/>
            </a:pPr>
            <a:r>
              <a:rPr sz="933" b="1">
                <a:solidFill>
                  <a:srgbClr val="FFFFFF"/>
                </a:solidFill>
                <a:latin typeface="Noto Sans"/>
                <a:ea typeface="Noto Sans"/>
                <a:cs typeface="Noto Sans"/>
              </a:rPr>
              <a:t>5</a:t>
            </a:r>
            <a:r>
              <a:rPr sz="933" b="1">
                <a:solidFill>
                  <a:srgbClr val="FFFFFF"/>
                </a:solidFill>
                <a:latin typeface="Noto Sans"/>
                <a:ea typeface="Noto Sans"/>
                <a:cs typeface="Noto Sans"/>
              </a:rPr>
              <a:t>月</a:t>
            </a:r>
          </a:p>
        </p:txBody>
      </p:sp>
      <p:sp>
        <p:nvSpPr>
          <p:cNvPr id="152" name="Google Shape;152;p16">
            <a:extLst xmlns:a="http://schemas.openxmlformats.org/drawingml/2006/main">
              <a:ext uri="{FF2B5EF4-FFF2-40B4-BE49-F238E27FC236}">
                <a16:creationId xmlns:a16="http://schemas.microsoft.com/office/drawing/2014/main" id="{C4D9709F-D4ED-4838-867A-4B832A8A718C}"/>
              </a:ext>
            </a:extLst>
          </p:cNvPr>
          <p:cNvSpPr>
            <a:spLocks xmlns:a="http://schemas.openxmlformats.org/drawingml/2006/main" noGrp="1"/>
          </p:cNvSpPr>
          <p:nvPr/>
        </p:nvSpPr>
        <p:spPr>
          <a:xfrm xmlns:a="http://schemas.openxmlformats.org/drawingml/2006/main">
            <a:off x="6419851" y="4352925"/>
            <a:ext cx="914400" cy="228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33" tIns="45700" rIns="91433" bIns="45700" anchor="ctr">
            <a:noAutofit/>
          </a:bodyPr>
          <a:lstStyle xmlns:a="http://schemas.openxmlformats.org/drawingml/2006/main"/>
          <a:p xmlns:a="http://schemas.openxmlformats.org/drawingml/2006/main">
            <a:r>
              <a:rPr sz="933" b="1">
                <a:solidFill>
                  <a:srgbClr val="1B2A3A"/>
                </a:solidFill>
                <a:latin typeface="Noto Sans"/>
                <a:ea typeface="Noto Sans"/>
                <a:cs typeface="Noto Sans"/>
              </a:rPr>
              <a:t>ロング未転換</a:t>
            </a:r>
          </a:p>
        </p:txBody>
      </p:sp>
      <p:sp>
        <p:nvSpPr>
          <p:cNvPr id="153" name="Google Shape;153;p16">
            <a:extLst xmlns:a="http://schemas.openxmlformats.org/drawingml/2006/main">
              <a:ext uri="{FF2B5EF4-FFF2-40B4-BE49-F238E27FC236}">
                <a16:creationId xmlns:a16="http://schemas.microsoft.com/office/drawing/2014/main" id="{46EF18EC-5A1A-40B6-92E5-D328D7DBBDFA}"/>
              </a:ext>
            </a:extLst>
          </p:cNvPr>
          <p:cNvSpPr>
            <a:spLocks xmlns:a="http://schemas.openxmlformats.org/drawingml/2006/main" noGrp="1"/>
          </p:cNvSpPr>
          <p:nvPr/>
        </p:nvSpPr>
        <p:spPr>
          <a:xfrm xmlns:a="http://schemas.openxmlformats.org/drawingml/2006/main">
            <a:off x="8477251" y="4276725"/>
            <a:ext cx="2666800" cy="381200"/>
          </a:xfrm>
          <a:prstGeom xmlns:a="http://schemas.openxmlformats.org/drawingml/2006/main" prst="roundRect">
            <a:avLst>
              <a:gd name="adj" fmla="val 20000"/>
            </a:avLst>
          </a:prstGeom>
          <a:solidFill xmlns:a="http://schemas.openxmlformats.org/drawingml/2006/main">
            <a:srgbClr val="EAF1F8"/>
          </a:solidFill>
          <a:ln xmlns:a="http://schemas.openxmlformats.org/drawingml/2006/main" w="7150" cmpd="sng">
            <a:solidFill>
              <a:srgbClr val="D2DEEA"/>
            </a:solidFill>
            <a:prstDash val="solid"/>
          </a:ln>
        </p:spPr>
        <p:txBody>
          <a:bodyPr xmlns:a="http://schemas.openxmlformats.org/drawingml/2006/main" spcFirstLastPara="1" wrap="square" lIns="91433" tIns="91433" rIns="91433" bIns="91433" anchor="ctr">
            <a:noAutofit/>
          </a:bodyPr>
          <a:lstStyle xmlns:a="http://schemas.openxmlformats.org/drawingml/2006/main"/>
          <a:p xmlns:a="http://schemas.openxmlformats.org/drawingml/2006/main"/>
        </p:txBody>
      </p:sp>
      <p:sp>
        <p:nvSpPr>
          <p:cNvPr id="154" name="Google Shape;154;p16">
            <a:extLst xmlns:a="http://schemas.openxmlformats.org/drawingml/2006/main">
              <a:ext uri="{FF2B5EF4-FFF2-40B4-BE49-F238E27FC236}">
                <a16:creationId xmlns:a16="http://schemas.microsoft.com/office/drawing/2014/main" id="{3C2F31B2-E2A8-42D3-ADD7-C5767182408E}"/>
              </a:ext>
            </a:extLst>
          </p:cNvPr>
          <p:cNvSpPr>
            <a:spLocks xmlns:a="http://schemas.openxmlformats.org/drawingml/2006/main" noGrp="1"/>
          </p:cNvSpPr>
          <p:nvPr/>
        </p:nvSpPr>
        <p:spPr>
          <a:xfrm xmlns:a="http://schemas.openxmlformats.org/drawingml/2006/main">
            <a:off x="8629651" y="4333875"/>
            <a:ext cx="2362400" cy="26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33" tIns="45700" rIns="91433" bIns="45700" anchor="ctr">
            <a:noAutofit/>
          </a:bodyPr>
          <a:lstStyle xmlns:a="http://schemas.openxmlformats.org/drawingml/2006/main"/>
          <a:p xmlns:a="http://schemas.openxmlformats.org/drawingml/2006/main">
            <a:pPr algn="ctr">
              <a:buNone/>
            </a:pPr>
            <a:r>
              <a:rPr sz="933" b="1">
                <a:solidFill>
                  <a:srgbClr val="1B2A3A"/>
                </a:solidFill>
                <a:latin typeface="Noto Sans"/>
                <a:ea typeface="Noto Sans"/>
                <a:cs typeface="Noto Sans"/>
              </a:rPr>
              <a:t>ロング相談・定期利用の確認候補</a:t>
            </a:r>
          </a:p>
        </p:txBody>
      </p:sp>
      <p:sp>
        <p:nvSpPr>
          <p:cNvPr id="155" name="Google Shape;155;p16">
            <a:extLst xmlns:a="http://schemas.openxmlformats.org/drawingml/2006/main">
              <a:ext uri="{FF2B5EF4-FFF2-40B4-BE49-F238E27FC236}">
                <a16:creationId xmlns:a16="http://schemas.microsoft.com/office/drawing/2014/main" id="{4A1203C7-283E-43F3-A85A-779B50EE2063}"/>
              </a:ext>
            </a:extLst>
          </p:cNvPr>
          <p:cNvSpPr>
            <a:spLocks xmlns:a="http://schemas.openxmlformats.org/drawingml/2006/main" noGrp="1"/>
          </p:cNvSpPr>
          <p:nvPr/>
        </p:nvSpPr>
        <p:spPr>
          <a:xfrm xmlns:a="http://schemas.openxmlformats.org/drawingml/2006/main">
            <a:off x="819151" y="4838700"/>
            <a:ext cx="10515600" cy="514400"/>
          </a:xfrm>
          <a:prstGeom xmlns:a="http://schemas.openxmlformats.org/drawingml/2006/main" prst="roundRect">
            <a:avLst>
              <a:gd name="adj" fmla="val 14815"/>
            </a:avLst>
          </a:prstGeom>
          <a:solidFill xmlns:a="http://schemas.openxmlformats.org/drawingml/2006/main">
            <a:srgbClr val="F8FBFE"/>
          </a:solidFill>
          <a:ln xmlns:a="http://schemas.openxmlformats.org/drawingml/2006/main" w="7150" cmpd="sng">
            <a:solidFill>
              <a:srgbClr val="DCE7F2"/>
            </a:solidFill>
            <a:prstDash val="solid"/>
          </a:ln>
        </p:spPr>
        <p:txBody>
          <a:bodyPr xmlns:a="http://schemas.openxmlformats.org/drawingml/2006/main" spcFirstLastPara="1" wrap="square" lIns="91433" tIns="91433" rIns="91433" bIns="91433" anchor="ctr">
            <a:noAutofit/>
          </a:bodyPr>
          <a:lstStyle xmlns:a="http://schemas.openxmlformats.org/drawingml/2006/main"/>
          <a:p xmlns:a="http://schemas.openxmlformats.org/drawingml/2006/main"/>
        </p:txBody>
      </p:sp>
      <p:sp>
        <p:nvSpPr>
          <p:cNvPr id="156" name="Google Shape;156;p16">
            <a:extLst xmlns:a="http://schemas.openxmlformats.org/drawingml/2006/main">
              <a:ext uri="{FF2B5EF4-FFF2-40B4-BE49-F238E27FC236}">
                <a16:creationId xmlns:a16="http://schemas.microsoft.com/office/drawing/2014/main" id="{133B010A-E938-473A-B6F4-4F270983BC4F}"/>
              </a:ext>
            </a:extLst>
          </p:cNvPr>
          <p:cNvSpPr>
            <a:spLocks xmlns:a="http://schemas.openxmlformats.org/drawingml/2006/main" noGrp="1"/>
          </p:cNvSpPr>
          <p:nvPr/>
        </p:nvSpPr>
        <p:spPr>
          <a:xfrm xmlns:a="http://schemas.openxmlformats.org/drawingml/2006/main">
            <a:off x="1009651" y="4981575"/>
            <a:ext cx="781200" cy="228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33" tIns="45700" rIns="91433" bIns="45700" anchor="ctr">
            <a:noAutofit/>
          </a:bodyPr>
          <a:lstStyle xmlns:a="http://schemas.openxmlformats.org/drawingml/2006/main"/>
          <a:p xmlns:a="http://schemas.openxmlformats.org/drawingml/2006/main">
            <a:pPr algn="ctr">
              <a:buNone/>
            </a:pPr>
            <a:r>
              <a:rPr sz="1067" b="1">
                <a:solidFill>
                  <a:srgbClr val="1E3A5F"/>
                </a:solidFill>
                <a:latin typeface="Noto Sans"/>
                <a:ea typeface="Noto Sans"/>
                <a:cs typeface="Noto Sans"/>
              </a:rPr>
              <a:t>利用者</a:t>
            </a:r>
            <a:r>
              <a:rPr sz="1067" b="1">
                <a:solidFill>
                  <a:srgbClr val="1E3A5F"/>
                </a:solidFill>
                <a:latin typeface="Noto Sans"/>
                <a:ea typeface="Noto Sans"/>
                <a:cs typeface="Noto Sans"/>
              </a:rPr>
              <a:t>D</a:t>
            </a:r>
          </a:p>
        </p:txBody>
      </p:sp>
      <p:sp>
        <p:nvSpPr>
          <p:cNvPr id="157" name="Google Shape;157;p16">
            <a:extLst xmlns:a="http://schemas.openxmlformats.org/drawingml/2006/main">
              <a:ext uri="{FF2B5EF4-FFF2-40B4-BE49-F238E27FC236}">
                <a16:creationId xmlns:a16="http://schemas.microsoft.com/office/drawing/2014/main" id="{8E609D09-1687-4263-BCB9-A911B34F808E}"/>
              </a:ext>
            </a:extLst>
          </p:cNvPr>
          <p:cNvSpPr>
            <a:spLocks xmlns:a="http://schemas.openxmlformats.org/drawingml/2006/main" noGrp="1"/>
          </p:cNvSpPr>
          <p:nvPr/>
        </p:nvSpPr>
        <p:spPr>
          <a:xfrm xmlns:a="http://schemas.openxmlformats.org/drawingml/2006/main">
            <a:off x="2038351" y="4953000"/>
            <a:ext cx="1772000" cy="286000"/>
          </a:xfrm>
          <a:prstGeom xmlns:a="http://schemas.openxmlformats.org/drawingml/2006/main" prst="roundRect">
            <a:avLst>
              <a:gd name="adj" fmla="val 20000"/>
            </a:avLst>
          </a:prstGeom>
          <a:solidFill xmlns:a="http://schemas.openxmlformats.org/drawingml/2006/main">
            <a:srgbClr val="EAF1F8"/>
          </a:solidFill>
          <a:ln xmlns:a="http://schemas.openxmlformats.org/drawingml/2006/main" w="7150" cmpd="sng">
            <a:solidFill>
              <a:srgbClr val="D2DEEA"/>
            </a:solidFill>
            <a:prstDash val="solid"/>
          </a:ln>
        </p:spPr>
        <p:txBody>
          <a:bodyPr xmlns:a="http://schemas.openxmlformats.org/drawingml/2006/main" spcFirstLastPara="1" wrap="square" lIns="91433" tIns="91433" rIns="91433" bIns="91433" anchor="ctr">
            <a:noAutofit/>
          </a:bodyPr>
          <a:lstStyle xmlns:a="http://schemas.openxmlformats.org/drawingml/2006/main"/>
          <a:p xmlns:a="http://schemas.openxmlformats.org/drawingml/2006/main"/>
        </p:txBody>
      </p:sp>
      <p:sp>
        <p:nvSpPr>
          <p:cNvPr id="158" name="Google Shape;158;p16">
            <a:extLst xmlns:a="http://schemas.openxmlformats.org/drawingml/2006/main">
              <a:ext uri="{FF2B5EF4-FFF2-40B4-BE49-F238E27FC236}">
                <a16:creationId xmlns:a16="http://schemas.microsoft.com/office/drawing/2014/main" id="{1DB7F5A4-2D56-4E03-A708-9D6DA37C45A2}"/>
              </a:ext>
            </a:extLst>
          </p:cNvPr>
          <p:cNvSpPr>
            <a:spLocks xmlns:a="http://schemas.openxmlformats.org/drawingml/2006/main" noGrp="1"/>
          </p:cNvSpPr>
          <p:nvPr/>
        </p:nvSpPr>
        <p:spPr>
          <a:xfrm xmlns:a="http://schemas.openxmlformats.org/drawingml/2006/main">
            <a:off x="2038351" y="4953000"/>
            <a:ext cx="609600" cy="286000"/>
          </a:xfrm>
          <a:prstGeom xmlns:a="http://schemas.openxmlformats.org/drawingml/2006/main" prst="roundRect">
            <a:avLst>
              <a:gd name="adj" fmla="val 20000"/>
            </a:avLst>
          </a:prstGeom>
          <a:solidFill xmlns:a="http://schemas.openxmlformats.org/drawingml/2006/main">
            <a:srgbClr val="1E3A5F"/>
          </a:solidFill>
          <a:ln xmlns:a="http://schemas.openxmlformats.org/drawingml/2006/main" w="7150" cmpd="sng">
            <a:solidFill>
              <a:srgbClr val="1E3A5F"/>
            </a:solidFill>
            <a:prstDash val="solid"/>
          </a:ln>
        </p:spPr>
        <p:txBody>
          <a:bodyPr xmlns:a="http://schemas.openxmlformats.org/drawingml/2006/main" spcFirstLastPara="1" wrap="square" lIns="91433" tIns="91433" rIns="91433" bIns="91433" anchor="ctr">
            <a:noAutofit/>
          </a:bodyPr>
          <a:lstStyle xmlns:a="http://schemas.openxmlformats.org/drawingml/2006/main"/>
          <a:p xmlns:a="http://schemas.openxmlformats.org/drawingml/2006/main"/>
        </p:txBody>
      </p:sp>
      <p:sp>
        <p:nvSpPr>
          <p:cNvPr id="159" name="Google Shape;159;p16">
            <a:extLst xmlns:a="http://schemas.openxmlformats.org/drawingml/2006/main">
              <a:ext uri="{FF2B5EF4-FFF2-40B4-BE49-F238E27FC236}">
                <a16:creationId xmlns:a16="http://schemas.microsoft.com/office/drawing/2014/main" id="{B29C6A15-186A-4E29-A8CC-A58ED2D54133}"/>
              </a:ext>
            </a:extLst>
          </p:cNvPr>
          <p:cNvSpPr>
            <a:spLocks xmlns:a="http://schemas.openxmlformats.org/drawingml/2006/main" noGrp="1"/>
          </p:cNvSpPr>
          <p:nvPr/>
        </p:nvSpPr>
        <p:spPr>
          <a:xfrm xmlns:a="http://schemas.openxmlformats.org/drawingml/2006/main">
            <a:off x="2095500" y="4981575"/>
            <a:ext cx="495200" cy="228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33" tIns="45700" rIns="91433" bIns="45700" anchor="ctr">
            <a:noAutofit/>
          </a:bodyPr>
          <a:lstStyle xmlns:a="http://schemas.openxmlformats.org/drawingml/2006/main"/>
          <a:p xmlns:a="http://schemas.openxmlformats.org/drawingml/2006/main">
            <a:pPr algn="ctr">
              <a:buNone/>
            </a:pPr>
            <a:r>
              <a:rPr sz="933" b="1">
                <a:solidFill>
                  <a:srgbClr val="FFFFFF"/>
                </a:solidFill>
                <a:latin typeface="Noto Sans"/>
                <a:ea typeface="Noto Sans"/>
                <a:cs typeface="Noto Sans"/>
              </a:rPr>
              <a:t>5/10</a:t>
            </a:r>
          </a:p>
        </p:txBody>
      </p:sp>
      <p:sp>
        <p:nvSpPr>
          <p:cNvPr id="160" name="Google Shape;160;p16">
            <a:extLst xmlns:a="http://schemas.openxmlformats.org/drawingml/2006/main">
              <a:ext uri="{FF2B5EF4-FFF2-40B4-BE49-F238E27FC236}">
                <a16:creationId xmlns:a16="http://schemas.microsoft.com/office/drawing/2014/main" id="{41020C9C-59E7-4CB9-8678-56EDC56ED47D}"/>
              </a:ext>
            </a:extLst>
          </p:cNvPr>
          <p:cNvSpPr>
            <a:spLocks xmlns:a="http://schemas.openxmlformats.org/drawingml/2006/main" noGrp="1"/>
          </p:cNvSpPr>
          <p:nvPr/>
        </p:nvSpPr>
        <p:spPr>
          <a:xfrm xmlns:a="http://schemas.openxmlformats.org/drawingml/2006/main">
            <a:off x="2724151" y="4981575"/>
            <a:ext cx="1028800" cy="228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33" tIns="45700" rIns="91433" bIns="45700" anchor="ctr">
            <a:noAutofit/>
          </a:bodyPr>
          <a:lstStyle xmlns:a="http://schemas.openxmlformats.org/drawingml/2006/main"/>
          <a:p xmlns:a="http://schemas.openxmlformats.org/drawingml/2006/main">
            <a:r>
              <a:rPr sz="933" b="1">
                <a:solidFill>
                  <a:srgbClr val="1B2A3A"/>
                </a:solidFill>
                <a:latin typeface="Noto Sans"/>
                <a:ea typeface="Noto Sans"/>
                <a:cs typeface="Noto Sans"/>
              </a:rPr>
              <a:t>ショート利用</a:t>
            </a:r>
          </a:p>
        </p:txBody>
      </p:sp>
      <p:sp>
        <p:nvSpPr>
          <p:cNvPr id="161" name="Google Shape;161;p16">
            <a:extLst xmlns:a="http://schemas.openxmlformats.org/drawingml/2006/main">
              <a:ext uri="{FF2B5EF4-FFF2-40B4-BE49-F238E27FC236}">
                <a16:creationId xmlns:a16="http://schemas.microsoft.com/office/drawing/2014/main" id="{EC820B01-26CA-4348-8964-0A271465EDB6}"/>
              </a:ext>
            </a:extLst>
          </p:cNvPr>
          <p:cNvSpPr>
            <a:spLocks xmlns:a="http://schemas.openxmlformats.org/drawingml/2006/main" noGrp="1"/>
          </p:cNvSpPr>
          <p:nvPr/>
        </p:nvSpPr>
        <p:spPr>
          <a:xfrm xmlns:a="http://schemas.openxmlformats.org/drawingml/2006/main">
            <a:off x="3829051" y="4943475"/>
            <a:ext cx="266800" cy="28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33" tIns="45700" rIns="91433" bIns="45700" anchor="ctr">
            <a:noAutofit/>
          </a:bodyPr>
          <a:lstStyle xmlns:a="http://schemas.openxmlformats.org/drawingml/2006/main"/>
          <a:p xmlns:a="http://schemas.openxmlformats.org/drawingml/2006/main">
            <a:pPr algn="ctr">
              <a:buNone/>
            </a:pPr>
            <a:r>
              <a:rPr sz="1467" b="1">
                <a:solidFill>
                  <a:srgbClr val="3A6FA5"/>
                </a:solidFill>
                <a:latin typeface="Noto Sans"/>
                <a:ea typeface="Noto Sans"/>
                <a:cs typeface="Noto Sans"/>
              </a:rPr>
              <a:t>→</a:t>
            </a:r>
          </a:p>
        </p:txBody>
      </p:sp>
      <p:sp>
        <p:nvSpPr>
          <p:cNvPr id="162" name="Google Shape;162;p16">
            <a:extLst xmlns:a="http://schemas.openxmlformats.org/drawingml/2006/main">
              <a:ext uri="{FF2B5EF4-FFF2-40B4-BE49-F238E27FC236}">
                <a16:creationId xmlns:a16="http://schemas.microsoft.com/office/drawing/2014/main" id="{15630082-8E43-42E2-995E-62B7341917CB}"/>
              </a:ext>
            </a:extLst>
          </p:cNvPr>
          <p:cNvSpPr>
            <a:spLocks xmlns:a="http://schemas.openxmlformats.org/drawingml/2006/main" noGrp="1"/>
          </p:cNvSpPr>
          <p:nvPr/>
        </p:nvSpPr>
        <p:spPr>
          <a:xfrm xmlns:a="http://schemas.openxmlformats.org/drawingml/2006/main">
            <a:off x="4000500" y="4953000"/>
            <a:ext cx="1505200" cy="286000"/>
          </a:xfrm>
          <a:prstGeom xmlns:a="http://schemas.openxmlformats.org/drawingml/2006/main" prst="roundRect">
            <a:avLst>
              <a:gd name="adj" fmla="val 20000"/>
            </a:avLst>
          </a:prstGeom>
          <a:solidFill xmlns:a="http://schemas.openxmlformats.org/drawingml/2006/main">
            <a:srgbClr val="EAF1F8"/>
          </a:solidFill>
          <a:ln xmlns:a="http://schemas.openxmlformats.org/drawingml/2006/main" w="7150" cmpd="sng">
            <a:solidFill>
              <a:srgbClr val="D2DEEA"/>
            </a:solidFill>
            <a:prstDash val="solid"/>
          </a:ln>
        </p:spPr>
        <p:txBody>
          <a:bodyPr xmlns:a="http://schemas.openxmlformats.org/drawingml/2006/main" spcFirstLastPara="1" wrap="square" lIns="91433" tIns="91433" rIns="91433" bIns="91433" anchor="ctr">
            <a:noAutofit/>
          </a:bodyPr>
          <a:lstStyle xmlns:a="http://schemas.openxmlformats.org/drawingml/2006/main"/>
          <a:p xmlns:a="http://schemas.openxmlformats.org/drawingml/2006/main"/>
        </p:txBody>
      </p:sp>
      <p:sp>
        <p:nvSpPr>
          <p:cNvPr id="163" name="Google Shape;163;p16">
            <a:extLst xmlns:a="http://schemas.openxmlformats.org/drawingml/2006/main">
              <a:ext uri="{FF2B5EF4-FFF2-40B4-BE49-F238E27FC236}">
                <a16:creationId xmlns:a16="http://schemas.microsoft.com/office/drawing/2014/main" id="{90381ABE-E711-4C0F-9F26-92F3641DBBE8}"/>
              </a:ext>
            </a:extLst>
          </p:cNvPr>
          <p:cNvSpPr>
            <a:spLocks xmlns:a="http://schemas.openxmlformats.org/drawingml/2006/main" noGrp="1"/>
          </p:cNvSpPr>
          <p:nvPr/>
        </p:nvSpPr>
        <p:spPr>
          <a:xfrm xmlns:a="http://schemas.openxmlformats.org/drawingml/2006/main">
            <a:off x="4000500" y="4953000"/>
            <a:ext cx="609600" cy="286000"/>
          </a:xfrm>
          <a:prstGeom xmlns:a="http://schemas.openxmlformats.org/drawingml/2006/main" prst="roundRect">
            <a:avLst>
              <a:gd name="adj" fmla="val 20000"/>
            </a:avLst>
          </a:prstGeom>
          <a:solidFill xmlns:a="http://schemas.openxmlformats.org/drawingml/2006/main">
            <a:srgbClr val="1E3A5F"/>
          </a:solidFill>
          <a:ln xmlns:a="http://schemas.openxmlformats.org/drawingml/2006/main" w="7150" cmpd="sng">
            <a:solidFill>
              <a:srgbClr val="1E3A5F"/>
            </a:solidFill>
            <a:prstDash val="solid"/>
          </a:ln>
        </p:spPr>
        <p:txBody>
          <a:bodyPr xmlns:a="http://schemas.openxmlformats.org/drawingml/2006/main" spcFirstLastPara="1" wrap="square" lIns="91433" tIns="91433" rIns="91433" bIns="91433" anchor="ctr">
            <a:noAutofit/>
          </a:bodyPr>
          <a:lstStyle xmlns:a="http://schemas.openxmlformats.org/drawingml/2006/main"/>
          <a:p xmlns:a="http://schemas.openxmlformats.org/drawingml/2006/main"/>
        </p:txBody>
      </p:sp>
      <p:sp>
        <p:nvSpPr>
          <p:cNvPr id="164" name="Google Shape;164;p16">
            <a:extLst xmlns:a="http://schemas.openxmlformats.org/drawingml/2006/main">
              <a:ext uri="{FF2B5EF4-FFF2-40B4-BE49-F238E27FC236}">
                <a16:creationId xmlns:a16="http://schemas.microsoft.com/office/drawing/2014/main" id="{F6736D5B-CB0C-493D-A8AE-B160888443C5}"/>
              </a:ext>
            </a:extLst>
          </p:cNvPr>
          <p:cNvSpPr>
            <a:spLocks xmlns:a="http://schemas.openxmlformats.org/drawingml/2006/main" noGrp="1"/>
          </p:cNvSpPr>
          <p:nvPr/>
        </p:nvSpPr>
        <p:spPr>
          <a:xfrm xmlns:a="http://schemas.openxmlformats.org/drawingml/2006/main">
            <a:off x="4057651" y="4981575"/>
            <a:ext cx="495200" cy="228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33" tIns="45700" rIns="91433" bIns="45700" anchor="ctr">
            <a:noAutofit/>
          </a:bodyPr>
          <a:lstStyle xmlns:a="http://schemas.openxmlformats.org/drawingml/2006/main"/>
          <a:p xmlns:a="http://schemas.openxmlformats.org/drawingml/2006/main">
            <a:pPr algn="ctr">
              <a:buNone/>
            </a:pPr>
            <a:r>
              <a:rPr sz="933" b="1">
                <a:solidFill>
                  <a:srgbClr val="FFFFFF"/>
                </a:solidFill>
                <a:latin typeface="Noto Sans"/>
                <a:ea typeface="Noto Sans"/>
                <a:cs typeface="Noto Sans"/>
              </a:rPr>
              <a:t>以後</a:t>
            </a:r>
          </a:p>
        </p:txBody>
      </p:sp>
      <p:sp>
        <p:nvSpPr>
          <p:cNvPr id="165" name="Google Shape;165;p16">
            <a:extLst xmlns:a="http://schemas.openxmlformats.org/drawingml/2006/main">
              <a:ext uri="{FF2B5EF4-FFF2-40B4-BE49-F238E27FC236}">
                <a16:creationId xmlns:a16="http://schemas.microsoft.com/office/drawing/2014/main" id="{40725709-57E5-4B5B-AAA2-E8C991A97286}"/>
              </a:ext>
            </a:extLst>
          </p:cNvPr>
          <p:cNvSpPr>
            <a:spLocks xmlns:a="http://schemas.openxmlformats.org/drawingml/2006/main" noGrp="1"/>
          </p:cNvSpPr>
          <p:nvPr/>
        </p:nvSpPr>
        <p:spPr>
          <a:xfrm xmlns:a="http://schemas.openxmlformats.org/drawingml/2006/main">
            <a:off x="4686300" y="4981575"/>
            <a:ext cx="762000" cy="228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33" tIns="45700" rIns="91433" bIns="45700" anchor="ctr">
            <a:noAutofit/>
          </a:bodyPr>
          <a:lstStyle xmlns:a="http://schemas.openxmlformats.org/drawingml/2006/main"/>
          <a:p xmlns:a="http://schemas.openxmlformats.org/drawingml/2006/main">
            <a:r>
              <a:rPr sz="933" b="1">
                <a:solidFill>
                  <a:srgbClr val="1B2A3A"/>
                </a:solidFill>
                <a:latin typeface="Noto Sans"/>
                <a:ea typeface="Noto Sans"/>
                <a:cs typeface="Noto Sans"/>
              </a:rPr>
              <a:t>再利用なし</a:t>
            </a:r>
          </a:p>
        </p:txBody>
      </p:sp>
      <p:sp>
        <p:nvSpPr>
          <p:cNvPr id="166" name="Google Shape;166;p16">
            <a:extLst xmlns:a="http://schemas.openxmlformats.org/drawingml/2006/main">
              <a:ext uri="{FF2B5EF4-FFF2-40B4-BE49-F238E27FC236}">
                <a16:creationId xmlns:a16="http://schemas.microsoft.com/office/drawing/2014/main" id="{AED0DCC5-AA35-44CB-BDF6-A1204EDFD0D4}"/>
              </a:ext>
            </a:extLst>
          </p:cNvPr>
          <p:cNvSpPr>
            <a:spLocks xmlns:a="http://schemas.openxmlformats.org/drawingml/2006/main" noGrp="1"/>
          </p:cNvSpPr>
          <p:nvPr/>
        </p:nvSpPr>
        <p:spPr>
          <a:xfrm xmlns:a="http://schemas.openxmlformats.org/drawingml/2006/main">
            <a:off x="8477251" y="4905375"/>
            <a:ext cx="2666800" cy="381200"/>
          </a:xfrm>
          <a:prstGeom xmlns:a="http://schemas.openxmlformats.org/drawingml/2006/main" prst="roundRect">
            <a:avLst>
              <a:gd name="adj" fmla="val 20000"/>
            </a:avLst>
          </a:prstGeom>
          <a:solidFill xmlns:a="http://schemas.openxmlformats.org/drawingml/2006/main">
            <a:srgbClr val="EAF1F8"/>
          </a:solidFill>
          <a:ln xmlns:a="http://schemas.openxmlformats.org/drawingml/2006/main" w="7150" cmpd="sng">
            <a:solidFill>
              <a:srgbClr val="D2DEEA"/>
            </a:solidFill>
            <a:prstDash val="solid"/>
          </a:ln>
        </p:spPr>
        <p:txBody>
          <a:bodyPr xmlns:a="http://schemas.openxmlformats.org/drawingml/2006/main" spcFirstLastPara="1" wrap="square" lIns="91433" tIns="91433" rIns="91433" bIns="91433" anchor="ctr">
            <a:noAutofit/>
          </a:bodyPr>
          <a:lstStyle xmlns:a="http://schemas.openxmlformats.org/drawingml/2006/main"/>
          <a:p xmlns:a="http://schemas.openxmlformats.org/drawingml/2006/main"/>
        </p:txBody>
      </p:sp>
      <p:sp>
        <p:nvSpPr>
          <p:cNvPr id="167" name="Google Shape;167;p16">
            <a:extLst xmlns:a="http://schemas.openxmlformats.org/drawingml/2006/main">
              <a:ext uri="{FF2B5EF4-FFF2-40B4-BE49-F238E27FC236}">
                <a16:creationId xmlns:a16="http://schemas.microsoft.com/office/drawing/2014/main" id="{75242A46-46D1-4DC4-8156-BDCF116F287B}"/>
              </a:ext>
            </a:extLst>
          </p:cNvPr>
          <p:cNvSpPr>
            <a:spLocks xmlns:a="http://schemas.openxmlformats.org/drawingml/2006/main" noGrp="1"/>
          </p:cNvSpPr>
          <p:nvPr/>
        </p:nvSpPr>
        <p:spPr>
          <a:xfrm xmlns:a="http://schemas.openxmlformats.org/drawingml/2006/main">
            <a:off x="8629651" y="4962525"/>
            <a:ext cx="2362400" cy="26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33" tIns="45700" rIns="91433" bIns="45700" anchor="ctr">
            <a:noAutofit/>
          </a:bodyPr>
          <a:lstStyle xmlns:a="http://schemas.openxmlformats.org/drawingml/2006/main"/>
          <a:p xmlns:a="http://schemas.openxmlformats.org/drawingml/2006/main">
            <a:pPr algn="ctr">
              <a:buNone/>
            </a:pPr>
            <a:r>
              <a:rPr sz="933" b="1">
                <a:solidFill>
                  <a:srgbClr val="1B2A3A"/>
                </a:solidFill>
                <a:latin typeface="Noto Sans"/>
                <a:ea typeface="Noto Sans"/>
                <a:cs typeface="Noto Sans"/>
              </a:rPr>
              <a:t>再利用フォローの確認候補</a:t>
            </a:r>
          </a:p>
        </p:txBody>
      </p:sp>
      <p:sp>
        <p:nvSpPr>
          <p:cNvPr id="168" name="Google Shape;168;p16">
            <a:extLst xmlns:a="http://schemas.openxmlformats.org/drawingml/2006/main">
              <a:ext uri="{FF2B5EF4-FFF2-40B4-BE49-F238E27FC236}">
                <a16:creationId xmlns:a16="http://schemas.microsoft.com/office/drawing/2014/main" id="{49EDE9C0-55DC-420A-8657-94EF440B610E}"/>
              </a:ext>
            </a:extLst>
          </p:cNvPr>
          <p:cNvSpPr>
            <a:spLocks xmlns:a="http://schemas.openxmlformats.org/drawingml/2006/main" noGrp="1"/>
          </p:cNvSpPr>
          <p:nvPr/>
        </p:nvSpPr>
        <p:spPr>
          <a:xfrm xmlns:a="http://schemas.openxmlformats.org/drawingml/2006/main">
            <a:off x="819151" y="5638800"/>
            <a:ext cx="10515600" cy="32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33" tIns="45700" rIns="91433" bIns="45700" anchor="ctr">
            <a:noAutofit/>
          </a:bodyPr>
          <a:lstStyle xmlns:a="http://schemas.openxmlformats.org/drawingml/2006/main"/>
          <a:p xmlns:a="http://schemas.openxmlformats.org/drawingml/2006/main">
            <a:pPr algn="ctr">
              <a:buNone/>
            </a:pPr>
            <a:r>
              <a:rPr sz="1200">
                <a:solidFill>
                  <a:srgbClr val="5E7589"/>
                </a:solidFill>
                <a:latin typeface="Noto Sans"/>
                <a:ea typeface="Noto Sans"/>
                <a:cs typeface="Noto Sans"/>
              </a:rPr>
              <a:t>利用者ごとの履歴を日付で追うことで、どこで流れが止まり、どの層を確認すべきかを整理した。</a:t>
            </a:r>
          </a:p>
        </p:txBody>
      </p:sp>
    </p:spTree>
    <p:extLst>
      <p:ext uri="{BB962C8B-B14F-4D97-AF65-F5344CB8AC3E}">
        <p14:creationId xmlns:p14="http://schemas.microsoft.com/office/powerpoint/2010/main" val="1919071668"/>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74" name="Google Shape;174;p17">
            <a:extLst xmlns:a="http://schemas.openxmlformats.org/drawingml/2006/main">
              <a:ext uri="{FF2B5EF4-FFF2-40B4-BE49-F238E27FC236}">
                <a16:creationId xmlns:a16="http://schemas.microsoft.com/office/drawing/2014/main" id="{F6C24644-E1E4-4CCF-959F-B5F8BA521FAE}"/>
              </a:ext>
            </a:extLst>
          </p:cNvPr>
          <p:cNvSpPr>
            <a:spLocks xmlns:a="http://schemas.openxmlformats.org/drawingml/2006/main" noGrp="1"/>
          </p:cNvSpPr>
          <p:nvPr/>
        </p:nvSpPr>
        <p:spPr>
          <a:xfrm xmlns:a="http://schemas.openxmlformats.org/drawingml/2006/main">
            <a:off x="822960" y="566928"/>
            <a:ext cx="566800" cy="566800"/>
          </a:xfrm>
          <a:prstGeom xmlns:a="http://schemas.openxmlformats.org/drawingml/2006/main" prst="ellipse">
            <a:avLst/>
          </a:prstGeom>
          <a:solidFill xmlns:a="http://schemas.openxmlformats.org/drawingml/2006/main">
            <a:srgbClr val="1E3A5F"/>
          </a:solidFill>
          <a:ln xmlns:a="http://schemas.openxmlformats.org/drawingml/2006/main">
            <a:noFill/>
          </a:ln>
        </p:spPr>
        <p:txBody>
          <a:bodyPr xmlns:a="http://schemas.openxmlformats.org/drawingml/2006/main" spcFirstLastPara="1" wrap="square" lIns="91433" tIns="91433" rIns="91433" bIns="91433" anchor="ctr">
            <a:noAutofit/>
          </a:bodyPr>
          <a:lstStyle xmlns:a="http://schemas.openxmlformats.org/drawingml/2006/main"/>
          <a:p xmlns:a="http://schemas.openxmlformats.org/drawingml/2006/main"/>
        </p:txBody>
      </p:sp>
      <p:pic>
        <p:nvPicPr>
          <p:cNvPr id="204" name="Google Shape;175;p17"/>
          <p:cNvPicPr>
            <a:picLocks xmlns:a="http://schemas.openxmlformats.org/drawingml/2006/main" noChangeAspect="1"/>
          </p:cNvPicPr>
          <p:nvPr/>
        </p:nvPicPr>
        <p:blipFill rotWithShape="1">
          <a:blip xmlns:r="http://schemas.openxmlformats.org/officeDocument/2006/relationships" xmlns:a="http://schemas.openxmlformats.org/drawingml/2006/main" r:embed="R31fddc51519b436a">
            <a:alphaModFix/>
          </a:blip>
          <a:srcRect xmlns:a="http://schemas.openxmlformats.org/drawingml/2006/main" l="0" t="0" r="0" b="0"/>
          <a:stretch xmlns:a="http://schemas.openxmlformats.org/drawingml/2006/main"/>
        </p:blipFill>
        <p:spPr>
          <a:xfrm xmlns:a="http://schemas.openxmlformats.org/drawingml/2006/main">
            <a:off x="970362" y="714330"/>
            <a:ext cx="272124" cy="272124"/>
          </a:xfrm>
          <a:prstGeom xmlns:a="http://schemas.openxmlformats.org/drawingml/2006/main" prst="rect">
            <a:avLst/>
          </a:prstGeom>
          <a:ln xmlns:a="http://schemas.openxmlformats.org/drawingml/2006/main">
            <a:noFill/>
          </a:ln>
        </p:spPr>
      </p:pic>
      <p:sp>
        <p:nvSpPr>
          <p:cNvPr id="176" name="Google Shape;176;p17">
            <a:extLst xmlns:a="http://schemas.openxmlformats.org/drawingml/2006/main">
              <a:ext uri="{FF2B5EF4-FFF2-40B4-BE49-F238E27FC236}">
                <a16:creationId xmlns:a16="http://schemas.microsoft.com/office/drawing/2014/main" id="{ED5F8178-D10C-433F-AE5C-57D8CFB158D3}"/>
              </a:ext>
            </a:extLst>
          </p:cNvPr>
          <p:cNvSpPr>
            <a:spLocks xmlns:a="http://schemas.openxmlformats.org/drawingml/2006/main" noGrp="1"/>
          </p:cNvSpPr>
          <p:nvPr/>
        </p:nvSpPr>
        <p:spPr>
          <a:xfrm xmlns:a="http://schemas.openxmlformats.org/drawingml/2006/main">
            <a:off x="1572768" y="548640"/>
            <a:ext cx="8229600" cy="27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a:buNone/>
            </a:pPr>
            <a:r>
              <a:rPr sz="1067" b="1">
                <a:solidFill>
                  <a:srgbClr val="3A6FA5"/>
                </a:solidFill>
                <a:latin typeface="Noto Sans"/>
                <a:ea typeface="Noto Sans"/>
                <a:cs typeface="Noto Sans"/>
              </a:rPr>
              <a:t>利用者分析で、確認対象とフォロー方向性を整理する</a:t>
            </a:r>
          </a:p>
        </p:txBody>
      </p:sp>
      <p:sp>
        <p:nvSpPr>
          <p:cNvPr id="177" name="Google Shape;177;p17">
            <a:extLst xmlns:a="http://schemas.openxmlformats.org/drawingml/2006/main">
              <a:ext uri="{FF2B5EF4-FFF2-40B4-BE49-F238E27FC236}">
                <a16:creationId xmlns:a16="http://schemas.microsoft.com/office/drawing/2014/main" id="{CB29D095-0BF7-41F9-AE51-205041EF7BFB}"/>
              </a:ext>
            </a:extLst>
          </p:cNvPr>
          <p:cNvSpPr>
            <a:spLocks xmlns:a="http://schemas.openxmlformats.org/drawingml/2006/main" noGrp="1"/>
          </p:cNvSpPr>
          <p:nvPr/>
        </p:nvSpPr>
        <p:spPr>
          <a:xfrm xmlns:a="http://schemas.openxmlformats.org/drawingml/2006/main">
            <a:off x="1572768" y="822960"/>
            <a:ext cx="9766000" cy="60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a:buNone/>
            </a:pPr>
            <a:r>
              <a:rPr sz="2667" b="1">
                <a:solidFill>
                  <a:srgbClr val="1B2A3A"/>
                </a:solidFill>
                <a:latin typeface="Noto Sans"/>
                <a:ea typeface="Noto Sans"/>
                <a:cs typeface="Noto Sans"/>
              </a:rPr>
              <a:t>利用者分析で具体化した確認対象</a:t>
            </a:r>
          </a:p>
        </p:txBody>
      </p:sp>
      <p:sp>
        <p:nvSpPr>
          <p:cNvPr id="178" name="Google Shape;178;p17">
            <a:extLst xmlns:a="http://schemas.openxmlformats.org/drawingml/2006/main">
              <a:ext uri="{FF2B5EF4-FFF2-40B4-BE49-F238E27FC236}">
                <a16:creationId xmlns:a16="http://schemas.microsoft.com/office/drawing/2014/main" id="{C57DCA96-3485-4312-9581-D9645BD78310}"/>
              </a:ext>
            </a:extLst>
          </p:cNvPr>
          <p:cNvSpPr>
            <a:spLocks xmlns:a="http://schemas.openxmlformats.org/drawingml/2006/main" noGrp="1"/>
          </p:cNvSpPr>
          <p:nvPr/>
        </p:nvSpPr>
        <p:spPr>
          <a:xfrm xmlns:a="http://schemas.openxmlformats.org/drawingml/2006/main">
            <a:off x="822960" y="1600200"/>
            <a:ext cx="10515600" cy="749600"/>
          </a:xfrm>
          <a:prstGeom xmlns:a="http://schemas.openxmlformats.org/drawingml/2006/main" prst="roundRect">
            <a:avLst>
              <a:gd name="adj" fmla="val 9756"/>
            </a:avLst>
          </a:prstGeom>
          <a:solidFill xmlns:a="http://schemas.openxmlformats.org/drawingml/2006/main">
            <a:srgbClr val="EAF1F8"/>
          </a:solidFill>
          <a:ln xmlns:a="http://schemas.openxmlformats.org/drawingml/2006/main">
            <a:noFill/>
          </a:ln>
        </p:spPr>
        <p:txBody>
          <a:bodyPr xmlns:a="http://schemas.openxmlformats.org/drawingml/2006/main" spcFirstLastPara="1" wrap="square" lIns="91433" tIns="91433" rIns="91433" bIns="91433" anchor="ctr">
            <a:noAutofit/>
          </a:bodyPr>
          <a:lstStyle xmlns:a="http://schemas.openxmlformats.org/drawingml/2006/main"/>
          <a:p xmlns:a="http://schemas.openxmlformats.org/drawingml/2006/main"/>
        </p:txBody>
      </p:sp>
      <p:sp>
        <p:nvSpPr>
          <p:cNvPr id="179" name="Google Shape;179;p17">
            <a:extLst xmlns:a="http://schemas.openxmlformats.org/drawingml/2006/main">
              <a:ext uri="{FF2B5EF4-FFF2-40B4-BE49-F238E27FC236}">
                <a16:creationId xmlns:a16="http://schemas.microsoft.com/office/drawing/2014/main" id="{0E1EFE95-D089-4F59-B69C-1ACF939E09FA}"/>
              </a:ext>
            </a:extLst>
          </p:cNvPr>
          <p:cNvSpPr>
            <a:spLocks xmlns:a="http://schemas.openxmlformats.org/drawingml/2006/main" noGrp="1"/>
          </p:cNvSpPr>
          <p:nvPr/>
        </p:nvSpPr>
        <p:spPr>
          <a:xfrm xmlns:a="http://schemas.openxmlformats.org/drawingml/2006/main">
            <a:off x="1143000" y="1600200"/>
            <a:ext cx="9875200" cy="74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a:lnSpc>
                <a:spcPct val="110000"/>
              </a:lnSpc>
              <a:buNone/>
            </a:pPr>
            <a:r>
              <a:rPr sz="1467" b="1">
                <a:solidFill>
                  <a:srgbClr val="1E3A5F"/>
                </a:solidFill>
                <a:latin typeface="Noto Sans"/>
                <a:ea typeface="Noto Sans"/>
                <a:cs typeface="Noto Sans"/>
              </a:rPr>
              <a:t>利用者分析により、優先的に確認すべき対象とフォローの方向性が具体化した。</a:t>
            </a:r>
          </a:p>
        </p:txBody>
      </p:sp>
      <p:sp>
        <p:nvSpPr>
          <p:cNvPr id="180" name="Google Shape;180;p17">
            <a:extLst xmlns:a="http://schemas.openxmlformats.org/drawingml/2006/main">
              <a:ext uri="{FF2B5EF4-FFF2-40B4-BE49-F238E27FC236}">
                <a16:creationId xmlns:a16="http://schemas.microsoft.com/office/drawing/2014/main" id="{48090BA8-6114-4DCA-9582-FE6090A76228}"/>
              </a:ext>
            </a:extLst>
          </p:cNvPr>
          <p:cNvSpPr>
            <a:spLocks xmlns:a="http://schemas.openxmlformats.org/drawingml/2006/main" noGrp="1"/>
          </p:cNvSpPr>
          <p:nvPr/>
        </p:nvSpPr>
        <p:spPr>
          <a:xfrm xmlns:a="http://schemas.openxmlformats.org/drawingml/2006/main">
            <a:off x="822960" y="2542032"/>
            <a:ext cx="10515600" cy="731200"/>
          </a:xfrm>
          <a:prstGeom xmlns:a="http://schemas.openxmlformats.org/drawingml/2006/main" prst="roundRect">
            <a:avLst>
              <a:gd name="adj" fmla="val 7500"/>
            </a:avLst>
          </a:prstGeom>
          <a:solidFill xmlns:a="http://schemas.openxmlformats.org/drawingml/2006/main">
            <a:srgbClr val="F4F8FC"/>
          </a:solidFill>
          <a:ln xmlns:a="http://schemas.openxmlformats.org/drawingml/2006/main" w="9525" cmpd="sng">
            <a:solidFill>
              <a:srgbClr val="D2DEEA"/>
            </a:solidFill>
            <a:prstDash val="solid"/>
          </a:ln>
        </p:spPr>
        <p:txBody>
          <a:bodyPr xmlns:a="http://schemas.openxmlformats.org/drawingml/2006/main" spcFirstLastPara="1" wrap="square" lIns="91433" tIns="91433" rIns="91433" bIns="91433" anchor="ctr">
            <a:noAutofit/>
          </a:bodyPr>
          <a:lstStyle xmlns:a="http://schemas.openxmlformats.org/drawingml/2006/main"/>
          <a:p xmlns:a="http://schemas.openxmlformats.org/drawingml/2006/main"/>
        </p:txBody>
      </p:sp>
      <p:sp>
        <p:nvSpPr>
          <p:cNvPr id="181" name="Google Shape;181;p17">
            <a:extLst xmlns:a="http://schemas.openxmlformats.org/drawingml/2006/main">
              <a:ext uri="{FF2B5EF4-FFF2-40B4-BE49-F238E27FC236}">
                <a16:creationId xmlns:a16="http://schemas.microsoft.com/office/drawing/2014/main" id="{736DDB9F-55EA-49AC-9A1A-508064CACAEB}"/>
              </a:ext>
            </a:extLst>
          </p:cNvPr>
          <p:cNvSpPr>
            <a:spLocks xmlns:a="http://schemas.openxmlformats.org/drawingml/2006/main" noGrp="1"/>
          </p:cNvSpPr>
          <p:nvPr/>
        </p:nvSpPr>
        <p:spPr>
          <a:xfrm xmlns:a="http://schemas.openxmlformats.org/drawingml/2006/main">
            <a:off x="1005840" y="2734056"/>
            <a:ext cx="1051600" cy="347600"/>
          </a:xfrm>
          <a:prstGeom xmlns:a="http://schemas.openxmlformats.org/drawingml/2006/main" prst="roundRect">
            <a:avLst>
              <a:gd name="adj" fmla="val 15789"/>
            </a:avLst>
          </a:prstGeom>
          <a:solidFill xmlns:a="http://schemas.openxmlformats.org/drawingml/2006/main">
            <a:srgbClr val="1E3A5F"/>
          </a:solidFill>
          <a:ln xmlns:a="http://schemas.openxmlformats.org/drawingml/2006/main">
            <a:noFill/>
          </a:ln>
        </p:spPr>
        <p:txBody>
          <a:bodyPr xmlns:a="http://schemas.openxmlformats.org/drawingml/2006/main" spcFirstLastPara="1" wrap="square" lIns="91433" tIns="91433" rIns="91433" bIns="91433" anchor="ctr">
            <a:noAutofit/>
          </a:bodyPr>
          <a:lstStyle xmlns:a="http://schemas.openxmlformats.org/drawingml/2006/main"/>
          <a:p xmlns:a="http://schemas.openxmlformats.org/drawingml/2006/main"/>
        </p:txBody>
      </p:sp>
      <p:sp>
        <p:nvSpPr>
          <p:cNvPr id="182" name="Google Shape;182;p17">
            <a:extLst xmlns:a="http://schemas.openxmlformats.org/drawingml/2006/main">
              <a:ext uri="{FF2B5EF4-FFF2-40B4-BE49-F238E27FC236}">
                <a16:creationId xmlns:a16="http://schemas.microsoft.com/office/drawing/2014/main" id="{AF9A30E8-9475-4328-9408-6B1394F52F57}"/>
              </a:ext>
            </a:extLst>
          </p:cNvPr>
          <p:cNvSpPr>
            <a:spLocks xmlns:a="http://schemas.openxmlformats.org/drawingml/2006/main" noGrp="1"/>
          </p:cNvSpPr>
          <p:nvPr/>
        </p:nvSpPr>
        <p:spPr>
          <a:xfrm xmlns:a="http://schemas.openxmlformats.org/drawingml/2006/main">
            <a:off x="1005840" y="2734056"/>
            <a:ext cx="1051600" cy="347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algn="ctr">
              <a:buNone/>
            </a:pPr>
            <a:r>
              <a:rPr sz="1333" b="1">
                <a:solidFill>
                  <a:srgbClr val="FFFFFF"/>
                </a:solidFill>
                <a:latin typeface="Noto Sans"/>
                <a:ea typeface="Noto Sans"/>
                <a:cs typeface="Noto Sans"/>
              </a:rPr>
              <a:t>短期</a:t>
            </a:r>
          </a:p>
        </p:txBody>
      </p:sp>
      <p:sp>
        <p:nvSpPr>
          <p:cNvPr id="183" name="Google Shape;183;p17">
            <a:extLst xmlns:a="http://schemas.openxmlformats.org/drawingml/2006/main">
              <a:ext uri="{FF2B5EF4-FFF2-40B4-BE49-F238E27FC236}">
                <a16:creationId xmlns:a16="http://schemas.microsoft.com/office/drawing/2014/main" id="{A072225B-2D37-4C74-8E1C-CB9BC720D903}"/>
              </a:ext>
            </a:extLst>
          </p:cNvPr>
          <p:cNvSpPr>
            <a:spLocks xmlns:a="http://schemas.openxmlformats.org/drawingml/2006/main" noGrp="1"/>
          </p:cNvSpPr>
          <p:nvPr/>
        </p:nvSpPr>
        <p:spPr>
          <a:xfrm xmlns:a="http://schemas.openxmlformats.org/drawingml/2006/main">
            <a:off x="2240280" y="2542032"/>
            <a:ext cx="2834800" cy="731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a:buNone/>
            </a:pPr>
            <a:r>
              <a:rPr sz="1467" b="1">
                <a:solidFill>
                  <a:srgbClr val="1B2A3A"/>
                </a:solidFill>
                <a:latin typeface="Noto Sans"/>
                <a:ea typeface="Noto Sans"/>
                <a:cs typeface="Noto Sans"/>
              </a:rPr>
              <a:t>直近ショート利用者</a:t>
            </a:r>
          </a:p>
        </p:txBody>
      </p:sp>
      <p:sp>
        <p:nvSpPr>
          <p:cNvPr id="184" name="Google Shape;184;p17">
            <a:extLst xmlns:a="http://schemas.openxmlformats.org/drawingml/2006/main">
              <a:ext uri="{FF2B5EF4-FFF2-40B4-BE49-F238E27FC236}">
                <a16:creationId xmlns:a16="http://schemas.microsoft.com/office/drawing/2014/main" id="{C27D411F-1394-4F9E-9D5F-D69D5248828E}"/>
              </a:ext>
            </a:extLst>
          </p:cNvPr>
          <p:cNvSpPr>
            <a:spLocks xmlns:a="http://schemas.openxmlformats.org/drawingml/2006/main" noGrp="1"/>
          </p:cNvSpPr>
          <p:nvPr/>
        </p:nvSpPr>
        <p:spPr>
          <a:xfrm xmlns:a="http://schemas.openxmlformats.org/drawingml/2006/main">
            <a:off x="5166360" y="2542032"/>
            <a:ext cx="5989200" cy="731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a:lnSpc>
                <a:spcPct val="105000"/>
              </a:lnSpc>
              <a:buNone/>
            </a:pPr>
            <a:r>
              <a:rPr sz="1200">
                <a:solidFill>
                  <a:srgbClr val="5E7589"/>
                </a:solidFill>
                <a:latin typeface="Noto Sans"/>
                <a:ea typeface="Noto Sans"/>
                <a:cs typeface="Noto Sans"/>
              </a:rPr>
              <a:t>ショート経験はあるが利用日数が少ない層。再利用・追加利用の可能性を確認する。</a:t>
            </a:r>
          </a:p>
        </p:txBody>
      </p:sp>
      <p:sp>
        <p:nvSpPr>
          <p:cNvPr id="185" name="Google Shape;185;p17">
            <a:extLst xmlns:a="http://schemas.openxmlformats.org/drawingml/2006/main">
              <a:ext uri="{FF2B5EF4-FFF2-40B4-BE49-F238E27FC236}">
                <a16:creationId xmlns:a16="http://schemas.microsoft.com/office/drawing/2014/main" id="{BD52F58F-5707-4355-AA18-E59501289FAE}"/>
              </a:ext>
            </a:extLst>
          </p:cNvPr>
          <p:cNvSpPr>
            <a:spLocks xmlns:a="http://schemas.openxmlformats.org/drawingml/2006/main" noGrp="1"/>
          </p:cNvSpPr>
          <p:nvPr/>
        </p:nvSpPr>
        <p:spPr>
          <a:xfrm xmlns:a="http://schemas.openxmlformats.org/drawingml/2006/main">
            <a:off x="822960" y="3401568"/>
            <a:ext cx="10515600" cy="731200"/>
          </a:xfrm>
          <a:prstGeom xmlns:a="http://schemas.openxmlformats.org/drawingml/2006/main" prst="roundRect">
            <a:avLst>
              <a:gd name="adj" fmla="val 7500"/>
            </a:avLst>
          </a:prstGeom>
          <a:solidFill xmlns:a="http://schemas.openxmlformats.org/drawingml/2006/main">
            <a:srgbClr val="F4F8FC"/>
          </a:solidFill>
          <a:ln xmlns:a="http://schemas.openxmlformats.org/drawingml/2006/main" w="9525" cmpd="sng">
            <a:solidFill>
              <a:srgbClr val="D2DEEA"/>
            </a:solidFill>
            <a:prstDash val="solid"/>
          </a:ln>
        </p:spPr>
        <p:txBody>
          <a:bodyPr xmlns:a="http://schemas.openxmlformats.org/drawingml/2006/main" spcFirstLastPara="1" wrap="square" lIns="91433" tIns="91433" rIns="91433" bIns="91433" anchor="ctr">
            <a:noAutofit/>
          </a:bodyPr>
          <a:lstStyle xmlns:a="http://schemas.openxmlformats.org/drawingml/2006/main"/>
          <a:p xmlns:a="http://schemas.openxmlformats.org/drawingml/2006/main"/>
        </p:txBody>
      </p:sp>
      <p:sp>
        <p:nvSpPr>
          <p:cNvPr id="186" name="Google Shape;186;p17">
            <a:extLst xmlns:a="http://schemas.openxmlformats.org/drawingml/2006/main">
              <a:ext uri="{FF2B5EF4-FFF2-40B4-BE49-F238E27FC236}">
                <a16:creationId xmlns:a16="http://schemas.microsoft.com/office/drawing/2014/main" id="{4FC0D5C2-676E-4384-9C1A-1B54D9C0A325}"/>
              </a:ext>
            </a:extLst>
          </p:cNvPr>
          <p:cNvSpPr>
            <a:spLocks xmlns:a="http://schemas.openxmlformats.org/drawingml/2006/main" noGrp="1"/>
          </p:cNvSpPr>
          <p:nvPr/>
        </p:nvSpPr>
        <p:spPr>
          <a:xfrm xmlns:a="http://schemas.openxmlformats.org/drawingml/2006/main">
            <a:off x="1005840" y="3593592"/>
            <a:ext cx="1051600" cy="347600"/>
          </a:xfrm>
          <a:prstGeom xmlns:a="http://schemas.openxmlformats.org/drawingml/2006/main" prst="roundRect">
            <a:avLst>
              <a:gd name="adj" fmla="val 15789"/>
            </a:avLst>
          </a:prstGeom>
          <a:solidFill xmlns:a="http://schemas.openxmlformats.org/drawingml/2006/main">
            <a:srgbClr val="1E3A5F"/>
          </a:solidFill>
          <a:ln xmlns:a="http://schemas.openxmlformats.org/drawingml/2006/main">
            <a:noFill/>
          </a:ln>
        </p:spPr>
        <p:txBody>
          <a:bodyPr xmlns:a="http://schemas.openxmlformats.org/drawingml/2006/main" spcFirstLastPara="1" wrap="square" lIns="91433" tIns="91433" rIns="91433" bIns="91433" anchor="ctr">
            <a:noAutofit/>
          </a:bodyPr>
          <a:lstStyle xmlns:a="http://schemas.openxmlformats.org/drawingml/2006/main"/>
          <a:p xmlns:a="http://schemas.openxmlformats.org/drawingml/2006/main"/>
        </p:txBody>
      </p:sp>
      <p:sp>
        <p:nvSpPr>
          <p:cNvPr id="187" name="Google Shape;187;p17">
            <a:extLst xmlns:a="http://schemas.openxmlformats.org/drawingml/2006/main">
              <a:ext uri="{FF2B5EF4-FFF2-40B4-BE49-F238E27FC236}">
                <a16:creationId xmlns:a16="http://schemas.microsoft.com/office/drawing/2014/main" id="{91E926C7-2883-4990-8B2B-FABC7579204A}"/>
              </a:ext>
            </a:extLst>
          </p:cNvPr>
          <p:cNvSpPr>
            <a:spLocks xmlns:a="http://schemas.openxmlformats.org/drawingml/2006/main" noGrp="1"/>
          </p:cNvSpPr>
          <p:nvPr/>
        </p:nvSpPr>
        <p:spPr>
          <a:xfrm xmlns:a="http://schemas.openxmlformats.org/drawingml/2006/main">
            <a:off x="1005840" y="3593592"/>
            <a:ext cx="1051600" cy="347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algn="ctr">
              <a:buNone/>
            </a:pPr>
            <a:r>
              <a:rPr sz="1333" b="1">
                <a:solidFill>
                  <a:srgbClr val="FFFFFF"/>
                </a:solidFill>
                <a:latin typeface="Noto Sans"/>
                <a:ea typeface="Noto Sans"/>
                <a:cs typeface="Noto Sans"/>
              </a:rPr>
              <a:t>中期</a:t>
            </a:r>
          </a:p>
        </p:txBody>
      </p:sp>
      <p:sp>
        <p:nvSpPr>
          <p:cNvPr id="188" name="Google Shape;188;p17">
            <a:extLst xmlns:a="http://schemas.openxmlformats.org/drawingml/2006/main">
              <a:ext uri="{FF2B5EF4-FFF2-40B4-BE49-F238E27FC236}">
                <a16:creationId xmlns:a16="http://schemas.microsoft.com/office/drawing/2014/main" id="{6BF96A02-C612-4FDB-9A2B-28E492473A0D}"/>
              </a:ext>
            </a:extLst>
          </p:cNvPr>
          <p:cNvSpPr>
            <a:spLocks xmlns:a="http://schemas.openxmlformats.org/drawingml/2006/main" noGrp="1"/>
          </p:cNvSpPr>
          <p:nvPr/>
        </p:nvSpPr>
        <p:spPr>
          <a:xfrm xmlns:a="http://schemas.openxmlformats.org/drawingml/2006/main">
            <a:off x="2240280" y="3401568"/>
            <a:ext cx="2834800" cy="731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a:buNone/>
            </a:pPr>
            <a:r>
              <a:rPr sz="1467" b="1">
                <a:solidFill>
                  <a:srgbClr val="1B2A3A"/>
                </a:solidFill>
                <a:latin typeface="Noto Sans"/>
                <a:ea typeface="Noto Sans"/>
                <a:cs typeface="Noto Sans"/>
              </a:rPr>
              <a:t>ショート</a:t>
            </a:r>
            <a:r>
              <a:rPr sz="1467" b="1">
                <a:solidFill>
                  <a:srgbClr val="1B2A3A"/>
                </a:solidFill>
                <a:latin typeface="Noto Sans"/>
                <a:ea typeface="Noto Sans"/>
                <a:cs typeface="Noto Sans"/>
              </a:rPr>
              <a:t>15</a:t>
            </a:r>
            <a:r>
              <a:rPr sz="1467" b="1">
                <a:solidFill>
                  <a:srgbClr val="1B2A3A"/>
                </a:solidFill>
                <a:latin typeface="Noto Sans"/>
                <a:ea typeface="Noto Sans"/>
                <a:cs typeface="Noto Sans"/>
              </a:rPr>
              <a:t>日以上利用者</a:t>
            </a:r>
          </a:p>
        </p:txBody>
      </p:sp>
      <p:sp>
        <p:nvSpPr>
          <p:cNvPr id="189" name="Google Shape;189;p17">
            <a:extLst xmlns:a="http://schemas.openxmlformats.org/drawingml/2006/main">
              <a:ext uri="{FF2B5EF4-FFF2-40B4-BE49-F238E27FC236}">
                <a16:creationId xmlns:a16="http://schemas.microsoft.com/office/drawing/2014/main" id="{D22DCD70-86E2-4B6A-A901-0BDE20FEA0F3}"/>
              </a:ext>
            </a:extLst>
          </p:cNvPr>
          <p:cNvSpPr>
            <a:spLocks xmlns:a="http://schemas.openxmlformats.org/drawingml/2006/main" noGrp="1"/>
          </p:cNvSpPr>
          <p:nvPr/>
        </p:nvSpPr>
        <p:spPr>
          <a:xfrm xmlns:a="http://schemas.openxmlformats.org/drawingml/2006/main">
            <a:off x="5166360" y="3401568"/>
            <a:ext cx="5989200" cy="731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a:lnSpc>
                <a:spcPct val="105000"/>
              </a:lnSpc>
              <a:buNone/>
            </a:pPr>
            <a:r>
              <a:rPr sz="1200">
                <a:solidFill>
                  <a:srgbClr val="5E7589"/>
                </a:solidFill>
                <a:latin typeface="Noto Sans"/>
                <a:ea typeface="Noto Sans"/>
                <a:cs typeface="Noto Sans"/>
              </a:rPr>
              <a:t>泊まり経験があり施設利用への理解が一定ある層。安定利用とロング相談の可能性を確認する。</a:t>
            </a:r>
          </a:p>
        </p:txBody>
      </p:sp>
      <p:sp>
        <p:nvSpPr>
          <p:cNvPr id="190" name="Google Shape;190;p17">
            <a:extLst xmlns:a="http://schemas.openxmlformats.org/drawingml/2006/main">
              <a:ext uri="{FF2B5EF4-FFF2-40B4-BE49-F238E27FC236}">
                <a16:creationId xmlns:a16="http://schemas.microsoft.com/office/drawing/2014/main" id="{524CA008-DC51-4EC6-8FB7-2601E387C1C2}"/>
              </a:ext>
            </a:extLst>
          </p:cNvPr>
          <p:cNvSpPr>
            <a:spLocks xmlns:a="http://schemas.openxmlformats.org/drawingml/2006/main" noGrp="1"/>
          </p:cNvSpPr>
          <p:nvPr/>
        </p:nvSpPr>
        <p:spPr>
          <a:xfrm xmlns:a="http://schemas.openxmlformats.org/drawingml/2006/main">
            <a:off x="822960" y="4261104"/>
            <a:ext cx="10515600" cy="731200"/>
          </a:xfrm>
          <a:prstGeom xmlns:a="http://schemas.openxmlformats.org/drawingml/2006/main" prst="roundRect">
            <a:avLst>
              <a:gd name="adj" fmla="val 7500"/>
            </a:avLst>
          </a:prstGeom>
          <a:solidFill xmlns:a="http://schemas.openxmlformats.org/drawingml/2006/main">
            <a:srgbClr val="F4F8FC"/>
          </a:solidFill>
          <a:ln xmlns:a="http://schemas.openxmlformats.org/drawingml/2006/main" w="9525" cmpd="sng">
            <a:solidFill>
              <a:srgbClr val="D2DEEA"/>
            </a:solidFill>
            <a:prstDash val="solid"/>
          </a:ln>
        </p:spPr>
        <p:txBody>
          <a:bodyPr xmlns:a="http://schemas.openxmlformats.org/drawingml/2006/main" spcFirstLastPara="1" wrap="square" lIns="91433" tIns="91433" rIns="91433" bIns="91433" anchor="ctr">
            <a:noAutofit/>
          </a:bodyPr>
          <a:lstStyle xmlns:a="http://schemas.openxmlformats.org/drawingml/2006/main"/>
          <a:p xmlns:a="http://schemas.openxmlformats.org/drawingml/2006/main"/>
        </p:txBody>
      </p:sp>
      <p:sp>
        <p:nvSpPr>
          <p:cNvPr id="191" name="Google Shape;191;p17">
            <a:extLst xmlns:a="http://schemas.openxmlformats.org/drawingml/2006/main">
              <a:ext uri="{FF2B5EF4-FFF2-40B4-BE49-F238E27FC236}">
                <a16:creationId xmlns:a16="http://schemas.microsoft.com/office/drawing/2014/main" id="{C17A3D3A-53DC-486F-BBA3-3A983D5BB8EC}"/>
              </a:ext>
            </a:extLst>
          </p:cNvPr>
          <p:cNvSpPr>
            <a:spLocks xmlns:a="http://schemas.openxmlformats.org/drawingml/2006/main" noGrp="1"/>
          </p:cNvSpPr>
          <p:nvPr/>
        </p:nvSpPr>
        <p:spPr>
          <a:xfrm xmlns:a="http://schemas.openxmlformats.org/drawingml/2006/main">
            <a:off x="1005840" y="4453128"/>
            <a:ext cx="1051600" cy="347600"/>
          </a:xfrm>
          <a:prstGeom xmlns:a="http://schemas.openxmlformats.org/drawingml/2006/main" prst="roundRect">
            <a:avLst>
              <a:gd name="adj" fmla="val 15789"/>
            </a:avLst>
          </a:prstGeom>
          <a:solidFill xmlns:a="http://schemas.openxmlformats.org/drawingml/2006/main">
            <a:srgbClr val="1E3A5F"/>
          </a:solidFill>
          <a:ln xmlns:a="http://schemas.openxmlformats.org/drawingml/2006/main">
            <a:noFill/>
          </a:ln>
        </p:spPr>
        <p:txBody>
          <a:bodyPr xmlns:a="http://schemas.openxmlformats.org/drawingml/2006/main" spcFirstLastPara="1" wrap="square" lIns="91433" tIns="91433" rIns="91433" bIns="91433" anchor="ctr">
            <a:noAutofit/>
          </a:bodyPr>
          <a:lstStyle xmlns:a="http://schemas.openxmlformats.org/drawingml/2006/main"/>
          <a:p xmlns:a="http://schemas.openxmlformats.org/drawingml/2006/main"/>
        </p:txBody>
      </p:sp>
      <p:sp>
        <p:nvSpPr>
          <p:cNvPr id="192" name="Google Shape;192;p17">
            <a:extLst xmlns:a="http://schemas.openxmlformats.org/drawingml/2006/main">
              <a:ext uri="{FF2B5EF4-FFF2-40B4-BE49-F238E27FC236}">
                <a16:creationId xmlns:a16="http://schemas.microsoft.com/office/drawing/2014/main" id="{E73D70B4-DC9F-42E0-8874-189B5EDEBBF6}"/>
              </a:ext>
            </a:extLst>
          </p:cNvPr>
          <p:cNvSpPr>
            <a:spLocks xmlns:a="http://schemas.openxmlformats.org/drawingml/2006/main" noGrp="1"/>
          </p:cNvSpPr>
          <p:nvPr/>
        </p:nvSpPr>
        <p:spPr>
          <a:xfrm xmlns:a="http://schemas.openxmlformats.org/drawingml/2006/main">
            <a:off x="1005840" y="4453128"/>
            <a:ext cx="1051600" cy="347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algn="ctr">
              <a:buNone/>
            </a:pPr>
            <a:r>
              <a:rPr sz="1333" b="1">
                <a:solidFill>
                  <a:srgbClr val="FFFFFF"/>
                </a:solidFill>
                <a:latin typeface="Noto Sans"/>
                <a:ea typeface="Noto Sans"/>
                <a:cs typeface="Noto Sans"/>
              </a:rPr>
              <a:t>重点</a:t>
            </a:r>
          </a:p>
        </p:txBody>
      </p:sp>
      <p:sp>
        <p:nvSpPr>
          <p:cNvPr id="193" name="Google Shape;193;p17">
            <a:extLst xmlns:a="http://schemas.openxmlformats.org/drawingml/2006/main">
              <a:ext uri="{FF2B5EF4-FFF2-40B4-BE49-F238E27FC236}">
                <a16:creationId xmlns:a16="http://schemas.microsoft.com/office/drawing/2014/main" id="{A3D115C3-7A40-45BC-8289-9692C478665D}"/>
              </a:ext>
            </a:extLst>
          </p:cNvPr>
          <p:cNvSpPr>
            <a:spLocks xmlns:a="http://schemas.openxmlformats.org/drawingml/2006/main" noGrp="1"/>
          </p:cNvSpPr>
          <p:nvPr/>
        </p:nvSpPr>
        <p:spPr>
          <a:xfrm xmlns:a="http://schemas.openxmlformats.org/drawingml/2006/main">
            <a:off x="2240280" y="4261104"/>
            <a:ext cx="2834800" cy="731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a:buNone/>
            </a:pPr>
            <a:r>
              <a:rPr sz="1467" b="1">
                <a:solidFill>
                  <a:srgbClr val="1B2A3A"/>
                </a:solidFill>
                <a:latin typeface="Noto Sans"/>
                <a:ea typeface="Noto Sans"/>
                <a:cs typeface="Noto Sans"/>
              </a:rPr>
              <a:t>3F </a:t>
            </a:r>
            <a:r>
              <a:rPr sz="1467" b="1">
                <a:solidFill>
                  <a:srgbClr val="1B2A3A"/>
                </a:solidFill>
                <a:latin typeface="Noto Sans"/>
                <a:ea typeface="Noto Sans"/>
                <a:cs typeface="Noto Sans"/>
              </a:rPr>
              <a:t>候補</a:t>
            </a:r>
          </a:p>
        </p:txBody>
      </p:sp>
      <p:sp>
        <p:nvSpPr>
          <p:cNvPr id="194" name="Google Shape;194;p17">
            <a:extLst xmlns:a="http://schemas.openxmlformats.org/drawingml/2006/main">
              <a:ext uri="{FF2B5EF4-FFF2-40B4-BE49-F238E27FC236}">
                <a16:creationId xmlns:a16="http://schemas.microsoft.com/office/drawing/2014/main" id="{5E444C47-C4E7-4530-AFE1-3D9E67D68AD7}"/>
              </a:ext>
            </a:extLst>
          </p:cNvPr>
          <p:cNvSpPr>
            <a:spLocks xmlns:a="http://schemas.openxmlformats.org/drawingml/2006/main" noGrp="1"/>
          </p:cNvSpPr>
          <p:nvPr/>
        </p:nvSpPr>
        <p:spPr>
          <a:xfrm xmlns:a="http://schemas.openxmlformats.org/drawingml/2006/main">
            <a:off x="5166360" y="4261104"/>
            <a:ext cx="5989200" cy="731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a:lnSpc>
                <a:spcPct val="105000"/>
              </a:lnSpc>
              <a:buNone/>
            </a:pPr>
            <a:r>
              <a:rPr sz="1200">
                <a:solidFill>
                  <a:srgbClr val="5E7589"/>
                </a:solidFill>
                <a:latin typeface="Noto Sans"/>
                <a:ea typeface="Noto Sans"/>
                <a:cs typeface="Noto Sans"/>
              </a:rPr>
              <a:t>3Fの空床対策として、既存候補だけでなく新規ショート候補を広げる視点が必要。</a:t>
            </a:r>
          </a:p>
        </p:txBody>
      </p:sp>
      <p:sp>
        <p:nvSpPr>
          <p:cNvPr id="195" name="Google Shape;195;p17">
            <a:extLst xmlns:a="http://schemas.openxmlformats.org/drawingml/2006/main">
              <a:ext uri="{FF2B5EF4-FFF2-40B4-BE49-F238E27FC236}">
                <a16:creationId xmlns:a16="http://schemas.microsoft.com/office/drawing/2014/main" id="{3E8FB9E9-7728-4AF9-ADA4-20A6FEAEAE11}"/>
              </a:ext>
            </a:extLst>
          </p:cNvPr>
          <p:cNvSpPr>
            <a:spLocks xmlns:a="http://schemas.openxmlformats.org/drawingml/2006/main" noGrp="1"/>
          </p:cNvSpPr>
          <p:nvPr/>
        </p:nvSpPr>
        <p:spPr>
          <a:xfrm xmlns:a="http://schemas.openxmlformats.org/drawingml/2006/main">
            <a:off x="822960" y="5120640"/>
            <a:ext cx="10515600" cy="731200"/>
          </a:xfrm>
          <a:prstGeom xmlns:a="http://schemas.openxmlformats.org/drawingml/2006/main" prst="roundRect">
            <a:avLst>
              <a:gd name="adj" fmla="val 7500"/>
            </a:avLst>
          </a:prstGeom>
          <a:solidFill xmlns:a="http://schemas.openxmlformats.org/drawingml/2006/main">
            <a:srgbClr val="F4F8FC"/>
          </a:solidFill>
          <a:ln xmlns:a="http://schemas.openxmlformats.org/drawingml/2006/main" w="9525" cmpd="sng">
            <a:solidFill>
              <a:srgbClr val="D2DEEA"/>
            </a:solidFill>
            <a:prstDash val="solid"/>
          </a:ln>
        </p:spPr>
        <p:txBody>
          <a:bodyPr xmlns:a="http://schemas.openxmlformats.org/drawingml/2006/main" spcFirstLastPara="1" wrap="square" lIns="91433" tIns="91433" rIns="91433" bIns="91433" anchor="ctr">
            <a:noAutofit/>
          </a:bodyPr>
          <a:lstStyle xmlns:a="http://schemas.openxmlformats.org/drawingml/2006/main"/>
          <a:p xmlns:a="http://schemas.openxmlformats.org/drawingml/2006/main"/>
        </p:txBody>
      </p:sp>
      <p:sp>
        <p:nvSpPr>
          <p:cNvPr id="196" name="Google Shape;196;p17">
            <a:extLst xmlns:a="http://schemas.openxmlformats.org/drawingml/2006/main">
              <a:ext uri="{FF2B5EF4-FFF2-40B4-BE49-F238E27FC236}">
                <a16:creationId xmlns:a16="http://schemas.microsoft.com/office/drawing/2014/main" id="{814405EF-8F17-488D-84AE-EDC653E56398}"/>
              </a:ext>
            </a:extLst>
          </p:cNvPr>
          <p:cNvSpPr>
            <a:spLocks xmlns:a="http://schemas.openxmlformats.org/drawingml/2006/main" noGrp="1"/>
          </p:cNvSpPr>
          <p:nvPr/>
        </p:nvSpPr>
        <p:spPr>
          <a:xfrm xmlns:a="http://schemas.openxmlformats.org/drawingml/2006/main">
            <a:off x="1005840" y="5312664"/>
            <a:ext cx="1051600" cy="347600"/>
          </a:xfrm>
          <a:prstGeom xmlns:a="http://schemas.openxmlformats.org/drawingml/2006/main" prst="roundRect">
            <a:avLst>
              <a:gd name="adj" fmla="val 15789"/>
            </a:avLst>
          </a:prstGeom>
          <a:solidFill xmlns:a="http://schemas.openxmlformats.org/drawingml/2006/main">
            <a:srgbClr val="1E3A5F"/>
          </a:solidFill>
          <a:ln xmlns:a="http://schemas.openxmlformats.org/drawingml/2006/main">
            <a:noFill/>
          </a:ln>
        </p:spPr>
        <p:txBody>
          <a:bodyPr xmlns:a="http://schemas.openxmlformats.org/drawingml/2006/main" spcFirstLastPara="1" wrap="square" lIns="91433" tIns="91433" rIns="91433" bIns="91433" anchor="ctr">
            <a:noAutofit/>
          </a:bodyPr>
          <a:lstStyle xmlns:a="http://schemas.openxmlformats.org/drawingml/2006/main"/>
          <a:p xmlns:a="http://schemas.openxmlformats.org/drawingml/2006/main"/>
        </p:txBody>
      </p:sp>
      <p:sp>
        <p:nvSpPr>
          <p:cNvPr id="197" name="Google Shape;197;p17">
            <a:extLst xmlns:a="http://schemas.openxmlformats.org/drawingml/2006/main">
              <a:ext uri="{FF2B5EF4-FFF2-40B4-BE49-F238E27FC236}">
                <a16:creationId xmlns:a16="http://schemas.microsoft.com/office/drawing/2014/main" id="{FA8C7098-3BC1-4FEE-A3C7-9ECBFF6592D1}"/>
              </a:ext>
            </a:extLst>
          </p:cNvPr>
          <p:cNvSpPr>
            <a:spLocks xmlns:a="http://schemas.openxmlformats.org/drawingml/2006/main" noGrp="1"/>
          </p:cNvSpPr>
          <p:nvPr/>
        </p:nvSpPr>
        <p:spPr>
          <a:xfrm xmlns:a="http://schemas.openxmlformats.org/drawingml/2006/main">
            <a:off x="1005840" y="5312664"/>
            <a:ext cx="1051600" cy="347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algn="ctr">
              <a:buNone/>
            </a:pPr>
            <a:r>
              <a:rPr sz="1333" b="1">
                <a:solidFill>
                  <a:srgbClr val="FFFFFF"/>
                </a:solidFill>
                <a:latin typeface="Noto Sans"/>
                <a:ea typeface="Noto Sans"/>
                <a:cs typeface="Noto Sans"/>
              </a:rPr>
              <a:t>長期</a:t>
            </a:r>
          </a:p>
        </p:txBody>
      </p:sp>
      <p:sp>
        <p:nvSpPr>
          <p:cNvPr id="198" name="Google Shape;198;p17">
            <a:extLst xmlns:a="http://schemas.openxmlformats.org/drawingml/2006/main">
              <a:ext uri="{FF2B5EF4-FFF2-40B4-BE49-F238E27FC236}">
                <a16:creationId xmlns:a16="http://schemas.microsoft.com/office/drawing/2014/main" id="{B3109600-6E1B-4843-A840-E80621A23CCC}"/>
              </a:ext>
            </a:extLst>
          </p:cNvPr>
          <p:cNvSpPr>
            <a:spLocks xmlns:a="http://schemas.openxmlformats.org/drawingml/2006/main" noGrp="1"/>
          </p:cNvSpPr>
          <p:nvPr/>
        </p:nvSpPr>
        <p:spPr>
          <a:xfrm xmlns:a="http://schemas.openxmlformats.org/drawingml/2006/main">
            <a:off x="2240280" y="5120640"/>
            <a:ext cx="2834800" cy="731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a:buNone/>
            </a:pPr>
            <a:r>
              <a:rPr sz="1467" b="1">
                <a:solidFill>
                  <a:srgbClr val="1B2A3A"/>
                </a:solidFill>
                <a:latin typeface="Noto Sans"/>
                <a:ea typeface="Noto Sans"/>
                <a:cs typeface="Noto Sans"/>
              </a:rPr>
              <a:t>デイ高頻度者</a:t>
            </a:r>
          </a:p>
        </p:txBody>
      </p:sp>
      <p:sp>
        <p:nvSpPr>
          <p:cNvPr id="199" name="Google Shape;199;p17">
            <a:extLst xmlns:a="http://schemas.openxmlformats.org/drawingml/2006/main">
              <a:ext uri="{FF2B5EF4-FFF2-40B4-BE49-F238E27FC236}">
                <a16:creationId xmlns:a16="http://schemas.microsoft.com/office/drawing/2014/main" id="{6A32F838-8EFC-48B0-AEE0-DD8362046A32}"/>
              </a:ext>
            </a:extLst>
          </p:cNvPr>
          <p:cNvSpPr>
            <a:spLocks xmlns:a="http://schemas.openxmlformats.org/drawingml/2006/main" noGrp="1"/>
          </p:cNvSpPr>
          <p:nvPr/>
        </p:nvSpPr>
        <p:spPr>
          <a:xfrm xmlns:a="http://schemas.openxmlformats.org/drawingml/2006/main">
            <a:off x="5166360" y="5120640"/>
            <a:ext cx="5989200" cy="731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a:lnSpc>
                <a:spcPct val="105000"/>
              </a:lnSpc>
              <a:buNone/>
            </a:pPr>
            <a:r>
              <a:rPr sz="1200">
                <a:solidFill>
                  <a:srgbClr val="5E7589"/>
                </a:solidFill>
                <a:latin typeface="Noto Sans"/>
                <a:ea typeface="Noto Sans"/>
                <a:cs typeface="Noto Sans"/>
              </a:rPr>
              <a:t>施設接点は強いが入所未利用の層。初回ショートにつながる母集団として見る。</a:t>
            </a:r>
          </a:p>
        </p:txBody>
      </p:sp>
      <p:sp>
        <p:nvSpPr>
          <p:cNvPr id="200" name="Google Shape;200;p17">
            <a:extLst xmlns:a="http://schemas.openxmlformats.org/drawingml/2006/main">
              <a:ext uri="{FF2B5EF4-FFF2-40B4-BE49-F238E27FC236}">
                <a16:creationId xmlns:a16="http://schemas.microsoft.com/office/drawing/2014/main" id="{DF2FA539-6F08-4529-B839-B0234CCFE4DB}"/>
              </a:ext>
            </a:extLst>
          </p:cNvPr>
          <p:cNvSpPr>
            <a:spLocks xmlns:a="http://schemas.openxmlformats.org/drawingml/2006/main" noGrp="1"/>
          </p:cNvSpPr>
          <p:nvPr/>
        </p:nvSpPr>
        <p:spPr>
          <a:xfrm xmlns:a="http://schemas.openxmlformats.org/drawingml/2006/main">
            <a:off x="822960" y="6400800"/>
            <a:ext cx="7315200" cy="27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a:buNone/>
            </a:pPr>
            <a:r>
              <a:rPr sz="933">
                <a:solidFill>
                  <a:srgbClr val="5E7589"/>
                </a:solidFill>
                <a:latin typeface="Noto Sans"/>
                <a:ea typeface="Noto Sans"/>
                <a:cs typeface="Noto Sans"/>
              </a:rPr>
              <a:t>アルボース ｜ 利用率低下分析の報告</a:t>
            </a:r>
          </a:p>
        </p:txBody>
      </p:sp>
      <p:sp>
        <p:nvSpPr>
          <p:cNvPr id="201" name="Google Shape;201;p17">
            <a:extLst xmlns:a="http://schemas.openxmlformats.org/drawingml/2006/main">
              <a:ext uri="{FF2B5EF4-FFF2-40B4-BE49-F238E27FC236}">
                <a16:creationId xmlns:a16="http://schemas.microsoft.com/office/drawing/2014/main" id="{2D3ADDD4-3CBD-434A-AEBC-6FD63115C14D}"/>
              </a:ext>
            </a:extLst>
          </p:cNvPr>
          <p:cNvSpPr>
            <a:spLocks xmlns:a="http://schemas.openxmlformats.org/drawingml/2006/main" noGrp="1"/>
          </p:cNvSpPr>
          <p:nvPr/>
        </p:nvSpPr>
        <p:spPr>
          <a:xfrm xmlns:a="http://schemas.openxmlformats.org/drawingml/2006/main">
            <a:off x="10789920" y="6400800"/>
            <a:ext cx="548800" cy="27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algn="r">
              <a:buNone/>
            </a:pPr>
            <a:r>
              <a:rPr sz="933">
                <a:solidFill>
                  <a:srgbClr val="5E7589"/>
                </a:solidFill>
                <a:latin typeface="Noto Sans"/>
                <a:ea typeface="Noto Sans"/>
                <a:cs typeface="Noto Sans"/>
              </a:rPr>
              <a:t>7</a:t>
            </a:r>
          </a:p>
        </p:txBody>
      </p:sp>
    </p:spTree>
    <p:extLst>
      <p:ext uri="{BB962C8B-B14F-4D97-AF65-F5344CB8AC3E}">
        <p14:creationId xmlns:p14="http://schemas.microsoft.com/office/powerpoint/2010/main" val="100729201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601" name="Google Shape;208;p18"/>
          <p:cNvPicPr>
            <a:picLocks xmlns:a="http://schemas.openxmlformats.org/drawingml/2006/main" noChangeAspect="1"/>
          </p:cNvPicPr>
          <p:nvPr/>
        </p:nvPicPr>
        <p:blipFill rotWithShape="1">
          <a:blip xmlns:r="http://schemas.openxmlformats.org/officeDocument/2006/relationships" xmlns:a="http://schemas.openxmlformats.org/drawingml/2006/main" r:embed="R67e2d29e47a34a00">
            <a:alphaModFix/>
          </a:blip>
          <a:srcRect xmlns:a="http://schemas.openxmlformats.org/drawingml/2006/main" l="0" t="0" r="0" b="0"/>
          <a:stretch xmlns:a="http://schemas.openxmlformats.org/drawingml/2006/main"/>
        </p:blipFill>
        <p:spPr>
          <a:xfrm xmlns:a="http://schemas.openxmlformats.org/drawingml/2006/main">
            <a:off x="970362" y="714330"/>
            <a:ext cx="272124" cy="272124"/>
          </a:xfrm>
          <a:prstGeom xmlns:a="http://schemas.openxmlformats.org/drawingml/2006/main" prst="rect">
            <a:avLst/>
          </a:prstGeom>
          <a:ln xmlns:a="http://schemas.openxmlformats.org/drawingml/2006/main">
            <a:noFill/>
          </a:ln>
        </p:spPr>
      </p:pic>
      <p:pic>
        <p:nvPicPr>
          <p:cNvPr id="602" name="Google Shape;215;p18"/>
          <p:cNvPicPr>
            <a:picLocks xmlns:a="http://schemas.openxmlformats.org/drawingml/2006/main" noChangeAspect="1"/>
          </p:cNvPicPr>
          <p:nvPr/>
        </p:nvPicPr>
        <p:blipFill rotWithShape="1">
          <a:blip xmlns:r="http://schemas.openxmlformats.org/officeDocument/2006/relationships" xmlns:a="http://schemas.openxmlformats.org/drawingml/2006/main" r:embed="Rad6019843c8c4a0b">
            <a:alphaModFix/>
          </a:blip>
          <a:srcRect xmlns:a="http://schemas.openxmlformats.org/drawingml/2006/main" l="0" t="0" r="0" b="0"/>
          <a:stretch xmlns:a="http://schemas.openxmlformats.org/drawingml/2006/main"/>
        </p:blipFill>
        <p:spPr>
          <a:xfrm xmlns:a="http://schemas.openxmlformats.org/drawingml/2006/main">
            <a:off x="1273759" y="3120847"/>
            <a:ext cx="241403" cy="241403"/>
          </a:xfrm>
          <a:prstGeom xmlns:a="http://schemas.openxmlformats.org/drawingml/2006/main" prst="rect">
            <a:avLst/>
          </a:prstGeom>
          <a:ln xmlns:a="http://schemas.openxmlformats.org/drawingml/2006/main">
            <a:noFill/>
          </a:ln>
        </p:spPr>
      </p:pic>
      <p:pic>
        <p:nvPicPr>
          <p:cNvPr id="603" name="Google Shape;220;p18"/>
          <p:cNvPicPr>
            <a:picLocks xmlns:a="http://schemas.openxmlformats.org/drawingml/2006/main" noChangeAspect="1"/>
          </p:cNvPicPr>
          <p:nvPr/>
        </p:nvPicPr>
        <p:blipFill rotWithShape="1">
          <a:blip xmlns:r="http://schemas.openxmlformats.org/officeDocument/2006/relationships" xmlns:a="http://schemas.openxmlformats.org/drawingml/2006/main" r:embed="R67e2d29e47a34a00">
            <a:alphaModFix/>
          </a:blip>
          <a:srcRect xmlns:a="http://schemas.openxmlformats.org/drawingml/2006/main" l="0" t="0" r="0" b="0"/>
          <a:stretch xmlns:a="http://schemas.openxmlformats.org/drawingml/2006/main"/>
        </p:blipFill>
        <p:spPr>
          <a:xfrm xmlns:a="http://schemas.openxmlformats.org/drawingml/2006/main">
            <a:off x="4931359" y="3120847"/>
            <a:ext cx="241403" cy="241403"/>
          </a:xfrm>
          <a:prstGeom xmlns:a="http://schemas.openxmlformats.org/drawingml/2006/main" prst="rect">
            <a:avLst/>
          </a:prstGeom>
          <a:ln xmlns:a="http://schemas.openxmlformats.org/drawingml/2006/main">
            <a:noFill/>
          </a:ln>
        </p:spPr>
      </p:pic>
      <p:pic>
        <p:nvPicPr>
          <p:cNvPr id="604" name="Google Shape;225;p18"/>
          <p:cNvPicPr>
            <a:picLocks xmlns:a="http://schemas.openxmlformats.org/drawingml/2006/main" noChangeAspect="1"/>
          </p:cNvPicPr>
          <p:nvPr/>
        </p:nvPicPr>
        <p:blipFill rotWithShape="1">
          <a:blip xmlns:r="http://schemas.openxmlformats.org/officeDocument/2006/relationships" xmlns:a="http://schemas.openxmlformats.org/drawingml/2006/main" r:embed="R2292af18801c4f68">
            <a:alphaModFix/>
          </a:blip>
          <a:srcRect xmlns:a="http://schemas.openxmlformats.org/drawingml/2006/main" l="0" t="0" r="0" b="0"/>
          <a:stretch xmlns:a="http://schemas.openxmlformats.org/drawingml/2006/main"/>
        </p:blipFill>
        <p:spPr>
          <a:xfrm xmlns:a="http://schemas.openxmlformats.org/drawingml/2006/main">
            <a:off x="8588959" y="3120847"/>
            <a:ext cx="241403" cy="241403"/>
          </a:xfrm>
          <a:prstGeom xmlns:a="http://schemas.openxmlformats.org/drawingml/2006/main" prst="rect">
            <a:avLst/>
          </a:prstGeom>
          <a:ln xmlns:a="http://schemas.openxmlformats.org/drawingml/2006/main">
            <a:noFill/>
          </a:ln>
        </p:spPr>
      </p:pic>
      <p:sp>
        <p:nvSpPr>
          <p:cNvPr id="552" name="">
            <a:extLst xmlns:a="http://schemas.openxmlformats.org/drawingml/2006/main">
              <a:ext uri="{FF2B5EF4-FFF2-40B4-BE49-F238E27FC236}">
                <a16:creationId xmlns:a16="http://schemas.microsoft.com/office/drawing/2014/main" id="{55AACCEE-440A-438A-BDE5-0CFDF46628AA}"/>
              </a:ext>
            </a:extLst>
          </p:cNvPr>
          <p:cNvSpPr>
            <a:spLocks xmlns:a="http://schemas.openxmlformats.org/drawingml/2006/main" noGrp="1"/>
          </p:cNvSpPr>
          <p:nvPr/>
        </p:nvSpPr>
        <p:spPr>
          <a:xfrm xmlns:a="http://schemas.openxmlformats.org/drawingml/2006/main">
            <a:off x="819150" y="457200"/>
            <a:ext cx="514350" cy="514350"/>
          </a:xfrm>
          <a:prstGeom xmlns:a="http://schemas.openxmlformats.org/drawingml/2006/main" prst="ellipse">
            <a:avLst/>
          </a:prstGeom>
          <a:solidFill xmlns:a="http://schemas.openxmlformats.org/drawingml/2006/main">
            <a:srgbClr val="17385D"/>
          </a:solidFill>
          <a:ln xmlns:a="http://schemas.openxmlformats.org/drawingml/2006/main" w="9525">
            <a:solidFill>
              <a:srgbClr val="17385D"/>
            </a:solidFill>
            <a:prstDash val="solid"/>
          </a:ln>
        </p:spPr>
      </p:sp>
      <p:sp>
        <p:nvSpPr>
          <p:cNvPr id="553" name="">
            <a:extLst xmlns:a="http://schemas.openxmlformats.org/drawingml/2006/main">
              <a:ext uri="{FF2B5EF4-FFF2-40B4-BE49-F238E27FC236}">
                <a16:creationId xmlns:a16="http://schemas.microsoft.com/office/drawing/2014/main" id="{02EE9514-7CD4-4779-BBCB-7F6B3ACEFC9C}"/>
              </a:ext>
            </a:extLst>
          </p:cNvPr>
          <p:cNvSpPr>
            <a:spLocks xmlns:a="http://schemas.openxmlformats.org/drawingml/2006/main" noGrp="1"/>
          </p:cNvSpPr>
          <p:nvPr/>
        </p:nvSpPr>
        <p:spPr>
          <a:xfrm xmlns:a="http://schemas.openxmlformats.org/drawingml/2006/main">
            <a:off x="819150" y="533400"/>
            <a:ext cx="514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FFFFFF"/>
                </a:solidFill>
                <a:latin typeface="Noto Sans"/>
                <a:ea typeface="Noto Sans"/>
                <a:cs typeface="Noto Sans"/>
              </a:defRPr>
            </a:pPr>
            <a:r>
              <a:rPr sz="1275" b="1">
                <a:solidFill>
                  <a:srgbClr val="FFFFFF"/>
                </a:solidFill>
                <a:latin typeface="Noto Sans"/>
                <a:ea typeface="Noto Sans"/>
                <a:cs typeface="Noto Sans"/>
              </a:rPr>
              <a:t>8</a:t>
            </a:r>
          </a:p>
        </p:txBody>
      </p:sp>
      <p:sp>
        <p:nvSpPr>
          <p:cNvPr id="554" name="">
            <a:extLst xmlns:a="http://schemas.openxmlformats.org/drawingml/2006/main">
              <a:ext uri="{FF2B5EF4-FFF2-40B4-BE49-F238E27FC236}">
                <a16:creationId xmlns:a16="http://schemas.microsoft.com/office/drawing/2014/main" id="{1BBB7BC4-CBA0-4706-88AA-D9F0373B131E}"/>
              </a:ext>
            </a:extLst>
          </p:cNvPr>
          <p:cNvSpPr>
            <a:spLocks xmlns:a="http://schemas.openxmlformats.org/drawingml/2006/main" noGrp="1"/>
          </p:cNvSpPr>
          <p:nvPr/>
        </p:nvSpPr>
        <p:spPr>
          <a:xfrm xmlns:a="http://schemas.openxmlformats.org/drawingml/2006/main">
            <a:off x="1562100" y="542925"/>
            <a:ext cx="4191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563A8"/>
                </a:solidFill>
                <a:latin typeface="Noto Sans"/>
                <a:ea typeface="Noto Sans"/>
                <a:cs typeface="Noto Sans"/>
              </a:defRPr>
            </a:pPr>
            <a:r>
              <a:rPr sz="975" b="1">
                <a:solidFill>
                  <a:srgbClr val="2563A8"/>
                </a:solidFill>
                <a:latin typeface="Noto Sans"/>
                <a:ea typeface="Noto Sans"/>
                <a:cs typeface="Noto Sans"/>
              </a:rPr>
              <a:t>SLIDE 8 ｜ 実装方針</a:t>
            </a:r>
          </a:p>
        </p:txBody>
      </p:sp>
      <p:sp>
        <p:nvSpPr>
          <p:cNvPr id="555" name="">
            <a:extLst xmlns:a="http://schemas.openxmlformats.org/drawingml/2006/main">
              <a:ext uri="{FF2B5EF4-FFF2-40B4-BE49-F238E27FC236}">
                <a16:creationId xmlns:a16="http://schemas.microsoft.com/office/drawing/2014/main" id="{6D3A5E87-07A8-4900-B263-B1C4C5300061}"/>
              </a:ext>
            </a:extLst>
          </p:cNvPr>
          <p:cNvSpPr>
            <a:spLocks xmlns:a="http://schemas.openxmlformats.org/drawingml/2006/main" noGrp="1"/>
          </p:cNvSpPr>
          <p:nvPr/>
        </p:nvSpPr>
        <p:spPr>
          <a:xfrm xmlns:a="http://schemas.openxmlformats.org/drawingml/2006/main">
            <a:off x="1562100" y="819150"/>
            <a:ext cx="857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a:solidFill>
                  <a:srgbClr val="102033"/>
                </a:solidFill>
                <a:latin typeface="Noto Sans"/>
                <a:ea typeface="Noto Sans"/>
                <a:cs typeface="Noto Sans"/>
              </a:defRPr>
            </a:pPr>
            <a:r>
              <a:rPr sz="2550" b="1">
                <a:solidFill>
                  <a:srgbClr val="102033"/>
                </a:solidFill>
                <a:latin typeface="Noto Sans"/>
                <a:ea typeface="Noto Sans"/>
                <a:cs typeface="Noto Sans"/>
              </a:rPr>
              <a:t>本格実装を見据えた検討ロードマップ</a:t>
            </a:r>
          </a:p>
        </p:txBody>
      </p:sp>
      <p:sp>
        <p:nvSpPr>
          <p:cNvPr id="556" name="">
            <a:extLst xmlns:a="http://schemas.openxmlformats.org/drawingml/2006/main">
              <a:ext uri="{FF2B5EF4-FFF2-40B4-BE49-F238E27FC236}">
                <a16:creationId xmlns:a16="http://schemas.microsoft.com/office/drawing/2014/main" id="{3E08931F-991B-47C9-B526-974E68C17FB5}"/>
              </a:ext>
            </a:extLst>
          </p:cNvPr>
          <p:cNvSpPr>
            <a:spLocks xmlns:a="http://schemas.openxmlformats.org/drawingml/2006/main" noGrp="1"/>
          </p:cNvSpPr>
          <p:nvPr/>
        </p:nvSpPr>
        <p:spPr>
          <a:xfrm xmlns:a="http://schemas.openxmlformats.org/drawingml/2006/main">
            <a:off x="1562100" y="1276350"/>
            <a:ext cx="933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475569"/>
                </a:solidFill>
                <a:latin typeface="Noto Sans"/>
                <a:ea typeface="Noto Sans"/>
                <a:cs typeface="Noto Sans"/>
              </a:defRPr>
            </a:pPr>
            <a:r>
              <a:rPr sz="1200" b="0">
                <a:solidFill>
                  <a:srgbClr val="475569"/>
                </a:solidFill>
                <a:latin typeface="Noto Sans"/>
                <a:ea typeface="Noto Sans"/>
                <a:cs typeface="Noto Sans"/>
              </a:rPr>
              <a:t>利用者分析は継続運用へ展開できる見込み。現場状況を確認しながら、数か月かけて実装可否と進め方を具体化する。</a:t>
            </a:r>
          </a:p>
        </p:txBody>
      </p:sp>
      <p:sp>
        <p:nvSpPr>
          <p:cNvPr id="557" name="">
            <a:extLst xmlns:a="http://schemas.openxmlformats.org/drawingml/2006/main">
              <a:ext uri="{FF2B5EF4-FFF2-40B4-BE49-F238E27FC236}">
                <a16:creationId xmlns:a16="http://schemas.microsoft.com/office/drawing/2014/main" id="{36A95BAF-F691-4E66-AB2E-C1E422851044}"/>
              </a:ext>
            </a:extLst>
          </p:cNvPr>
          <p:cNvSpPr>
            <a:spLocks xmlns:a="http://schemas.openxmlformats.org/drawingml/2006/main" noGrp="1"/>
          </p:cNvSpPr>
          <p:nvPr/>
        </p:nvSpPr>
        <p:spPr>
          <a:xfrm xmlns:a="http://schemas.openxmlformats.org/drawingml/2006/main">
            <a:off x="819150" y="1733550"/>
            <a:ext cx="10553700" cy="590550"/>
          </a:xfrm>
          <a:prstGeom xmlns:a="http://schemas.openxmlformats.org/drawingml/2006/main" prst="roundRect">
            <a:avLst>
              <a:gd name="adj" fmla="val 9677"/>
            </a:avLst>
          </a:prstGeom>
          <a:solidFill xmlns:a="http://schemas.openxmlformats.org/drawingml/2006/main">
            <a:srgbClr val="EDF5FB"/>
          </a:solidFill>
          <a:ln xmlns:a="http://schemas.openxmlformats.org/drawingml/2006/main" w="9525">
            <a:solidFill>
              <a:srgbClr val="D9E8F5"/>
            </a:solidFill>
            <a:prstDash val="solid"/>
          </a:ln>
        </p:spPr>
      </p:sp>
      <p:sp>
        <p:nvSpPr>
          <p:cNvPr id="558" name="">
            <a:extLst xmlns:a="http://schemas.openxmlformats.org/drawingml/2006/main">
              <a:ext uri="{FF2B5EF4-FFF2-40B4-BE49-F238E27FC236}">
                <a16:creationId xmlns:a16="http://schemas.microsoft.com/office/drawing/2014/main" id="{3DCFEB8C-6BAF-4581-A800-36316697308A}"/>
              </a:ext>
            </a:extLst>
          </p:cNvPr>
          <p:cNvSpPr>
            <a:spLocks xmlns:a="http://schemas.openxmlformats.org/drawingml/2006/main" noGrp="1"/>
          </p:cNvSpPr>
          <p:nvPr/>
        </p:nvSpPr>
        <p:spPr>
          <a:xfrm xmlns:a="http://schemas.openxmlformats.org/drawingml/2006/main">
            <a:off x="1104900" y="1924050"/>
            <a:ext cx="9982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17385D"/>
                </a:solidFill>
                <a:latin typeface="Noto Sans"/>
                <a:ea typeface="Noto Sans"/>
                <a:cs typeface="Noto Sans"/>
              </a:defRPr>
            </a:pPr>
            <a:r>
              <a:rPr sz="1425" b="1">
                <a:solidFill>
                  <a:srgbClr val="17385D"/>
                </a:solidFill>
                <a:latin typeface="Noto Sans"/>
                <a:ea typeface="Noto Sans"/>
                <a:cs typeface="Noto Sans"/>
              </a:rPr>
              <a:t>本格運用の可能性を見極める期間として、現場DXとシステム基礎研究は並行して継続する。</a:t>
            </a:r>
          </a:p>
        </p:txBody>
      </p:sp>
      <p:sp>
        <p:nvSpPr>
          <p:cNvPr id="559" name="">
            <a:extLst xmlns:a="http://schemas.openxmlformats.org/drawingml/2006/main">
              <a:ext uri="{FF2B5EF4-FFF2-40B4-BE49-F238E27FC236}">
                <a16:creationId xmlns:a16="http://schemas.microsoft.com/office/drawing/2014/main" id="{251C1164-FC44-4D29-B4F9-BA841802417E}"/>
              </a:ext>
            </a:extLst>
          </p:cNvPr>
          <p:cNvSpPr>
            <a:spLocks xmlns:a="http://schemas.openxmlformats.org/drawingml/2006/main" noGrp="1"/>
          </p:cNvSpPr>
          <p:nvPr/>
        </p:nvSpPr>
        <p:spPr>
          <a:xfrm xmlns:a="http://schemas.openxmlformats.org/drawingml/2006/main">
            <a:off x="819150" y="2609850"/>
            <a:ext cx="3143250" cy="2743200"/>
          </a:xfrm>
          <a:prstGeom xmlns:a="http://schemas.openxmlformats.org/drawingml/2006/main" prst="roundRect">
            <a:avLst>
              <a:gd name="adj" fmla="val 2778"/>
            </a:avLst>
          </a:prstGeom>
          <a:solidFill xmlns:a="http://schemas.openxmlformats.org/drawingml/2006/main">
            <a:srgbClr val="F8FAFC"/>
          </a:solidFill>
          <a:ln xmlns:a="http://schemas.openxmlformats.org/drawingml/2006/main" w="9525">
            <a:solidFill>
              <a:srgbClr val="D7E2EE"/>
            </a:solidFill>
            <a:prstDash val="solid"/>
          </a:ln>
        </p:spPr>
      </p:sp>
      <p:sp>
        <p:nvSpPr>
          <p:cNvPr id="560" name="">
            <a:extLst xmlns:a="http://schemas.openxmlformats.org/drawingml/2006/main">
              <a:ext uri="{FF2B5EF4-FFF2-40B4-BE49-F238E27FC236}">
                <a16:creationId xmlns:a16="http://schemas.microsoft.com/office/drawing/2014/main" id="{3754EAE6-168D-4C9B-A69B-BCB018E315FF}"/>
              </a:ext>
            </a:extLst>
          </p:cNvPr>
          <p:cNvSpPr>
            <a:spLocks xmlns:a="http://schemas.openxmlformats.org/drawingml/2006/main" noGrp="1"/>
          </p:cNvSpPr>
          <p:nvPr/>
        </p:nvSpPr>
        <p:spPr>
          <a:xfrm xmlns:a="http://schemas.openxmlformats.org/drawingml/2006/main">
            <a:off x="1085850" y="2876550"/>
            <a:ext cx="419100" cy="419100"/>
          </a:xfrm>
          <a:prstGeom xmlns:a="http://schemas.openxmlformats.org/drawingml/2006/main" prst="ellipse">
            <a:avLst/>
          </a:prstGeom>
          <a:solidFill xmlns:a="http://schemas.openxmlformats.org/drawingml/2006/main">
            <a:srgbClr val="2F7FBD"/>
          </a:solidFill>
          <a:ln xmlns:a="http://schemas.openxmlformats.org/drawingml/2006/main" w="9525">
            <a:solidFill>
              <a:srgbClr val="2F7FBD"/>
            </a:solidFill>
            <a:prstDash val="solid"/>
          </a:ln>
        </p:spPr>
      </p:sp>
      <p:sp>
        <p:nvSpPr>
          <p:cNvPr id="561" name="">
            <a:extLst xmlns:a="http://schemas.openxmlformats.org/drawingml/2006/main">
              <a:ext uri="{FF2B5EF4-FFF2-40B4-BE49-F238E27FC236}">
                <a16:creationId xmlns:a16="http://schemas.microsoft.com/office/drawing/2014/main" id="{F6964D91-907C-45A9-8DA9-8D8AA21A2748}"/>
              </a:ext>
            </a:extLst>
          </p:cNvPr>
          <p:cNvSpPr>
            <a:spLocks xmlns:a="http://schemas.openxmlformats.org/drawingml/2006/main" noGrp="1"/>
          </p:cNvSpPr>
          <p:nvPr/>
        </p:nvSpPr>
        <p:spPr>
          <a:xfrm xmlns:a="http://schemas.openxmlformats.org/drawingml/2006/main">
            <a:off x="1085850" y="2952750"/>
            <a:ext cx="419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FFFFFF"/>
                </a:solidFill>
                <a:latin typeface="Noto Sans"/>
                <a:ea typeface="Noto Sans"/>
                <a:cs typeface="Noto Sans"/>
              </a:defRPr>
            </a:pPr>
            <a:r>
              <a:rPr sz="1350" b="1">
                <a:solidFill>
                  <a:srgbClr val="FFFFFF"/>
                </a:solidFill>
                <a:latin typeface="Noto Sans"/>
                <a:ea typeface="Noto Sans"/>
                <a:cs typeface="Noto Sans"/>
              </a:rPr>
              <a:t>1</a:t>
            </a:r>
          </a:p>
        </p:txBody>
      </p:sp>
      <p:sp>
        <p:nvSpPr>
          <p:cNvPr id="562" name="">
            <a:extLst xmlns:a="http://schemas.openxmlformats.org/drawingml/2006/main">
              <a:ext uri="{FF2B5EF4-FFF2-40B4-BE49-F238E27FC236}">
                <a16:creationId xmlns:a16="http://schemas.microsoft.com/office/drawing/2014/main" id="{7D458031-2A39-422B-B239-3BB074308F33}"/>
              </a:ext>
            </a:extLst>
          </p:cNvPr>
          <p:cNvSpPr>
            <a:spLocks xmlns:a="http://schemas.openxmlformats.org/drawingml/2006/main" noGrp="1"/>
          </p:cNvSpPr>
          <p:nvPr/>
        </p:nvSpPr>
        <p:spPr>
          <a:xfrm xmlns:a="http://schemas.openxmlformats.org/drawingml/2006/main">
            <a:off x="1657350" y="2838450"/>
            <a:ext cx="2038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17385D"/>
                </a:solidFill>
                <a:latin typeface="Noto Sans"/>
                <a:ea typeface="Noto Sans"/>
                <a:cs typeface="Noto Sans"/>
              </a:defRPr>
            </a:pPr>
            <a:r>
              <a:rPr sz="1650" b="1">
                <a:solidFill>
                  <a:srgbClr val="17385D"/>
                </a:solidFill>
                <a:latin typeface="Noto Sans"/>
                <a:ea typeface="Noto Sans"/>
                <a:cs typeface="Noto Sans"/>
              </a:rPr>
              <a:t>実装の見込み</a:t>
            </a:r>
          </a:p>
        </p:txBody>
      </p:sp>
      <p:sp>
        <p:nvSpPr>
          <p:cNvPr id="563" name="">
            <a:extLst xmlns:a="http://schemas.openxmlformats.org/drawingml/2006/main">
              <a:ext uri="{FF2B5EF4-FFF2-40B4-BE49-F238E27FC236}">
                <a16:creationId xmlns:a16="http://schemas.microsoft.com/office/drawing/2014/main" id="{1212F1C8-B2B7-4144-977F-64725EC0605D}"/>
              </a:ext>
            </a:extLst>
          </p:cNvPr>
          <p:cNvSpPr>
            <a:spLocks xmlns:a="http://schemas.openxmlformats.org/drawingml/2006/main" noGrp="1"/>
          </p:cNvSpPr>
          <p:nvPr/>
        </p:nvSpPr>
        <p:spPr>
          <a:xfrm xmlns:a="http://schemas.openxmlformats.org/drawingml/2006/main">
            <a:off x="1143000" y="3562350"/>
            <a:ext cx="24955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2F7FBD"/>
                </a:solidFill>
                <a:latin typeface="Noto Sans"/>
                <a:ea typeface="Noto Sans"/>
                <a:cs typeface="Noto Sans"/>
              </a:defRPr>
            </a:pPr>
            <a:r>
              <a:rPr sz="1425" b="1">
                <a:solidFill>
                  <a:srgbClr val="2F7FBD"/>
                </a:solidFill>
                <a:latin typeface="Noto Sans"/>
                <a:ea typeface="Noto Sans"/>
                <a:cs typeface="Noto Sans"/>
              </a:rPr>
              <a:t>初期版は約1か月で構築可能な見込み</a:t>
            </a:r>
          </a:p>
        </p:txBody>
      </p:sp>
      <p:sp>
        <p:nvSpPr>
          <p:cNvPr id="564" name="">
            <a:extLst xmlns:a="http://schemas.openxmlformats.org/drawingml/2006/main">
              <a:ext uri="{FF2B5EF4-FFF2-40B4-BE49-F238E27FC236}">
                <a16:creationId xmlns:a16="http://schemas.microsoft.com/office/drawing/2014/main" id="{103F6293-9157-47CA-9B25-D4B0730BD889}"/>
              </a:ext>
            </a:extLst>
          </p:cNvPr>
          <p:cNvSpPr>
            <a:spLocks xmlns:a="http://schemas.openxmlformats.org/drawingml/2006/main" noGrp="1"/>
          </p:cNvSpPr>
          <p:nvPr/>
        </p:nvSpPr>
        <p:spPr>
          <a:xfrm xmlns:a="http://schemas.openxmlformats.org/drawingml/2006/main">
            <a:off x="1162050" y="4171950"/>
            <a:ext cx="2457450" cy="14288"/>
          </a:xfrm>
          <a:prstGeom xmlns:a="http://schemas.openxmlformats.org/drawingml/2006/main" prst="rect">
            <a:avLst/>
          </a:prstGeom>
          <a:solidFill xmlns:a="http://schemas.openxmlformats.org/drawingml/2006/main">
            <a:srgbClr val="D7E2EE"/>
          </a:solidFill>
          <a:ln xmlns:a="http://schemas.openxmlformats.org/drawingml/2006/main" w="0">
            <a:noFill/>
            <a:prstDash val="solid"/>
          </a:ln>
        </p:spPr>
      </p:sp>
      <p:sp>
        <p:nvSpPr>
          <p:cNvPr id="565" name="">
            <a:extLst xmlns:a="http://schemas.openxmlformats.org/drawingml/2006/main">
              <a:ext uri="{FF2B5EF4-FFF2-40B4-BE49-F238E27FC236}">
                <a16:creationId xmlns:a16="http://schemas.microsoft.com/office/drawing/2014/main" id="{0872D509-FA15-4B81-9020-D35DB1E0D08C}"/>
              </a:ext>
            </a:extLst>
          </p:cNvPr>
          <p:cNvSpPr>
            <a:spLocks xmlns:a="http://schemas.openxmlformats.org/drawingml/2006/main" noGrp="1"/>
          </p:cNvSpPr>
          <p:nvPr/>
        </p:nvSpPr>
        <p:spPr>
          <a:xfrm xmlns:a="http://schemas.openxmlformats.org/drawingml/2006/main">
            <a:off x="1219200" y="4400550"/>
            <a:ext cx="209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34155"/>
                </a:solidFill>
                <a:latin typeface="Noto Sans"/>
                <a:ea typeface="Noto Sans"/>
                <a:cs typeface="Noto Sans"/>
              </a:defRPr>
            </a:pPr>
            <a:r>
              <a:rPr sz="1200" b="1">
                <a:solidFill>
                  <a:srgbClr val="334155"/>
                </a:solidFill>
                <a:latin typeface="Noto Sans"/>
                <a:ea typeface="Noto Sans"/>
                <a:cs typeface="Noto Sans"/>
              </a:rPr>
              <a:t>・</a:t>
            </a:r>
          </a:p>
        </p:txBody>
      </p:sp>
      <p:sp>
        <p:nvSpPr>
          <p:cNvPr id="566" name="">
            <a:extLst xmlns:a="http://schemas.openxmlformats.org/drawingml/2006/main">
              <a:ext uri="{FF2B5EF4-FFF2-40B4-BE49-F238E27FC236}">
                <a16:creationId xmlns:a16="http://schemas.microsoft.com/office/drawing/2014/main" id="{31A741C7-96B6-4958-81B4-ADA783928CD0}"/>
              </a:ext>
            </a:extLst>
          </p:cNvPr>
          <p:cNvSpPr>
            <a:spLocks xmlns:a="http://schemas.openxmlformats.org/drawingml/2006/main" noGrp="1"/>
          </p:cNvSpPr>
          <p:nvPr/>
        </p:nvSpPr>
        <p:spPr>
          <a:xfrm xmlns:a="http://schemas.openxmlformats.org/drawingml/2006/main">
            <a:off x="1485900" y="4400550"/>
            <a:ext cx="2076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334155"/>
                </a:solidFill>
                <a:latin typeface="Noto Sans"/>
                <a:ea typeface="Noto Sans"/>
                <a:cs typeface="Noto Sans"/>
              </a:defRPr>
            </a:pPr>
            <a:r>
              <a:rPr sz="1200" b="0">
                <a:solidFill>
                  <a:srgbClr val="334155"/>
                </a:solidFill>
                <a:latin typeface="Noto Sans"/>
                <a:ea typeface="Noto Sans"/>
                <a:cs typeface="Noto Sans"/>
              </a:rPr>
              <a:t>分析基盤を活用</a:t>
            </a:r>
          </a:p>
        </p:txBody>
      </p:sp>
      <p:sp>
        <p:nvSpPr>
          <p:cNvPr id="567" name="">
            <a:extLst xmlns:a="http://schemas.openxmlformats.org/drawingml/2006/main">
              <a:ext uri="{FF2B5EF4-FFF2-40B4-BE49-F238E27FC236}">
                <a16:creationId xmlns:a16="http://schemas.microsoft.com/office/drawing/2014/main" id="{375D39EC-56A5-48BC-B699-538898C72DAE}"/>
              </a:ext>
            </a:extLst>
          </p:cNvPr>
          <p:cNvSpPr>
            <a:spLocks xmlns:a="http://schemas.openxmlformats.org/drawingml/2006/main" noGrp="1"/>
          </p:cNvSpPr>
          <p:nvPr/>
        </p:nvSpPr>
        <p:spPr>
          <a:xfrm xmlns:a="http://schemas.openxmlformats.org/drawingml/2006/main">
            <a:off x="1219200" y="4724400"/>
            <a:ext cx="209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34155"/>
                </a:solidFill>
                <a:latin typeface="Noto Sans"/>
                <a:ea typeface="Noto Sans"/>
                <a:cs typeface="Noto Sans"/>
              </a:defRPr>
            </a:pPr>
            <a:r>
              <a:rPr sz="1200" b="1">
                <a:solidFill>
                  <a:srgbClr val="334155"/>
                </a:solidFill>
                <a:latin typeface="Noto Sans"/>
                <a:ea typeface="Noto Sans"/>
                <a:cs typeface="Noto Sans"/>
              </a:rPr>
              <a:t>・</a:t>
            </a:r>
          </a:p>
        </p:txBody>
      </p:sp>
      <p:sp>
        <p:nvSpPr>
          <p:cNvPr id="568" name="">
            <a:extLst xmlns:a="http://schemas.openxmlformats.org/drawingml/2006/main">
              <a:ext uri="{FF2B5EF4-FFF2-40B4-BE49-F238E27FC236}">
                <a16:creationId xmlns:a16="http://schemas.microsoft.com/office/drawing/2014/main" id="{0EF6C16E-7889-4A50-9881-4C724E60AEC6}"/>
              </a:ext>
            </a:extLst>
          </p:cNvPr>
          <p:cNvSpPr>
            <a:spLocks xmlns:a="http://schemas.openxmlformats.org/drawingml/2006/main" noGrp="1"/>
          </p:cNvSpPr>
          <p:nvPr/>
        </p:nvSpPr>
        <p:spPr>
          <a:xfrm xmlns:a="http://schemas.openxmlformats.org/drawingml/2006/main">
            <a:off x="1485900" y="4724400"/>
            <a:ext cx="2076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334155"/>
                </a:solidFill>
                <a:latin typeface="Noto Sans"/>
                <a:ea typeface="Noto Sans"/>
                <a:cs typeface="Noto Sans"/>
              </a:defRPr>
            </a:pPr>
            <a:r>
              <a:rPr sz="1200" b="0">
                <a:solidFill>
                  <a:srgbClr val="334155"/>
                </a:solidFill>
                <a:latin typeface="Noto Sans"/>
                <a:ea typeface="Noto Sans"/>
                <a:cs typeface="Noto Sans"/>
              </a:rPr>
              <a:t>現場担当者と並走</a:t>
            </a:r>
          </a:p>
        </p:txBody>
      </p:sp>
      <p:sp>
        <p:nvSpPr>
          <p:cNvPr id="569" name="">
            <a:extLst xmlns:a="http://schemas.openxmlformats.org/drawingml/2006/main">
              <a:ext uri="{FF2B5EF4-FFF2-40B4-BE49-F238E27FC236}">
                <a16:creationId xmlns:a16="http://schemas.microsoft.com/office/drawing/2014/main" id="{BC1CF05F-7848-43B9-920E-637DF0A59487}"/>
              </a:ext>
            </a:extLst>
          </p:cNvPr>
          <p:cNvSpPr>
            <a:spLocks xmlns:a="http://schemas.openxmlformats.org/drawingml/2006/main" noGrp="1"/>
          </p:cNvSpPr>
          <p:nvPr/>
        </p:nvSpPr>
        <p:spPr>
          <a:xfrm xmlns:a="http://schemas.openxmlformats.org/drawingml/2006/main">
            <a:off x="1219200" y="5048250"/>
            <a:ext cx="209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34155"/>
                </a:solidFill>
                <a:latin typeface="Noto Sans"/>
                <a:ea typeface="Noto Sans"/>
                <a:cs typeface="Noto Sans"/>
              </a:defRPr>
            </a:pPr>
            <a:r>
              <a:rPr sz="1200" b="1">
                <a:solidFill>
                  <a:srgbClr val="334155"/>
                </a:solidFill>
                <a:latin typeface="Noto Sans"/>
                <a:ea typeface="Noto Sans"/>
                <a:cs typeface="Noto Sans"/>
              </a:rPr>
              <a:t>・</a:t>
            </a:r>
          </a:p>
        </p:txBody>
      </p:sp>
      <p:sp>
        <p:nvSpPr>
          <p:cNvPr id="570" name="">
            <a:extLst xmlns:a="http://schemas.openxmlformats.org/drawingml/2006/main">
              <a:ext uri="{FF2B5EF4-FFF2-40B4-BE49-F238E27FC236}">
                <a16:creationId xmlns:a16="http://schemas.microsoft.com/office/drawing/2014/main" id="{F74EDFFC-DB28-483F-92B4-6F05A00E09D5}"/>
              </a:ext>
            </a:extLst>
          </p:cNvPr>
          <p:cNvSpPr>
            <a:spLocks xmlns:a="http://schemas.openxmlformats.org/drawingml/2006/main" noGrp="1"/>
          </p:cNvSpPr>
          <p:nvPr/>
        </p:nvSpPr>
        <p:spPr>
          <a:xfrm xmlns:a="http://schemas.openxmlformats.org/drawingml/2006/main">
            <a:off x="1485900" y="5048250"/>
            <a:ext cx="2076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334155"/>
                </a:solidFill>
                <a:latin typeface="Noto Sans"/>
                <a:ea typeface="Noto Sans"/>
                <a:cs typeface="Noto Sans"/>
              </a:defRPr>
            </a:pPr>
            <a:r>
              <a:rPr sz="1200" b="0">
                <a:solidFill>
                  <a:srgbClr val="334155"/>
                </a:solidFill>
                <a:latin typeface="Noto Sans"/>
                <a:ea typeface="Noto Sans"/>
                <a:cs typeface="Noto Sans"/>
              </a:rPr>
              <a:t>小さく検証し改善</a:t>
            </a:r>
          </a:p>
        </p:txBody>
      </p:sp>
      <p:sp>
        <p:nvSpPr>
          <p:cNvPr id="571" name="">
            <a:extLst xmlns:a="http://schemas.openxmlformats.org/drawingml/2006/main">
              <a:ext uri="{FF2B5EF4-FFF2-40B4-BE49-F238E27FC236}">
                <a16:creationId xmlns:a16="http://schemas.microsoft.com/office/drawing/2014/main" id="{4D562789-3E31-4B5E-BD2F-EF7D0CD98DC4}"/>
              </a:ext>
            </a:extLst>
          </p:cNvPr>
          <p:cNvSpPr>
            <a:spLocks xmlns:a="http://schemas.openxmlformats.org/drawingml/2006/main" noGrp="1"/>
          </p:cNvSpPr>
          <p:nvPr/>
        </p:nvSpPr>
        <p:spPr>
          <a:xfrm xmlns:a="http://schemas.openxmlformats.org/drawingml/2006/main">
            <a:off x="3981450" y="3962400"/>
            <a:ext cx="495300" cy="285750"/>
          </a:xfrm>
          <a:prstGeom xmlns:a="http://schemas.openxmlformats.org/drawingml/2006/main" prst="rightArrow">
            <a:avLst/>
          </a:prstGeom>
          <a:solidFill xmlns:a="http://schemas.openxmlformats.org/drawingml/2006/main">
            <a:srgbClr val="B9D8EE"/>
          </a:solidFill>
          <a:ln xmlns:a="http://schemas.openxmlformats.org/drawingml/2006/main" w="0">
            <a:solidFill>
              <a:srgbClr val="B9D8EE"/>
            </a:solidFill>
            <a:prstDash val="solid"/>
          </a:ln>
        </p:spPr>
      </p:sp>
      <p:sp>
        <p:nvSpPr>
          <p:cNvPr id="572" name="">
            <a:extLst xmlns:a="http://schemas.openxmlformats.org/drawingml/2006/main">
              <a:ext uri="{FF2B5EF4-FFF2-40B4-BE49-F238E27FC236}">
                <a16:creationId xmlns:a16="http://schemas.microsoft.com/office/drawing/2014/main" id="{3CA1AFBB-6875-4F9E-9F32-FA2F20A195AB}"/>
              </a:ext>
            </a:extLst>
          </p:cNvPr>
          <p:cNvSpPr>
            <a:spLocks xmlns:a="http://schemas.openxmlformats.org/drawingml/2006/main" noGrp="1"/>
          </p:cNvSpPr>
          <p:nvPr/>
        </p:nvSpPr>
        <p:spPr>
          <a:xfrm xmlns:a="http://schemas.openxmlformats.org/drawingml/2006/main">
            <a:off x="4514850" y="2609850"/>
            <a:ext cx="3143250" cy="2743200"/>
          </a:xfrm>
          <a:prstGeom xmlns:a="http://schemas.openxmlformats.org/drawingml/2006/main" prst="roundRect">
            <a:avLst>
              <a:gd name="adj" fmla="val 2778"/>
            </a:avLst>
          </a:prstGeom>
          <a:solidFill xmlns:a="http://schemas.openxmlformats.org/drawingml/2006/main">
            <a:srgbClr val="F8FAFC"/>
          </a:solidFill>
          <a:ln xmlns:a="http://schemas.openxmlformats.org/drawingml/2006/main" w="9525">
            <a:solidFill>
              <a:srgbClr val="D7E2EE"/>
            </a:solidFill>
            <a:prstDash val="solid"/>
          </a:ln>
        </p:spPr>
      </p:sp>
      <p:sp>
        <p:nvSpPr>
          <p:cNvPr id="573" name="">
            <a:extLst xmlns:a="http://schemas.openxmlformats.org/drawingml/2006/main">
              <a:ext uri="{FF2B5EF4-FFF2-40B4-BE49-F238E27FC236}">
                <a16:creationId xmlns:a16="http://schemas.microsoft.com/office/drawing/2014/main" id="{2B84C8CA-97BF-4152-88AB-D56B0B0A4A28}"/>
              </a:ext>
            </a:extLst>
          </p:cNvPr>
          <p:cNvSpPr>
            <a:spLocks xmlns:a="http://schemas.openxmlformats.org/drawingml/2006/main" noGrp="1"/>
          </p:cNvSpPr>
          <p:nvPr/>
        </p:nvSpPr>
        <p:spPr>
          <a:xfrm xmlns:a="http://schemas.openxmlformats.org/drawingml/2006/main">
            <a:off x="4781550" y="2876550"/>
            <a:ext cx="419100" cy="419100"/>
          </a:xfrm>
          <a:prstGeom xmlns:a="http://schemas.openxmlformats.org/drawingml/2006/main" prst="ellipse">
            <a:avLst/>
          </a:prstGeom>
          <a:solidFill xmlns:a="http://schemas.openxmlformats.org/drawingml/2006/main">
            <a:srgbClr val="17385D"/>
          </a:solidFill>
          <a:ln xmlns:a="http://schemas.openxmlformats.org/drawingml/2006/main" w="9525">
            <a:solidFill>
              <a:srgbClr val="17385D"/>
            </a:solidFill>
            <a:prstDash val="solid"/>
          </a:ln>
        </p:spPr>
      </p:sp>
      <p:sp>
        <p:nvSpPr>
          <p:cNvPr id="574" name="">
            <a:extLst xmlns:a="http://schemas.openxmlformats.org/drawingml/2006/main">
              <a:ext uri="{FF2B5EF4-FFF2-40B4-BE49-F238E27FC236}">
                <a16:creationId xmlns:a16="http://schemas.microsoft.com/office/drawing/2014/main" id="{74B565E3-C0F2-4768-9C07-3BAF9631D2C8}"/>
              </a:ext>
            </a:extLst>
          </p:cNvPr>
          <p:cNvSpPr>
            <a:spLocks xmlns:a="http://schemas.openxmlformats.org/drawingml/2006/main" noGrp="1"/>
          </p:cNvSpPr>
          <p:nvPr/>
        </p:nvSpPr>
        <p:spPr>
          <a:xfrm xmlns:a="http://schemas.openxmlformats.org/drawingml/2006/main">
            <a:off x="4781550" y="2952750"/>
            <a:ext cx="419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FFFFFF"/>
                </a:solidFill>
                <a:latin typeface="Noto Sans"/>
                <a:ea typeface="Noto Sans"/>
                <a:cs typeface="Noto Sans"/>
              </a:defRPr>
            </a:pPr>
            <a:r>
              <a:rPr sz="1350" b="1">
                <a:solidFill>
                  <a:srgbClr val="FFFFFF"/>
                </a:solidFill>
                <a:latin typeface="Noto Sans"/>
                <a:ea typeface="Noto Sans"/>
                <a:cs typeface="Noto Sans"/>
              </a:rPr>
              <a:t>2</a:t>
            </a:r>
          </a:p>
        </p:txBody>
      </p:sp>
      <p:sp>
        <p:nvSpPr>
          <p:cNvPr id="575" name="">
            <a:extLst xmlns:a="http://schemas.openxmlformats.org/drawingml/2006/main">
              <a:ext uri="{FF2B5EF4-FFF2-40B4-BE49-F238E27FC236}">
                <a16:creationId xmlns:a16="http://schemas.microsoft.com/office/drawing/2014/main" id="{9E8E2592-9240-466D-885C-A459CD3ED11B}"/>
              </a:ext>
            </a:extLst>
          </p:cNvPr>
          <p:cNvSpPr>
            <a:spLocks xmlns:a="http://schemas.openxmlformats.org/drawingml/2006/main" noGrp="1"/>
          </p:cNvSpPr>
          <p:nvPr/>
        </p:nvSpPr>
        <p:spPr>
          <a:xfrm xmlns:a="http://schemas.openxmlformats.org/drawingml/2006/main">
            <a:off x="5353050" y="2838450"/>
            <a:ext cx="2038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17385D"/>
                </a:solidFill>
                <a:latin typeface="Noto Sans"/>
                <a:ea typeface="Noto Sans"/>
                <a:cs typeface="Noto Sans"/>
              </a:defRPr>
            </a:pPr>
            <a:r>
              <a:rPr sz="1650" b="1">
                <a:solidFill>
                  <a:srgbClr val="17385D"/>
                </a:solidFill>
                <a:latin typeface="Noto Sans"/>
                <a:ea typeface="Noto Sans"/>
                <a:cs typeface="Noto Sans"/>
              </a:rPr>
              <a:t>設計期間</a:t>
            </a:r>
          </a:p>
        </p:txBody>
      </p:sp>
      <p:sp>
        <p:nvSpPr>
          <p:cNvPr id="576" name="">
            <a:extLst xmlns:a="http://schemas.openxmlformats.org/drawingml/2006/main">
              <a:ext uri="{FF2B5EF4-FFF2-40B4-BE49-F238E27FC236}">
                <a16:creationId xmlns:a16="http://schemas.microsoft.com/office/drawing/2014/main" id="{6E0C8856-57F0-4372-8EB9-A01E1679A58A}"/>
              </a:ext>
            </a:extLst>
          </p:cNvPr>
          <p:cNvSpPr>
            <a:spLocks xmlns:a="http://schemas.openxmlformats.org/drawingml/2006/main" noGrp="1"/>
          </p:cNvSpPr>
          <p:nvPr/>
        </p:nvSpPr>
        <p:spPr>
          <a:xfrm xmlns:a="http://schemas.openxmlformats.org/drawingml/2006/main">
            <a:off x="4838700" y="3562350"/>
            <a:ext cx="24955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17385D"/>
                </a:solidFill>
                <a:latin typeface="Noto Sans"/>
                <a:ea typeface="Noto Sans"/>
                <a:cs typeface="Noto Sans"/>
              </a:defRPr>
            </a:pPr>
            <a:r>
              <a:rPr sz="1425" b="1">
                <a:solidFill>
                  <a:srgbClr val="17385D"/>
                </a:solidFill>
                <a:latin typeface="Noto Sans"/>
                <a:ea typeface="Noto Sans"/>
                <a:cs typeface="Noto Sans"/>
              </a:rPr>
              <a:t>数か月かけて業務接続を調整</a:t>
            </a:r>
          </a:p>
        </p:txBody>
      </p:sp>
      <p:sp>
        <p:nvSpPr>
          <p:cNvPr id="577" name="">
            <a:extLst xmlns:a="http://schemas.openxmlformats.org/drawingml/2006/main">
              <a:ext uri="{FF2B5EF4-FFF2-40B4-BE49-F238E27FC236}">
                <a16:creationId xmlns:a16="http://schemas.microsoft.com/office/drawing/2014/main" id="{2DA69468-4D45-4FF5-AE4C-BF0521B783B1}"/>
              </a:ext>
            </a:extLst>
          </p:cNvPr>
          <p:cNvSpPr>
            <a:spLocks xmlns:a="http://schemas.openxmlformats.org/drawingml/2006/main" noGrp="1"/>
          </p:cNvSpPr>
          <p:nvPr/>
        </p:nvSpPr>
        <p:spPr>
          <a:xfrm xmlns:a="http://schemas.openxmlformats.org/drawingml/2006/main">
            <a:off x="4857750" y="4171950"/>
            <a:ext cx="2457450" cy="14288"/>
          </a:xfrm>
          <a:prstGeom xmlns:a="http://schemas.openxmlformats.org/drawingml/2006/main" prst="rect">
            <a:avLst/>
          </a:prstGeom>
          <a:solidFill xmlns:a="http://schemas.openxmlformats.org/drawingml/2006/main">
            <a:srgbClr val="D7E2EE"/>
          </a:solidFill>
          <a:ln xmlns:a="http://schemas.openxmlformats.org/drawingml/2006/main" w="0">
            <a:noFill/>
            <a:prstDash val="solid"/>
          </a:ln>
        </p:spPr>
      </p:sp>
      <p:sp>
        <p:nvSpPr>
          <p:cNvPr id="578" name="">
            <a:extLst xmlns:a="http://schemas.openxmlformats.org/drawingml/2006/main">
              <a:ext uri="{FF2B5EF4-FFF2-40B4-BE49-F238E27FC236}">
                <a16:creationId xmlns:a16="http://schemas.microsoft.com/office/drawing/2014/main" id="{9ABFD9BA-F6DB-4732-B335-AA4C6827C3FC}"/>
              </a:ext>
            </a:extLst>
          </p:cNvPr>
          <p:cNvSpPr>
            <a:spLocks xmlns:a="http://schemas.openxmlformats.org/drawingml/2006/main" noGrp="1"/>
          </p:cNvSpPr>
          <p:nvPr/>
        </p:nvSpPr>
        <p:spPr>
          <a:xfrm xmlns:a="http://schemas.openxmlformats.org/drawingml/2006/main">
            <a:off x="4914900" y="4400550"/>
            <a:ext cx="209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34155"/>
                </a:solidFill>
                <a:latin typeface="Noto Sans"/>
                <a:ea typeface="Noto Sans"/>
                <a:cs typeface="Noto Sans"/>
              </a:defRPr>
            </a:pPr>
            <a:r>
              <a:rPr sz="1200" b="1">
                <a:solidFill>
                  <a:srgbClr val="334155"/>
                </a:solidFill>
                <a:latin typeface="Noto Sans"/>
                <a:ea typeface="Noto Sans"/>
                <a:cs typeface="Noto Sans"/>
              </a:rPr>
              <a:t>・</a:t>
            </a:r>
          </a:p>
        </p:txBody>
      </p:sp>
      <p:sp>
        <p:nvSpPr>
          <p:cNvPr id="579" name="">
            <a:extLst xmlns:a="http://schemas.openxmlformats.org/drawingml/2006/main">
              <a:ext uri="{FF2B5EF4-FFF2-40B4-BE49-F238E27FC236}">
                <a16:creationId xmlns:a16="http://schemas.microsoft.com/office/drawing/2014/main" id="{1FE3907D-311C-4EFC-9824-C28D0211B33E}"/>
              </a:ext>
            </a:extLst>
          </p:cNvPr>
          <p:cNvSpPr>
            <a:spLocks xmlns:a="http://schemas.openxmlformats.org/drawingml/2006/main" noGrp="1"/>
          </p:cNvSpPr>
          <p:nvPr/>
        </p:nvSpPr>
        <p:spPr>
          <a:xfrm xmlns:a="http://schemas.openxmlformats.org/drawingml/2006/main">
            <a:off x="5181600" y="4400550"/>
            <a:ext cx="2076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334155"/>
                </a:solidFill>
                <a:latin typeface="Noto Sans"/>
                <a:ea typeface="Noto Sans"/>
                <a:cs typeface="Noto Sans"/>
              </a:defRPr>
            </a:pPr>
            <a:r>
              <a:rPr sz="1200" b="0">
                <a:solidFill>
                  <a:srgbClr val="334155"/>
                </a:solidFill>
                <a:latin typeface="Noto Sans"/>
                <a:ea typeface="Noto Sans"/>
                <a:cs typeface="Noto Sans"/>
              </a:rPr>
              <a:t>判断基準を明文化</a:t>
            </a:r>
          </a:p>
        </p:txBody>
      </p:sp>
      <p:sp>
        <p:nvSpPr>
          <p:cNvPr id="580" name="">
            <a:extLst xmlns:a="http://schemas.openxmlformats.org/drawingml/2006/main">
              <a:ext uri="{FF2B5EF4-FFF2-40B4-BE49-F238E27FC236}">
                <a16:creationId xmlns:a16="http://schemas.microsoft.com/office/drawing/2014/main" id="{B3F8AA89-C03E-46D7-9167-D6CC394F188A}"/>
              </a:ext>
            </a:extLst>
          </p:cNvPr>
          <p:cNvSpPr>
            <a:spLocks xmlns:a="http://schemas.openxmlformats.org/drawingml/2006/main" noGrp="1"/>
          </p:cNvSpPr>
          <p:nvPr/>
        </p:nvSpPr>
        <p:spPr>
          <a:xfrm xmlns:a="http://schemas.openxmlformats.org/drawingml/2006/main">
            <a:off x="4914900" y="4724400"/>
            <a:ext cx="209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34155"/>
                </a:solidFill>
                <a:latin typeface="Noto Sans"/>
                <a:ea typeface="Noto Sans"/>
                <a:cs typeface="Noto Sans"/>
              </a:defRPr>
            </a:pPr>
            <a:r>
              <a:rPr sz="1200" b="1">
                <a:solidFill>
                  <a:srgbClr val="334155"/>
                </a:solidFill>
                <a:latin typeface="Noto Sans"/>
                <a:ea typeface="Noto Sans"/>
                <a:cs typeface="Noto Sans"/>
              </a:rPr>
              <a:t>・</a:t>
            </a:r>
          </a:p>
        </p:txBody>
      </p:sp>
      <p:sp>
        <p:nvSpPr>
          <p:cNvPr id="581" name="">
            <a:extLst xmlns:a="http://schemas.openxmlformats.org/drawingml/2006/main">
              <a:ext uri="{FF2B5EF4-FFF2-40B4-BE49-F238E27FC236}">
                <a16:creationId xmlns:a16="http://schemas.microsoft.com/office/drawing/2014/main" id="{4B831784-8951-4C2A-9F3B-A15844C1B4BD}"/>
              </a:ext>
            </a:extLst>
          </p:cNvPr>
          <p:cNvSpPr>
            <a:spLocks xmlns:a="http://schemas.openxmlformats.org/drawingml/2006/main" noGrp="1"/>
          </p:cNvSpPr>
          <p:nvPr/>
        </p:nvSpPr>
        <p:spPr>
          <a:xfrm xmlns:a="http://schemas.openxmlformats.org/drawingml/2006/main">
            <a:off x="5181600" y="4724400"/>
            <a:ext cx="2076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334155"/>
                </a:solidFill>
                <a:latin typeface="Noto Sans"/>
                <a:ea typeface="Noto Sans"/>
                <a:cs typeface="Noto Sans"/>
              </a:defRPr>
            </a:pPr>
            <a:r>
              <a:rPr sz="1200" b="0">
                <a:solidFill>
                  <a:srgbClr val="334155"/>
                </a:solidFill>
                <a:latin typeface="Noto Sans"/>
                <a:ea typeface="Noto Sans"/>
                <a:cs typeface="Noto Sans"/>
              </a:rPr>
              <a:t>記録方法を合わせる</a:t>
            </a:r>
          </a:p>
        </p:txBody>
      </p:sp>
      <p:sp>
        <p:nvSpPr>
          <p:cNvPr id="582" name="">
            <a:extLst xmlns:a="http://schemas.openxmlformats.org/drawingml/2006/main">
              <a:ext uri="{FF2B5EF4-FFF2-40B4-BE49-F238E27FC236}">
                <a16:creationId xmlns:a16="http://schemas.microsoft.com/office/drawing/2014/main" id="{ED4F7739-7024-423D-A761-D317DA744120}"/>
              </a:ext>
            </a:extLst>
          </p:cNvPr>
          <p:cNvSpPr>
            <a:spLocks xmlns:a="http://schemas.openxmlformats.org/drawingml/2006/main" noGrp="1"/>
          </p:cNvSpPr>
          <p:nvPr/>
        </p:nvSpPr>
        <p:spPr>
          <a:xfrm xmlns:a="http://schemas.openxmlformats.org/drawingml/2006/main">
            <a:off x="4914900" y="5048250"/>
            <a:ext cx="209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34155"/>
                </a:solidFill>
                <a:latin typeface="Noto Sans"/>
                <a:ea typeface="Noto Sans"/>
                <a:cs typeface="Noto Sans"/>
              </a:defRPr>
            </a:pPr>
            <a:r>
              <a:rPr sz="1200" b="1">
                <a:solidFill>
                  <a:srgbClr val="334155"/>
                </a:solidFill>
                <a:latin typeface="Noto Sans"/>
                <a:ea typeface="Noto Sans"/>
                <a:cs typeface="Noto Sans"/>
              </a:rPr>
              <a:t>・</a:t>
            </a:r>
          </a:p>
        </p:txBody>
      </p:sp>
      <p:sp>
        <p:nvSpPr>
          <p:cNvPr id="583" name="">
            <a:extLst xmlns:a="http://schemas.openxmlformats.org/drawingml/2006/main">
              <a:ext uri="{FF2B5EF4-FFF2-40B4-BE49-F238E27FC236}">
                <a16:creationId xmlns:a16="http://schemas.microsoft.com/office/drawing/2014/main" id="{A07ADAA4-8D1A-4F7A-9B46-F8733A1B0384}"/>
              </a:ext>
            </a:extLst>
          </p:cNvPr>
          <p:cNvSpPr>
            <a:spLocks xmlns:a="http://schemas.openxmlformats.org/drawingml/2006/main" noGrp="1"/>
          </p:cNvSpPr>
          <p:nvPr/>
        </p:nvSpPr>
        <p:spPr>
          <a:xfrm xmlns:a="http://schemas.openxmlformats.org/drawingml/2006/main">
            <a:off x="5181600" y="5048250"/>
            <a:ext cx="2076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334155"/>
                </a:solidFill>
                <a:latin typeface="Noto Sans"/>
                <a:ea typeface="Noto Sans"/>
                <a:cs typeface="Noto Sans"/>
              </a:defRPr>
            </a:pPr>
            <a:r>
              <a:rPr sz="1200" b="0">
                <a:solidFill>
                  <a:srgbClr val="334155"/>
                </a:solidFill>
                <a:latin typeface="Noto Sans"/>
                <a:ea typeface="Noto Sans"/>
                <a:cs typeface="Noto Sans"/>
              </a:rPr>
              <a:t>基礎研究を継続する</a:t>
            </a:r>
          </a:p>
        </p:txBody>
      </p:sp>
      <p:sp>
        <p:nvSpPr>
          <p:cNvPr id="584" name="">
            <a:extLst xmlns:a="http://schemas.openxmlformats.org/drawingml/2006/main">
              <a:ext uri="{FF2B5EF4-FFF2-40B4-BE49-F238E27FC236}">
                <a16:creationId xmlns:a16="http://schemas.microsoft.com/office/drawing/2014/main" id="{0CADFADD-732F-413E-97E3-85C0FADFAD59}"/>
              </a:ext>
            </a:extLst>
          </p:cNvPr>
          <p:cNvSpPr>
            <a:spLocks xmlns:a="http://schemas.openxmlformats.org/drawingml/2006/main" noGrp="1"/>
          </p:cNvSpPr>
          <p:nvPr/>
        </p:nvSpPr>
        <p:spPr>
          <a:xfrm xmlns:a="http://schemas.openxmlformats.org/drawingml/2006/main">
            <a:off x="7677150" y="3962400"/>
            <a:ext cx="495300" cy="285750"/>
          </a:xfrm>
          <a:prstGeom xmlns:a="http://schemas.openxmlformats.org/drawingml/2006/main" prst="rightArrow">
            <a:avLst/>
          </a:prstGeom>
          <a:solidFill xmlns:a="http://schemas.openxmlformats.org/drawingml/2006/main">
            <a:srgbClr val="B9D8EE"/>
          </a:solidFill>
          <a:ln xmlns:a="http://schemas.openxmlformats.org/drawingml/2006/main" w="0">
            <a:solidFill>
              <a:srgbClr val="B9D8EE"/>
            </a:solidFill>
            <a:prstDash val="solid"/>
          </a:ln>
        </p:spPr>
      </p:sp>
      <p:sp>
        <p:nvSpPr>
          <p:cNvPr id="585" name="">
            <a:extLst xmlns:a="http://schemas.openxmlformats.org/drawingml/2006/main">
              <a:ext uri="{FF2B5EF4-FFF2-40B4-BE49-F238E27FC236}">
                <a16:creationId xmlns:a16="http://schemas.microsoft.com/office/drawing/2014/main" id="{4B19B755-E133-40B1-98DC-7C121F13B016}"/>
              </a:ext>
            </a:extLst>
          </p:cNvPr>
          <p:cNvSpPr>
            <a:spLocks xmlns:a="http://schemas.openxmlformats.org/drawingml/2006/main" noGrp="1"/>
          </p:cNvSpPr>
          <p:nvPr/>
        </p:nvSpPr>
        <p:spPr>
          <a:xfrm xmlns:a="http://schemas.openxmlformats.org/drawingml/2006/main">
            <a:off x="8229600" y="2609850"/>
            <a:ext cx="3143250" cy="2743200"/>
          </a:xfrm>
          <a:prstGeom xmlns:a="http://schemas.openxmlformats.org/drawingml/2006/main" prst="roundRect">
            <a:avLst>
              <a:gd name="adj" fmla="val 2778"/>
            </a:avLst>
          </a:prstGeom>
          <a:solidFill xmlns:a="http://schemas.openxmlformats.org/drawingml/2006/main">
            <a:srgbClr val="F8FAFC"/>
          </a:solidFill>
          <a:ln xmlns:a="http://schemas.openxmlformats.org/drawingml/2006/main" w="9525">
            <a:solidFill>
              <a:srgbClr val="D7E2EE"/>
            </a:solidFill>
            <a:prstDash val="solid"/>
          </a:ln>
        </p:spPr>
      </p:sp>
      <p:sp>
        <p:nvSpPr>
          <p:cNvPr id="586" name="">
            <a:extLst xmlns:a="http://schemas.openxmlformats.org/drawingml/2006/main">
              <a:ext uri="{FF2B5EF4-FFF2-40B4-BE49-F238E27FC236}">
                <a16:creationId xmlns:a16="http://schemas.microsoft.com/office/drawing/2014/main" id="{584B7113-912B-427A-A764-E537A1827315}"/>
              </a:ext>
            </a:extLst>
          </p:cNvPr>
          <p:cNvSpPr>
            <a:spLocks xmlns:a="http://schemas.openxmlformats.org/drawingml/2006/main" noGrp="1"/>
          </p:cNvSpPr>
          <p:nvPr/>
        </p:nvSpPr>
        <p:spPr>
          <a:xfrm xmlns:a="http://schemas.openxmlformats.org/drawingml/2006/main">
            <a:off x="8496300" y="2876550"/>
            <a:ext cx="419100" cy="419100"/>
          </a:xfrm>
          <a:prstGeom xmlns:a="http://schemas.openxmlformats.org/drawingml/2006/main" prst="ellipse">
            <a:avLst/>
          </a:prstGeom>
          <a:solidFill xmlns:a="http://schemas.openxmlformats.org/drawingml/2006/main">
            <a:srgbClr val="2F8A70"/>
          </a:solidFill>
          <a:ln xmlns:a="http://schemas.openxmlformats.org/drawingml/2006/main" w="9525">
            <a:solidFill>
              <a:srgbClr val="2F8A70"/>
            </a:solidFill>
            <a:prstDash val="solid"/>
          </a:ln>
        </p:spPr>
      </p:sp>
      <p:sp>
        <p:nvSpPr>
          <p:cNvPr id="587" name="">
            <a:extLst xmlns:a="http://schemas.openxmlformats.org/drawingml/2006/main">
              <a:ext uri="{FF2B5EF4-FFF2-40B4-BE49-F238E27FC236}">
                <a16:creationId xmlns:a16="http://schemas.microsoft.com/office/drawing/2014/main" id="{82C18FD6-CD8B-4CD4-9015-35941FA6050C}"/>
              </a:ext>
            </a:extLst>
          </p:cNvPr>
          <p:cNvSpPr>
            <a:spLocks xmlns:a="http://schemas.openxmlformats.org/drawingml/2006/main" noGrp="1"/>
          </p:cNvSpPr>
          <p:nvPr/>
        </p:nvSpPr>
        <p:spPr>
          <a:xfrm xmlns:a="http://schemas.openxmlformats.org/drawingml/2006/main">
            <a:off x="8496300" y="2952750"/>
            <a:ext cx="419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FFFFFF"/>
                </a:solidFill>
                <a:latin typeface="Noto Sans"/>
                <a:ea typeface="Noto Sans"/>
                <a:cs typeface="Noto Sans"/>
              </a:defRPr>
            </a:pPr>
            <a:r>
              <a:rPr sz="1350" b="1">
                <a:solidFill>
                  <a:srgbClr val="FFFFFF"/>
                </a:solidFill>
                <a:latin typeface="Noto Sans"/>
                <a:ea typeface="Noto Sans"/>
                <a:cs typeface="Noto Sans"/>
              </a:rPr>
              <a:t>3</a:t>
            </a:r>
          </a:p>
        </p:txBody>
      </p:sp>
      <p:sp>
        <p:nvSpPr>
          <p:cNvPr id="588" name="">
            <a:extLst xmlns:a="http://schemas.openxmlformats.org/drawingml/2006/main">
              <a:ext uri="{FF2B5EF4-FFF2-40B4-BE49-F238E27FC236}">
                <a16:creationId xmlns:a16="http://schemas.microsoft.com/office/drawing/2014/main" id="{3AC9F644-3E2B-4FA0-87DA-507068E511EC}"/>
              </a:ext>
            </a:extLst>
          </p:cNvPr>
          <p:cNvSpPr>
            <a:spLocks xmlns:a="http://schemas.openxmlformats.org/drawingml/2006/main" noGrp="1"/>
          </p:cNvSpPr>
          <p:nvPr/>
        </p:nvSpPr>
        <p:spPr>
          <a:xfrm xmlns:a="http://schemas.openxmlformats.org/drawingml/2006/main">
            <a:off x="9067800" y="2838450"/>
            <a:ext cx="2038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17385D"/>
                </a:solidFill>
                <a:latin typeface="Noto Sans"/>
                <a:ea typeface="Noto Sans"/>
                <a:cs typeface="Noto Sans"/>
              </a:defRPr>
            </a:pPr>
            <a:r>
              <a:rPr sz="1425" b="1">
                <a:solidFill>
                  <a:srgbClr val="17385D"/>
                </a:solidFill>
                <a:latin typeface="Noto Sans"/>
                <a:ea typeface="Noto Sans"/>
                <a:cs typeface="Noto Sans"/>
              </a:rPr>
              <a:t>本格実装に向けて</a:t>
            </a:r>
          </a:p>
          <a:p xmlns:a="http://schemas.openxmlformats.org/drawingml/2006/main">
            <a:pPr algn="l">
              <a:defRPr sz="1425" b="1">
                <a:solidFill>
                  <a:srgbClr val="17385D"/>
                </a:solidFill>
                <a:latin typeface="Noto Sans"/>
                <a:ea typeface="Noto Sans"/>
                <a:cs typeface="Noto Sans"/>
              </a:defRPr>
            </a:pPr>
            <a:r>
              <a:rPr sz="1425" b="1">
                <a:solidFill>
                  <a:srgbClr val="17385D"/>
                </a:solidFill>
                <a:latin typeface="Noto Sans"/>
                <a:ea typeface="Noto Sans"/>
                <a:cs typeface="Noto Sans"/>
              </a:rPr>
              <a:t>確認すること</a:t>
            </a:r>
          </a:p>
        </p:txBody>
      </p:sp>
      <p:sp>
        <p:nvSpPr>
          <p:cNvPr id="589" name="">
            <a:extLst xmlns:a="http://schemas.openxmlformats.org/drawingml/2006/main">
              <a:ext uri="{FF2B5EF4-FFF2-40B4-BE49-F238E27FC236}">
                <a16:creationId xmlns:a16="http://schemas.microsoft.com/office/drawing/2014/main" id="{9BB4CFAF-D002-494B-AD2F-62AD645590B3}"/>
              </a:ext>
            </a:extLst>
          </p:cNvPr>
          <p:cNvSpPr>
            <a:spLocks xmlns:a="http://schemas.openxmlformats.org/drawingml/2006/main" noGrp="1"/>
          </p:cNvSpPr>
          <p:nvPr/>
        </p:nvSpPr>
        <p:spPr>
          <a:xfrm xmlns:a="http://schemas.openxmlformats.org/drawingml/2006/main">
            <a:off x="8553450" y="3562350"/>
            <a:ext cx="24955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2F8A70"/>
                </a:solidFill>
                <a:latin typeface="Noto Sans"/>
                <a:ea typeface="Noto Sans"/>
                <a:cs typeface="Noto Sans"/>
              </a:defRPr>
            </a:pPr>
            <a:r>
              <a:rPr sz="1425" b="1">
                <a:solidFill>
                  <a:srgbClr val="2F8A70"/>
                </a:solidFill>
                <a:latin typeface="Noto Sans"/>
                <a:ea typeface="Noto Sans"/>
                <a:cs typeface="Noto Sans"/>
              </a:rPr>
              <a:t>条件が整えば、段階的な実装を検討</a:t>
            </a:r>
          </a:p>
        </p:txBody>
      </p:sp>
      <p:sp>
        <p:nvSpPr>
          <p:cNvPr id="590" name="">
            <a:extLst xmlns:a="http://schemas.openxmlformats.org/drawingml/2006/main">
              <a:ext uri="{FF2B5EF4-FFF2-40B4-BE49-F238E27FC236}">
                <a16:creationId xmlns:a16="http://schemas.microsoft.com/office/drawing/2014/main" id="{1842E619-03CD-4833-9B43-12BF4A1C0E75}"/>
              </a:ext>
            </a:extLst>
          </p:cNvPr>
          <p:cNvSpPr>
            <a:spLocks xmlns:a="http://schemas.openxmlformats.org/drawingml/2006/main" noGrp="1"/>
          </p:cNvSpPr>
          <p:nvPr/>
        </p:nvSpPr>
        <p:spPr>
          <a:xfrm xmlns:a="http://schemas.openxmlformats.org/drawingml/2006/main">
            <a:off x="8572500" y="4171950"/>
            <a:ext cx="2457450" cy="14288"/>
          </a:xfrm>
          <a:prstGeom xmlns:a="http://schemas.openxmlformats.org/drawingml/2006/main" prst="rect">
            <a:avLst/>
          </a:prstGeom>
          <a:solidFill xmlns:a="http://schemas.openxmlformats.org/drawingml/2006/main">
            <a:srgbClr val="D7E2EE"/>
          </a:solidFill>
          <a:ln xmlns:a="http://schemas.openxmlformats.org/drawingml/2006/main" w="0">
            <a:noFill/>
            <a:prstDash val="solid"/>
          </a:ln>
        </p:spPr>
      </p:sp>
      <p:sp>
        <p:nvSpPr>
          <p:cNvPr id="591" name="">
            <a:extLst xmlns:a="http://schemas.openxmlformats.org/drawingml/2006/main">
              <a:ext uri="{FF2B5EF4-FFF2-40B4-BE49-F238E27FC236}">
                <a16:creationId xmlns:a16="http://schemas.microsoft.com/office/drawing/2014/main" id="{65AEB976-9E18-47E8-98C9-F0113C5DB34A}"/>
              </a:ext>
            </a:extLst>
          </p:cNvPr>
          <p:cNvSpPr>
            <a:spLocks xmlns:a="http://schemas.openxmlformats.org/drawingml/2006/main" noGrp="1"/>
          </p:cNvSpPr>
          <p:nvPr/>
        </p:nvSpPr>
        <p:spPr>
          <a:xfrm xmlns:a="http://schemas.openxmlformats.org/drawingml/2006/main">
            <a:off x="8629650" y="4400550"/>
            <a:ext cx="209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34155"/>
                </a:solidFill>
                <a:latin typeface="Noto Sans"/>
                <a:ea typeface="Noto Sans"/>
                <a:cs typeface="Noto Sans"/>
              </a:defRPr>
            </a:pPr>
            <a:r>
              <a:rPr sz="1050" b="1">
                <a:solidFill>
                  <a:srgbClr val="334155"/>
                </a:solidFill>
                <a:latin typeface="Noto Sans"/>
                <a:ea typeface="Noto Sans"/>
                <a:cs typeface="Noto Sans"/>
              </a:rPr>
              <a:t>・</a:t>
            </a:r>
          </a:p>
        </p:txBody>
      </p:sp>
      <p:sp>
        <p:nvSpPr>
          <p:cNvPr id="592" name="">
            <a:extLst xmlns:a="http://schemas.openxmlformats.org/drawingml/2006/main">
              <a:ext uri="{FF2B5EF4-FFF2-40B4-BE49-F238E27FC236}">
                <a16:creationId xmlns:a16="http://schemas.microsoft.com/office/drawing/2014/main" id="{540103F1-6285-42A1-911D-8AD4FB754CEC}"/>
              </a:ext>
            </a:extLst>
          </p:cNvPr>
          <p:cNvSpPr>
            <a:spLocks xmlns:a="http://schemas.openxmlformats.org/drawingml/2006/main" noGrp="1"/>
          </p:cNvSpPr>
          <p:nvPr/>
        </p:nvSpPr>
        <p:spPr>
          <a:xfrm xmlns:a="http://schemas.openxmlformats.org/drawingml/2006/main">
            <a:off x="8896350" y="4400550"/>
            <a:ext cx="2076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334155"/>
                </a:solidFill>
                <a:latin typeface="Noto Sans"/>
                <a:ea typeface="Noto Sans"/>
                <a:cs typeface="Noto Sans"/>
              </a:defRPr>
            </a:pPr>
            <a:r>
              <a:rPr sz="1050" b="0">
                <a:solidFill>
                  <a:srgbClr val="334155"/>
                </a:solidFill>
                <a:latin typeface="Noto Sans"/>
                <a:ea typeface="Noto Sans"/>
                <a:cs typeface="Noto Sans"/>
              </a:rPr>
              <a:t>確認対象を継続更新</a:t>
            </a:r>
          </a:p>
        </p:txBody>
      </p:sp>
      <p:sp>
        <p:nvSpPr>
          <p:cNvPr id="593" name="">
            <a:extLst xmlns:a="http://schemas.openxmlformats.org/drawingml/2006/main">
              <a:ext uri="{FF2B5EF4-FFF2-40B4-BE49-F238E27FC236}">
                <a16:creationId xmlns:a16="http://schemas.microsoft.com/office/drawing/2014/main" id="{10D7B68F-8375-4EEA-BD4B-B136230AF9FA}"/>
              </a:ext>
            </a:extLst>
          </p:cNvPr>
          <p:cNvSpPr>
            <a:spLocks xmlns:a="http://schemas.openxmlformats.org/drawingml/2006/main" noGrp="1"/>
          </p:cNvSpPr>
          <p:nvPr/>
        </p:nvSpPr>
        <p:spPr>
          <a:xfrm xmlns:a="http://schemas.openxmlformats.org/drawingml/2006/main">
            <a:off x="8629650" y="4724400"/>
            <a:ext cx="209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34155"/>
                </a:solidFill>
                <a:latin typeface="Noto Sans"/>
                <a:ea typeface="Noto Sans"/>
                <a:cs typeface="Noto Sans"/>
              </a:defRPr>
            </a:pPr>
            <a:r>
              <a:rPr sz="1050" b="1">
                <a:solidFill>
                  <a:srgbClr val="334155"/>
                </a:solidFill>
                <a:latin typeface="Noto Sans"/>
                <a:ea typeface="Noto Sans"/>
                <a:cs typeface="Noto Sans"/>
              </a:rPr>
              <a:t>・</a:t>
            </a:r>
          </a:p>
        </p:txBody>
      </p:sp>
      <p:sp>
        <p:nvSpPr>
          <p:cNvPr id="594" name="">
            <a:extLst xmlns:a="http://schemas.openxmlformats.org/drawingml/2006/main">
              <a:ext uri="{FF2B5EF4-FFF2-40B4-BE49-F238E27FC236}">
                <a16:creationId xmlns:a16="http://schemas.microsoft.com/office/drawing/2014/main" id="{418F589C-5D97-4880-8C74-4E91C4FDA6BB}"/>
              </a:ext>
            </a:extLst>
          </p:cNvPr>
          <p:cNvSpPr>
            <a:spLocks xmlns:a="http://schemas.openxmlformats.org/drawingml/2006/main" noGrp="1"/>
          </p:cNvSpPr>
          <p:nvPr/>
        </p:nvSpPr>
        <p:spPr>
          <a:xfrm xmlns:a="http://schemas.openxmlformats.org/drawingml/2006/main">
            <a:off x="8896350" y="4724400"/>
            <a:ext cx="2076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334155"/>
                </a:solidFill>
                <a:latin typeface="Noto Sans"/>
                <a:ea typeface="Noto Sans"/>
                <a:cs typeface="Noto Sans"/>
              </a:defRPr>
            </a:pPr>
            <a:r>
              <a:rPr sz="1050" b="0">
                <a:solidFill>
                  <a:srgbClr val="334155"/>
                </a:solidFill>
                <a:latin typeface="Noto Sans"/>
                <a:ea typeface="Noto Sans"/>
                <a:cs typeface="Noto Sans"/>
              </a:rPr>
              <a:t>フォロー方向性の運用可否を確認</a:t>
            </a:r>
          </a:p>
        </p:txBody>
      </p:sp>
      <p:sp>
        <p:nvSpPr>
          <p:cNvPr id="595" name="">
            <a:extLst xmlns:a="http://schemas.openxmlformats.org/drawingml/2006/main">
              <a:ext uri="{FF2B5EF4-FFF2-40B4-BE49-F238E27FC236}">
                <a16:creationId xmlns:a16="http://schemas.microsoft.com/office/drawing/2014/main" id="{EBD26FA9-B065-4ECD-A58D-EFED8713C1C2}"/>
              </a:ext>
            </a:extLst>
          </p:cNvPr>
          <p:cNvSpPr>
            <a:spLocks xmlns:a="http://schemas.openxmlformats.org/drawingml/2006/main" noGrp="1"/>
          </p:cNvSpPr>
          <p:nvPr/>
        </p:nvSpPr>
        <p:spPr>
          <a:xfrm xmlns:a="http://schemas.openxmlformats.org/drawingml/2006/main">
            <a:off x="8629650" y="5048250"/>
            <a:ext cx="209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34155"/>
                </a:solidFill>
                <a:latin typeface="Noto Sans"/>
                <a:ea typeface="Noto Sans"/>
                <a:cs typeface="Noto Sans"/>
              </a:defRPr>
            </a:pPr>
            <a:r>
              <a:rPr sz="1050" b="1">
                <a:solidFill>
                  <a:srgbClr val="334155"/>
                </a:solidFill>
                <a:latin typeface="Noto Sans"/>
                <a:ea typeface="Noto Sans"/>
                <a:cs typeface="Noto Sans"/>
              </a:rPr>
              <a:t>・</a:t>
            </a:r>
          </a:p>
        </p:txBody>
      </p:sp>
      <p:sp>
        <p:nvSpPr>
          <p:cNvPr id="596" name="">
            <a:extLst xmlns:a="http://schemas.openxmlformats.org/drawingml/2006/main">
              <a:ext uri="{FF2B5EF4-FFF2-40B4-BE49-F238E27FC236}">
                <a16:creationId xmlns:a16="http://schemas.microsoft.com/office/drawing/2014/main" id="{784D7F83-1329-4BBD-BB8C-7667C9668ADE}"/>
              </a:ext>
            </a:extLst>
          </p:cNvPr>
          <p:cNvSpPr>
            <a:spLocks xmlns:a="http://schemas.openxmlformats.org/drawingml/2006/main" noGrp="1"/>
          </p:cNvSpPr>
          <p:nvPr/>
        </p:nvSpPr>
        <p:spPr>
          <a:xfrm xmlns:a="http://schemas.openxmlformats.org/drawingml/2006/main">
            <a:off x="8896350" y="5048250"/>
            <a:ext cx="2076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334155"/>
                </a:solidFill>
                <a:latin typeface="Noto Sans"/>
                <a:ea typeface="Noto Sans"/>
                <a:cs typeface="Noto Sans"/>
              </a:defRPr>
            </a:pPr>
            <a:r>
              <a:rPr sz="1050" b="0">
                <a:solidFill>
                  <a:srgbClr val="334155"/>
                </a:solidFill>
                <a:latin typeface="Noto Sans"/>
                <a:ea typeface="Noto Sans"/>
                <a:cs typeface="Noto Sans"/>
              </a:rPr>
              <a:t>現場DXとの接続を確認</a:t>
            </a:r>
          </a:p>
        </p:txBody>
      </p:sp>
      <p:sp>
        <p:nvSpPr>
          <p:cNvPr id="597" name="">
            <a:extLst xmlns:a="http://schemas.openxmlformats.org/drawingml/2006/main">
              <a:ext uri="{FF2B5EF4-FFF2-40B4-BE49-F238E27FC236}">
                <a16:creationId xmlns:a16="http://schemas.microsoft.com/office/drawing/2014/main" id="{7597860A-D6F3-46BE-A068-DEB04F9B5491}"/>
              </a:ext>
            </a:extLst>
          </p:cNvPr>
          <p:cNvSpPr>
            <a:spLocks xmlns:a="http://schemas.openxmlformats.org/drawingml/2006/main" noGrp="1"/>
          </p:cNvSpPr>
          <p:nvPr/>
        </p:nvSpPr>
        <p:spPr>
          <a:xfrm xmlns:a="http://schemas.openxmlformats.org/drawingml/2006/main">
            <a:off x="1581150" y="5753100"/>
            <a:ext cx="9029700" cy="400050"/>
          </a:xfrm>
          <a:prstGeom xmlns:a="http://schemas.openxmlformats.org/drawingml/2006/main" prst="roundRect">
            <a:avLst>
              <a:gd name="adj" fmla="val 14286"/>
            </a:avLst>
          </a:prstGeom>
          <a:solidFill xmlns:a="http://schemas.openxmlformats.org/drawingml/2006/main">
            <a:srgbClr val="F1F5F9"/>
          </a:solidFill>
          <a:ln xmlns:a="http://schemas.openxmlformats.org/drawingml/2006/main" w="9525">
            <a:solidFill>
              <a:srgbClr val="D7E2EE"/>
            </a:solidFill>
            <a:prstDash val="solid"/>
          </a:ln>
        </p:spPr>
      </p:sp>
      <p:sp>
        <p:nvSpPr>
          <p:cNvPr id="598" name="">
            <a:extLst xmlns:a="http://schemas.openxmlformats.org/drawingml/2006/main">
              <a:ext uri="{FF2B5EF4-FFF2-40B4-BE49-F238E27FC236}">
                <a16:creationId xmlns:a16="http://schemas.microsoft.com/office/drawing/2014/main" id="{783F6A25-82C1-45C5-84B2-E093E504A881}"/>
              </a:ext>
            </a:extLst>
          </p:cNvPr>
          <p:cNvSpPr>
            <a:spLocks xmlns:a="http://schemas.openxmlformats.org/drawingml/2006/main" noGrp="1"/>
          </p:cNvSpPr>
          <p:nvPr/>
        </p:nvSpPr>
        <p:spPr>
          <a:xfrm xmlns:a="http://schemas.openxmlformats.org/drawingml/2006/main">
            <a:off x="1905000" y="5867400"/>
            <a:ext cx="838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17385D"/>
                </a:solidFill>
                <a:latin typeface="Noto Sans"/>
                <a:ea typeface="Noto Sans"/>
                <a:cs typeface="Noto Sans"/>
              </a:defRPr>
            </a:pPr>
            <a:r>
              <a:rPr sz="1275" b="1">
                <a:solidFill>
                  <a:srgbClr val="17385D"/>
                </a:solidFill>
                <a:latin typeface="Noto Sans"/>
                <a:ea typeface="Noto Sans"/>
                <a:cs typeface="Noto Sans"/>
              </a:rPr>
              <a:t>利用者分析は本格実装を見据え、設計期間の中で進め方を具体化する</a:t>
            </a:r>
          </a:p>
        </p:txBody>
      </p:sp>
      <p:sp>
        <p:nvSpPr>
          <p:cNvPr id="599" name="">
            <a:extLst xmlns:a="http://schemas.openxmlformats.org/drawingml/2006/main">
              <a:ext uri="{FF2B5EF4-FFF2-40B4-BE49-F238E27FC236}">
                <a16:creationId xmlns:a16="http://schemas.microsoft.com/office/drawing/2014/main" id="{AA41CD73-E857-4080-BA26-837075E7265E}"/>
              </a:ext>
            </a:extLst>
          </p:cNvPr>
          <p:cNvSpPr>
            <a:spLocks xmlns:a="http://schemas.openxmlformats.org/drawingml/2006/main" noGrp="1"/>
          </p:cNvSpPr>
          <p:nvPr/>
        </p:nvSpPr>
        <p:spPr>
          <a:xfrm xmlns:a="http://schemas.openxmlformats.org/drawingml/2006/main">
            <a:off x="819150" y="6400800"/>
            <a:ext cx="7315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4748B"/>
                </a:solidFill>
                <a:latin typeface="Noto Sans"/>
                <a:ea typeface="Noto Sans"/>
                <a:cs typeface="Noto Sans"/>
              </a:defRPr>
            </a:pPr>
            <a:r>
              <a:rPr sz="900" b="0">
                <a:solidFill>
                  <a:srgbClr val="64748B"/>
                </a:solidFill>
                <a:latin typeface="Noto Sans"/>
                <a:ea typeface="Noto Sans"/>
                <a:cs typeface="Noto Sans"/>
              </a:rPr>
              <a:t>アルボース ｜ 利用率低下分析の報告</a:t>
            </a:r>
          </a:p>
        </p:txBody>
      </p:sp>
      <p:sp>
        <p:nvSpPr>
          <p:cNvPr id="600" name="">
            <a:extLst xmlns:a="http://schemas.openxmlformats.org/drawingml/2006/main">
              <a:ext uri="{FF2B5EF4-FFF2-40B4-BE49-F238E27FC236}">
                <a16:creationId xmlns:a16="http://schemas.microsoft.com/office/drawing/2014/main" id="{3F49A6C7-B397-45ED-B17B-D1ABC340B706}"/>
              </a:ext>
            </a:extLst>
          </p:cNvPr>
          <p:cNvSpPr>
            <a:spLocks xmlns:a="http://schemas.openxmlformats.org/drawingml/2006/main" noGrp="1"/>
          </p:cNvSpPr>
          <p:nvPr/>
        </p:nvSpPr>
        <p:spPr>
          <a:xfrm xmlns:a="http://schemas.openxmlformats.org/drawingml/2006/main">
            <a:off x="10782300" y="6400800"/>
            <a:ext cx="552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64748B"/>
                </a:solidFill>
                <a:latin typeface="Noto Sans"/>
                <a:ea typeface="Noto Sans"/>
                <a:cs typeface="Noto Sans"/>
              </a:defRPr>
            </a:pPr>
            <a:r>
              <a:rPr sz="900" b="0">
                <a:solidFill>
                  <a:srgbClr val="64748B"/>
                </a:solidFill>
                <a:latin typeface="Noto Sans"/>
                <a:ea typeface="Noto Sans"/>
                <a:cs typeface="Noto Sans"/>
              </a:rPr>
              <a:t>8</a:t>
            </a:r>
          </a:p>
        </p:txBody>
      </p:sp>
    </p:spTree>
    <p:extLst>
      <p:ext uri="{BB962C8B-B14F-4D97-AF65-F5344CB8AC3E}">
        <p14:creationId xmlns:p14="http://schemas.microsoft.com/office/powerpoint/2010/main" val="2034087533"/>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35" name="Google Shape;235;p19">
            <a:extLst xmlns:a="http://schemas.openxmlformats.org/drawingml/2006/main">
              <a:ext uri="{FF2B5EF4-FFF2-40B4-BE49-F238E27FC236}">
                <a16:creationId xmlns:a16="http://schemas.microsoft.com/office/drawing/2014/main" id="{CE57C185-629A-4787-BD76-7FA3ED7FC5F6}"/>
              </a:ext>
            </a:extLst>
          </p:cNvPr>
          <p:cNvSpPr>
            <a:spLocks xmlns:a="http://schemas.openxmlformats.org/drawingml/2006/main" noGrp="1"/>
          </p:cNvSpPr>
          <p:nvPr/>
        </p:nvSpPr>
        <p:spPr>
          <a:xfrm xmlns:a="http://schemas.openxmlformats.org/drawingml/2006/main">
            <a:off x="822960" y="566928"/>
            <a:ext cx="566800" cy="566800"/>
          </a:xfrm>
          <a:prstGeom xmlns:a="http://schemas.openxmlformats.org/drawingml/2006/main" prst="ellipse">
            <a:avLst/>
          </a:prstGeom>
          <a:solidFill xmlns:a="http://schemas.openxmlformats.org/drawingml/2006/main">
            <a:srgbClr val="1E3A5F"/>
          </a:solidFill>
          <a:ln xmlns:a="http://schemas.openxmlformats.org/drawingml/2006/main">
            <a:noFill/>
          </a:ln>
        </p:spPr>
        <p:txBody>
          <a:bodyPr xmlns:a="http://schemas.openxmlformats.org/drawingml/2006/main" spcFirstLastPara="1" wrap="square" lIns="91433" tIns="91433" rIns="91433" bIns="91433" anchor="ctr">
            <a:noAutofit/>
          </a:bodyPr>
          <a:lstStyle xmlns:a="http://schemas.openxmlformats.org/drawingml/2006/main"/>
          <a:p xmlns:a="http://schemas.openxmlformats.org/drawingml/2006/main"/>
        </p:txBody>
      </p:sp>
      <p:pic>
        <p:nvPicPr>
          <p:cNvPr id="260" name="Google Shape;236;p19"/>
          <p:cNvPicPr>
            <a:picLocks xmlns:a="http://schemas.openxmlformats.org/drawingml/2006/main" noChangeAspect="1"/>
          </p:cNvPicPr>
          <p:nvPr/>
        </p:nvPicPr>
        <p:blipFill rotWithShape="1">
          <a:blip xmlns:r="http://schemas.openxmlformats.org/officeDocument/2006/relationships" xmlns:a="http://schemas.openxmlformats.org/drawingml/2006/main" r:embed="Rdb0387e169204cda">
            <a:alphaModFix/>
          </a:blip>
          <a:srcRect xmlns:a="http://schemas.openxmlformats.org/drawingml/2006/main" l="0" t="0" r="0" b="0"/>
          <a:stretch xmlns:a="http://schemas.openxmlformats.org/drawingml/2006/main"/>
        </p:blipFill>
        <p:spPr>
          <a:xfrm xmlns:a="http://schemas.openxmlformats.org/drawingml/2006/main">
            <a:off x="970362" y="714330"/>
            <a:ext cx="272124" cy="272124"/>
          </a:xfrm>
          <a:prstGeom xmlns:a="http://schemas.openxmlformats.org/drawingml/2006/main" prst="rect">
            <a:avLst/>
          </a:prstGeom>
          <a:ln xmlns:a="http://schemas.openxmlformats.org/drawingml/2006/main">
            <a:noFill/>
          </a:ln>
        </p:spPr>
      </p:pic>
      <p:sp>
        <p:nvSpPr>
          <p:cNvPr id="237" name="Google Shape;237;p19">
            <a:extLst xmlns:a="http://schemas.openxmlformats.org/drawingml/2006/main">
              <a:ext uri="{FF2B5EF4-FFF2-40B4-BE49-F238E27FC236}">
                <a16:creationId xmlns:a16="http://schemas.microsoft.com/office/drawing/2014/main" id="{DD9762DC-06F9-43AE-90D2-C56693A56D80}"/>
              </a:ext>
            </a:extLst>
          </p:cNvPr>
          <p:cNvSpPr>
            <a:spLocks xmlns:a="http://schemas.openxmlformats.org/drawingml/2006/main" noGrp="1"/>
          </p:cNvSpPr>
          <p:nvPr/>
        </p:nvSpPr>
        <p:spPr>
          <a:xfrm xmlns:a="http://schemas.openxmlformats.org/drawingml/2006/main">
            <a:off x="1572768" y="548640"/>
            <a:ext cx="8229600" cy="27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a:buNone/>
            </a:pPr>
            <a:r>
              <a:rPr sz="1067" b="1">
                <a:solidFill>
                  <a:srgbClr val="3A6FA5"/>
                </a:solidFill>
                <a:latin typeface="Noto Sans"/>
                <a:ea typeface="Noto Sans"/>
                <a:cs typeface="Noto Sans"/>
              </a:rPr>
              <a:t>SLIDE 9 ｜ 次フェーズ</a:t>
            </a:r>
          </a:p>
        </p:txBody>
      </p:sp>
      <p:sp>
        <p:nvSpPr>
          <p:cNvPr id="238" name="Google Shape;238;p19">
            <a:extLst xmlns:a="http://schemas.openxmlformats.org/drawingml/2006/main">
              <a:ext uri="{FF2B5EF4-FFF2-40B4-BE49-F238E27FC236}">
                <a16:creationId xmlns:a16="http://schemas.microsoft.com/office/drawing/2014/main" id="{FA392501-F90E-4BFD-9BEA-3A94A9D4DE17}"/>
              </a:ext>
            </a:extLst>
          </p:cNvPr>
          <p:cNvSpPr>
            <a:spLocks xmlns:a="http://schemas.openxmlformats.org/drawingml/2006/main" noGrp="1"/>
          </p:cNvSpPr>
          <p:nvPr/>
        </p:nvSpPr>
        <p:spPr>
          <a:xfrm xmlns:a="http://schemas.openxmlformats.org/drawingml/2006/main">
            <a:off x="1572768" y="822960"/>
            <a:ext cx="9766000" cy="60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a:buNone/>
            </a:pPr>
            <a:r>
              <a:rPr sz="2667" b="1">
                <a:solidFill>
                  <a:srgbClr val="1B2A3A"/>
                </a:solidFill>
                <a:latin typeface="Noto Sans"/>
                <a:ea typeface="Noto Sans"/>
                <a:cs typeface="Noto Sans"/>
              </a:rPr>
              <a:t>次フェーズの進め方</a:t>
            </a:r>
          </a:p>
        </p:txBody>
      </p:sp>
      <p:sp>
        <p:nvSpPr>
          <p:cNvPr id="239" name="Google Shape;239;p19">
            <a:extLst xmlns:a="http://schemas.openxmlformats.org/drawingml/2006/main">
              <a:ext uri="{FF2B5EF4-FFF2-40B4-BE49-F238E27FC236}">
                <a16:creationId xmlns:a16="http://schemas.microsoft.com/office/drawing/2014/main" id="{5D319F31-00DB-4CF2-AD11-53B5C4BF3113}"/>
              </a:ext>
            </a:extLst>
          </p:cNvPr>
          <p:cNvSpPr>
            <a:spLocks xmlns:a="http://schemas.openxmlformats.org/drawingml/2006/main" noGrp="1"/>
          </p:cNvSpPr>
          <p:nvPr/>
        </p:nvSpPr>
        <p:spPr>
          <a:xfrm xmlns:a="http://schemas.openxmlformats.org/drawingml/2006/main">
            <a:off x="822960" y="1600200"/>
            <a:ext cx="10515600" cy="749600"/>
          </a:xfrm>
          <a:prstGeom xmlns:a="http://schemas.openxmlformats.org/drawingml/2006/main" prst="roundRect">
            <a:avLst>
              <a:gd name="adj" fmla="val 9756"/>
            </a:avLst>
          </a:prstGeom>
          <a:solidFill xmlns:a="http://schemas.openxmlformats.org/drawingml/2006/main">
            <a:srgbClr val="EAF1F8"/>
          </a:solidFill>
          <a:ln xmlns:a="http://schemas.openxmlformats.org/drawingml/2006/main">
            <a:noFill/>
          </a:ln>
        </p:spPr>
        <p:txBody>
          <a:bodyPr xmlns:a="http://schemas.openxmlformats.org/drawingml/2006/main" spcFirstLastPara="1" wrap="square" lIns="91433" tIns="91433" rIns="91433" bIns="91433" anchor="ctr">
            <a:noAutofit/>
          </a:bodyPr>
          <a:lstStyle xmlns:a="http://schemas.openxmlformats.org/drawingml/2006/main"/>
          <a:p xmlns:a="http://schemas.openxmlformats.org/drawingml/2006/main"/>
        </p:txBody>
      </p:sp>
      <p:sp>
        <p:nvSpPr>
          <p:cNvPr id="240" name="Google Shape;240;p19">
            <a:extLst xmlns:a="http://schemas.openxmlformats.org/drawingml/2006/main">
              <a:ext uri="{FF2B5EF4-FFF2-40B4-BE49-F238E27FC236}">
                <a16:creationId xmlns:a16="http://schemas.microsoft.com/office/drawing/2014/main" id="{9BD3F86F-8362-4B55-919E-7F1F1E63BF7B}"/>
              </a:ext>
            </a:extLst>
          </p:cNvPr>
          <p:cNvSpPr>
            <a:spLocks xmlns:a="http://schemas.openxmlformats.org/drawingml/2006/main" noGrp="1"/>
          </p:cNvSpPr>
          <p:nvPr/>
        </p:nvSpPr>
        <p:spPr>
          <a:xfrm xmlns:a="http://schemas.openxmlformats.org/drawingml/2006/main">
            <a:off x="1143000" y="1600200"/>
            <a:ext cx="9875200" cy="74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a:lnSpc>
                <a:spcPct val="110000"/>
              </a:lnSpc>
              <a:buNone/>
            </a:pPr>
            <a:r>
              <a:rPr sz="1467" b="1">
                <a:solidFill>
                  <a:srgbClr val="1E3A5F"/>
                </a:solidFill>
                <a:latin typeface="Noto Sans"/>
                <a:ea typeface="Noto Sans"/>
                <a:cs typeface="Noto Sans"/>
              </a:rPr>
              <a:t>現場DXは進めつつ、利用者分析は本格実装を見据えた基礎研究を継続する。</a:t>
            </a:r>
          </a:p>
        </p:txBody>
      </p:sp>
      <p:sp>
        <p:nvSpPr>
          <p:cNvPr id="241" name="Google Shape;241;p19">
            <a:extLst xmlns:a="http://schemas.openxmlformats.org/drawingml/2006/main">
              <a:ext uri="{FF2B5EF4-FFF2-40B4-BE49-F238E27FC236}">
                <a16:creationId xmlns:a16="http://schemas.microsoft.com/office/drawing/2014/main" id="{681011A4-59D9-4130-BF79-D131B4924FAE}"/>
              </a:ext>
            </a:extLst>
          </p:cNvPr>
          <p:cNvSpPr>
            <a:spLocks xmlns:a="http://schemas.openxmlformats.org/drawingml/2006/main" noGrp="1"/>
          </p:cNvSpPr>
          <p:nvPr/>
        </p:nvSpPr>
        <p:spPr>
          <a:xfrm xmlns:a="http://schemas.openxmlformats.org/drawingml/2006/main">
            <a:off x="822967" y="2697465"/>
            <a:ext cx="4983600" cy="3332800"/>
          </a:xfrm>
          <a:prstGeom xmlns:a="http://schemas.openxmlformats.org/drawingml/2006/main" prst="roundRect">
            <a:avLst>
              <a:gd name="adj" fmla="val 2540"/>
            </a:avLst>
          </a:prstGeom>
          <a:solidFill xmlns:a="http://schemas.openxmlformats.org/drawingml/2006/main">
            <a:srgbClr val="1E3A5F"/>
          </a:solidFill>
          <a:ln xmlns:a="http://schemas.openxmlformats.org/drawingml/2006/main" w="9525" cmpd="sng">
            <a:solidFill>
              <a:srgbClr val="1E3A5F"/>
            </a:solidFill>
            <a:prstDash val="solid"/>
          </a:ln>
          <a:effectLst xmlns:a="http://schemas.openxmlformats.org/drawingml/2006/main">
            <a:outerShdw blurRad="66675" dist="19050" dir="5400000" algn="bl" rotWithShape="0">
              <a:srgbClr val="000000">
                <a:alpha val="12939"/>
              </a:srgbClr>
            </a:outerShdw>
          </a:effectLst>
        </p:spPr>
        <p:txBody>
          <a:bodyPr xmlns:a="http://schemas.openxmlformats.org/drawingml/2006/main" spcFirstLastPara="1" wrap="square" lIns="91433" tIns="91433" rIns="91433" bIns="91433" anchor="ctr">
            <a:noAutofit/>
          </a:bodyPr>
          <a:lstStyle xmlns:a="http://schemas.openxmlformats.org/drawingml/2006/main"/>
          <a:p xmlns:a="http://schemas.openxmlformats.org/drawingml/2006/main"/>
        </p:txBody>
      </p:sp>
      <p:sp>
        <p:nvSpPr>
          <p:cNvPr id="242" name="Google Shape;242;p19">
            <a:extLst xmlns:a="http://schemas.openxmlformats.org/drawingml/2006/main">
              <a:ext uri="{FF2B5EF4-FFF2-40B4-BE49-F238E27FC236}">
                <a16:creationId xmlns:a16="http://schemas.microsoft.com/office/drawing/2014/main" id="{4A196084-888C-404F-AB10-6BC86EB48EB2}"/>
              </a:ext>
            </a:extLst>
          </p:cNvPr>
          <p:cNvSpPr>
            <a:spLocks xmlns:a="http://schemas.openxmlformats.org/drawingml/2006/main" noGrp="1"/>
          </p:cNvSpPr>
          <p:nvPr/>
        </p:nvSpPr>
        <p:spPr>
          <a:xfrm xmlns:a="http://schemas.openxmlformats.org/drawingml/2006/main">
            <a:off x="1234440" y="3063240"/>
            <a:ext cx="640400" cy="640400"/>
          </a:xfrm>
          <a:prstGeom xmlns:a="http://schemas.openxmlformats.org/drawingml/2006/main" prst="ellipse">
            <a:avLst/>
          </a:prstGeom>
          <a:solidFill xmlns:a="http://schemas.openxmlformats.org/drawingml/2006/main">
            <a:srgbClr val="3A6FA5"/>
          </a:solidFill>
          <a:ln xmlns:a="http://schemas.openxmlformats.org/drawingml/2006/main">
            <a:noFill/>
          </a:ln>
        </p:spPr>
        <p:txBody>
          <a:bodyPr xmlns:a="http://schemas.openxmlformats.org/drawingml/2006/main" spcFirstLastPara="1" wrap="square" lIns="91433" tIns="91433" rIns="91433" bIns="91433" anchor="ctr">
            <a:noAutofit/>
          </a:bodyPr>
          <a:lstStyle xmlns:a="http://schemas.openxmlformats.org/drawingml/2006/main"/>
          <a:p xmlns:a="http://schemas.openxmlformats.org/drawingml/2006/main"/>
        </p:txBody>
      </p:sp>
      <p:pic>
        <p:nvPicPr>
          <p:cNvPr id="267" name="Google Shape;243;p19"/>
          <p:cNvPicPr>
            <a:picLocks xmlns:a="http://schemas.openxmlformats.org/drawingml/2006/main" noChangeAspect="1"/>
          </p:cNvPicPr>
          <p:nvPr/>
        </p:nvPicPr>
        <p:blipFill rotWithShape="1">
          <a:blip xmlns:r="http://schemas.openxmlformats.org/officeDocument/2006/relationships" xmlns:a="http://schemas.openxmlformats.org/drawingml/2006/main" r:embed="Rfa3bc7828edb49d7">
            <a:alphaModFix/>
          </a:blip>
          <a:srcRect xmlns:a="http://schemas.openxmlformats.org/drawingml/2006/main" l="0" t="0" r="0" b="0"/>
          <a:stretch xmlns:a="http://schemas.openxmlformats.org/drawingml/2006/main"/>
        </p:blipFill>
        <p:spPr>
          <a:xfrm xmlns:a="http://schemas.openxmlformats.org/drawingml/2006/main">
            <a:off x="1400862" y="3229662"/>
            <a:ext cx="307237" cy="307237"/>
          </a:xfrm>
          <a:prstGeom xmlns:a="http://schemas.openxmlformats.org/drawingml/2006/main" prst="rect">
            <a:avLst/>
          </a:prstGeom>
          <a:ln xmlns:a="http://schemas.openxmlformats.org/drawingml/2006/main">
            <a:noFill/>
          </a:ln>
        </p:spPr>
      </p:pic>
      <p:sp>
        <p:nvSpPr>
          <p:cNvPr id="244" name="Google Shape;244;p19">
            <a:extLst xmlns:a="http://schemas.openxmlformats.org/drawingml/2006/main">
              <a:ext uri="{FF2B5EF4-FFF2-40B4-BE49-F238E27FC236}">
                <a16:creationId xmlns:a16="http://schemas.microsoft.com/office/drawing/2014/main" id="{361F3946-EEC9-40F6-8C07-2342765630CA}"/>
              </a:ext>
            </a:extLst>
          </p:cNvPr>
          <p:cNvSpPr>
            <a:spLocks xmlns:a="http://schemas.openxmlformats.org/drawingml/2006/main" noGrp="1"/>
          </p:cNvSpPr>
          <p:nvPr/>
        </p:nvSpPr>
        <p:spPr>
          <a:xfrm xmlns:a="http://schemas.openxmlformats.org/drawingml/2006/main">
            <a:off x="2047000" y="3063092"/>
            <a:ext cx="3520400" cy="64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a:buNone/>
            </a:pPr>
            <a:r>
              <a:rPr sz="1867" b="1">
                <a:solidFill>
                  <a:srgbClr val="FFFFFF"/>
                </a:solidFill>
                <a:latin typeface="Noto Sans"/>
                <a:ea typeface="Noto Sans"/>
                <a:cs typeface="Noto Sans"/>
              </a:rPr>
              <a:t>現場</a:t>
            </a:r>
            <a:r>
              <a:rPr sz="1867" b="1">
                <a:solidFill>
                  <a:srgbClr val="FFFFFF"/>
                </a:solidFill>
                <a:latin typeface="Noto Sans"/>
                <a:ea typeface="Noto Sans"/>
                <a:cs typeface="Noto Sans"/>
              </a:rPr>
              <a:t>DX</a:t>
            </a:r>
          </a:p>
        </p:txBody>
      </p:sp>
      <p:sp>
        <p:nvSpPr>
          <p:cNvPr id="245" name="Google Shape;245;p19">
            <a:extLst xmlns:a="http://schemas.openxmlformats.org/drawingml/2006/main">
              <a:ext uri="{FF2B5EF4-FFF2-40B4-BE49-F238E27FC236}">
                <a16:creationId xmlns:a16="http://schemas.microsoft.com/office/drawing/2014/main" id="{C17AB2EB-B9C2-46D8-AD33-C919B15C8EC1}"/>
              </a:ext>
            </a:extLst>
          </p:cNvPr>
          <p:cNvSpPr>
            <a:spLocks xmlns:a="http://schemas.openxmlformats.org/drawingml/2006/main" noGrp="1"/>
          </p:cNvSpPr>
          <p:nvPr/>
        </p:nvSpPr>
        <p:spPr>
          <a:xfrm xmlns:a="http://schemas.openxmlformats.org/drawingml/2006/main">
            <a:off x="1234440" y="4114800"/>
            <a:ext cx="4160400" cy="64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a:lnSpc>
                <a:spcPct val="115000"/>
              </a:lnSpc>
              <a:buNone/>
            </a:pPr>
            <a:r>
              <a:rPr sz="1200">
                <a:solidFill>
                  <a:srgbClr val="D7E5F2"/>
                </a:solidFill>
                <a:latin typeface="Noto Sans"/>
                <a:ea typeface="Noto Sans"/>
                <a:cs typeface="Noto Sans"/>
              </a:rPr>
              <a:t>現場の困りごとに対して、小さく使える改善を進める。</a:t>
            </a:r>
          </a:p>
        </p:txBody>
      </p:sp>
      <p:sp>
        <p:nvSpPr>
          <p:cNvPr id="246" name="Google Shape;246;p19">
            <a:extLst xmlns:a="http://schemas.openxmlformats.org/drawingml/2006/main">
              <a:ext uri="{FF2B5EF4-FFF2-40B4-BE49-F238E27FC236}">
                <a16:creationId xmlns:a16="http://schemas.microsoft.com/office/drawing/2014/main" id="{F3288FF3-DCA7-4218-B194-29BCAA473202}"/>
              </a:ext>
            </a:extLst>
          </p:cNvPr>
          <p:cNvSpPr>
            <a:spLocks xmlns:a="http://schemas.openxmlformats.org/drawingml/2006/main" noGrp="1"/>
          </p:cNvSpPr>
          <p:nvPr/>
        </p:nvSpPr>
        <p:spPr>
          <a:xfrm xmlns:a="http://schemas.openxmlformats.org/drawingml/2006/main">
            <a:off x="1234440" y="4800600"/>
            <a:ext cx="4160400" cy="68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33" tIns="45700" rIns="91433" bIns="45700" anchor="t">
            <a:noAutofit/>
          </a:bodyPr>
          <a:lstStyle xmlns:a="http://schemas.openxmlformats.org/drawingml/2006/main"/>
          <a:p xmlns:a="http://schemas.openxmlformats.org/drawingml/2006/main">
            <a:pPr marL="186262" indent="-177796">
              <a:buChar char="•"/>
            </a:pPr>
            <a:r>
              <a:rPr sz="1200">
                <a:solidFill>
                  <a:srgbClr val="EAF1F8"/>
                </a:solidFill>
                <a:latin typeface="Noto Sans"/>
                <a:ea typeface="Noto Sans"/>
                <a:cs typeface="Noto Sans"/>
              </a:rPr>
              <a:t>候補者リストの試作・更新</a:t>
            </a:r>
          </a:p>
          <a:p xmlns:a="http://schemas.openxmlformats.org/drawingml/2006/main">
            <a:pPr marL="186262" indent="-177796">
              <a:spcBef>
                <a:spcPts val="667"/>
              </a:spcBef>
              <a:buChar char="•"/>
            </a:pPr>
            <a:r>
              <a:rPr sz="1200">
                <a:solidFill>
                  <a:srgbClr val="EAF1F8"/>
                </a:solidFill>
                <a:latin typeface="Noto Sans"/>
                <a:ea typeface="Noto Sans"/>
                <a:cs typeface="Noto Sans"/>
              </a:rPr>
              <a:t>確認・対応の記録</a:t>
            </a:r>
          </a:p>
          <a:p xmlns:a="http://schemas.openxmlformats.org/drawingml/2006/main">
            <a:pPr marL="186262" indent="-177796">
              <a:spcBef>
                <a:spcPts val="667"/>
              </a:spcBef>
              <a:buChar char="•"/>
            </a:pPr>
            <a:r>
              <a:rPr sz="1200">
                <a:solidFill>
                  <a:srgbClr val="EAF1F8"/>
                </a:solidFill>
                <a:latin typeface="Noto Sans"/>
                <a:ea typeface="Noto Sans"/>
                <a:cs typeface="Noto Sans"/>
              </a:rPr>
              <a:t>現場で使える小さな改善</a:t>
            </a:r>
          </a:p>
        </p:txBody>
      </p:sp>
      <p:sp>
        <p:nvSpPr>
          <p:cNvPr id="247" name="Google Shape;247;p19">
            <a:extLst xmlns:a="http://schemas.openxmlformats.org/drawingml/2006/main">
              <a:ext uri="{FF2B5EF4-FFF2-40B4-BE49-F238E27FC236}">
                <a16:creationId xmlns:a16="http://schemas.microsoft.com/office/drawing/2014/main" id="{1DA6CC85-FDCB-4153-AB7B-D3F569B20A49}"/>
              </a:ext>
            </a:extLst>
          </p:cNvPr>
          <p:cNvSpPr>
            <a:spLocks xmlns:a="http://schemas.openxmlformats.org/drawingml/2006/main" noGrp="1"/>
          </p:cNvSpPr>
          <p:nvPr/>
        </p:nvSpPr>
        <p:spPr>
          <a:xfrm xmlns:a="http://schemas.openxmlformats.org/drawingml/2006/main">
            <a:off x="6355067" y="2697464"/>
            <a:ext cx="5045600" cy="3332800"/>
          </a:xfrm>
          <a:prstGeom xmlns:a="http://schemas.openxmlformats.org/drawingml/2006/main" prst="roundRect">
            <a:avLst>
              <a:gd name="adj" fmla="val 2540"/>
            </a:avLst>
          </a:prstGeom>
          <a:solidFill xmlns:a="http://schemas.openxmlformats.org/drawingml/2006/main">
            <a:srgbClr val="EAF1F8"/>
          </a:solidFill>
          <a:ln xmlns:a="http://schemas.openxmlformats.org/drawingml/2006/main" w="9525" cmpd="sng">
            <a:solidFill>
              <a:srgbClr val="D2DEEA"/>
            </a:solidFill>
            <a:prstDash val="solid"/>
          </a:ln>
          <a:effectLst xmlns:a="http://schemas.openxmlformats.org/drawingml/2006/main">
            <a:outerShdw blurRad="66675" dist="19050" dir="5400000" algn="bl" rotWithShape="0">
              <a:srgbClr val="000000">
                <a:alpha val="12939"/>
              </a:srgbClr>
            </a:outerShdw>
          </a:effectLst>
        </p:spPr>
        <p:txBody>
          <a:bodyPr xmlns:a="http://schemas.openxmlformats.org/drawingml/2006/main" spcFirstLastPara="1" wrap="square" lIns="91433" tIns="91433" rIns="91433" bIns="91433" anchor="ctr">
            <a:noAutofit/>
          </a:bodyPr>
          <a:lstStyle xmlns:a="http://schemas.openxmlformats.org/drawingml/2006/main"/>
          <a:p xmlns:a="http://schemas.openxmlformats.org/drawingml/2006/main"/>
        </p:txBody>
      </p:sp>
      <p:sp>
        <p:nvSpPr>
          <p:cNvPr id="248" name="Google Shape;248;p19">
            <a:extLst xmlns:a="http://schemas.openxmlformats.org/drawingml/2006/main">
              <a:ext uri="{FF2B5EF4-FFF2-40B4-BE49-F238E27FC236}">
                <a16:creationId xmlns:a16="http://schemas.microsoft.com/office/drawing/2014/main" id="{E4691484-0539-4949-B7EF-0F8451CDF386}"/>
              </a:ext>
            </a:extLst>
          </p:cNvPr>
          <p:cNvSpPr>
            <a:spLocks xmlns:a="http://schemas.openxmlformats.org/drawingml/2006/main" noGrp="1"/>
          </p:cNvSpPr>
          <p:nvPr/>
        </p:nvSpPr>
        <p:spPr>
          <a:xfrm xmlns:a="http://schemas.openxmlformats.org/drawingml/2006/main">
            <a:off x="6766560" y="3063240"/>
            <a:ext cx="640400" cy="640400"/>
          </a:xfrm>
          <a:prstGeom xmlns:a="http://schemas.openxmlformats.org/drawingml/2006/main" prst="ellipse">
            <a:avLst/>
          </a:prstGeom>
          <a:solidFill xmlns:a="http://schemas.openxmlformats.org/drawingml/2006/main">
            <a:srgbClr val="1E3A5F"/>
          </a:solidFill>
          <a:ln xmlns:a="http://schemas.openxmlformats.org/drawingml/2006/main">
            <a:noFill/>
          </a:ln>
        </p:spPr>
        <p:txBody>
          <a:bodyPr xmlns:a="http://schemas.openxmlformats.org/drawingml/2006/main" spcFirstLastPara="1" wrap="square" lIns="91433" tIns="91433" rIns="91433" bIns="91433" anchor="ctr">
            <a:noAutofit/>
          </a:bodyPr>
          <a:lstStyle xmlns:a="http://schemas.openxmlformats.org/drawingml/2006/main"/>
          <a:p xmlns:a="http://schemas.openxmlformats.org/drawingml/2006/main"/>
        </p:txBody>
      </p:sp>
      <p:pic>
        <p:nvPicPr>
          <p:cNvPr id="273" name="Google Shape;249;p19"/>
          <p:cNvPicPr>
            <a:picLocks xmlns:a="http://schemas.openxmlformats.org/drawingml/2006/main" noChangeAspect="1"/>
          </p:cNvPicPr>
          <p:nvPr/>
        </p:nvPicPr>
        <p:blipFill rotWithShape="1">
          <a:blip xmlns:r="http://schemas.openxmlformats.org/officeDocument/2006/relationships" xmlns:a="http://schemas.openxmlformats.org/drawingml/2006/main" r:embed="R7d0f218af08c464c">
            <a:alphaModFix/>
          </a:blip>
          <a:srcRect xmlns:a="http://schemas.openxmlformats.org/drawingml/2006/main" l="0" t="0" r="0" b="0"/>
          <a:stretch xmlns:a="http://schemas.openxmlformats.org/drawingml/2006/main"/>
        </p:blipFill>
        <p:spPr>
          <a:xfrm xmlns:a="http://schemas.openxmlformats.org/drawingml/2006/main">
            <a:off x="6932982" y="3229662"/>
            <a:ext cx="307237" cy="307237"/>
          </a:xfrm>
          <a:prstGeom xmlns:a="http://schemas.openxmlformats.org/drawingml/2006/main" prst="rect">
            <a:avLst/>
          </a:prstGeom>
          <a:ln xmlns:a="http://schemas.openxmlformats.org/drawingml/2006/main">
            <a:noFill/>
          </a:ln>
        </p:spPr>
      </p:pic>
      <p:sp>
        <p:nvSpPr>
          <p:cNvPr id="250" name="Google Shape;250;p19">
            <a:extLst xmlns:a="http://schemas.openxmlformats.org/drawingml/2006/main">
              <a:ext uri="{FF2B5EF4-FFF2-40B4-BE49-F238E27FC236}">
                <a16:creationId xmlns:a16="http://schemas.microsoft.com/office/drawing/2014/main" id="{0EFD8DCD-CA78-4B5F-ADFE-B2EF9DB4888D}"/>
              </a:ext>
            </a:extLst>
          </p:cNvPr>
          <p:cNvSpPr>
            <a:spLocks xmlns:a="http://schemas.openxmlformats.org/drawingml/2006/main" noGrp="1"/>
          </p:cNvSpPr>
          <p:nvPr/>
        </p:nvSpPr>
        <p:spPr>
          <a:xfrm xmlns:a="http://schemas.openxmlformats.org/drawingml/2006/main">
            <a:off x="7589520" y="3063240"/>
            <a:ext cx="3520400" cy="27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a:buNone/>
            </a:pPr>
          </a:p>
        </p:txBody>
      </p:sp>
      <p:sp>
        <p:nvSpPr>
          <p:cNvPr id="251" name="Google Shape;251;p19">
            <a:extLst xmlns:a="http://schemas.openxmlformats.org/drawingml/2006/main">
              <a:ext uri="{FF2B5EF4-FFF2-40B4-BE49-F238E27FC236}">
                <a16:creationId xmlns:a16="http://schemas.microsoft.com/office/drawing/2014/main" id="{D94ADB15-D3A5-4F8E-999D-EFB8702B191C}"/>
              </a:ext>
            </a:extLst>
          </p:cNvPr>
          <p:cNvSpPr>
            <a:spLocks xmlns:a="http://schemas.openxmlformats.org/drawingml/2006/main" noGrp="1"/>
          </p:cNvSpPr>
          <p:nvPr/>
        </p:nvSpPr>
        <p:spPr>
          <a:xfrm xmlns:a="http://schemas.openxmlformats.org/drawingml/2006/main">
            <a:off x="7589520" y="3063241"/>
            <a:ext cx="3520400" cy="64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a:buNone/>
            </a:pPr>
            <a:r>
              <a:rPr sz="1867" b="1">
                <a:solidFill>
                  <a:srgbClr val="1B2A3A"/>
                </a:solidFill>
                <a:latin typeface="Noto Sans"/>
                <a:ea typeface="Noto Sans"/>
                <a:cs typeface="Noto Sans"/>
              </a:rPr>
              <a:t>利用者分析の</a:t>
            </a:r>
          </a:p>
          <a:p xmlns:a="http://schemas.openxmlformats.org/drawingml/2006/main">
            <a:pPr>
              <a:buNone/>
            </a:pPr>
            <a:r>
              <a:rPr sz="1867" b="1">
                <a:solidFill>
                  <a:srgbClr val="1B2A3A"/>
                </a:solidFill>
                <a:latin typeface="Noto Sans"/>
                <a:ea typeface="Noto Sans"/>
                <a:cs typeface="Noto Sans"/>
              </a:rPr>
              <a:t>システム基礎研究</a:t>
            </a:r>
          </a:p>
        </p:txBody>
      </p:sp>
      <p:sp>
        <p:nvSpPr>
          <p:cNvPr id="252" name="Google Shape;252;p19">
            <a:extLst xmlns:a="http://schemas.openxmlformats.org/drawingml/2006/main">
              <a:ext uri="{FF2B5EF4-FFF2-40B4-BE49-F238E27FC236}">
                <a16:creationId xmlns:a16="http://schemas.microsoft.com/office/drawing/2014/main" id="{F58C446F-039A-4933-94C0-47FA5D4D3E11}"/>
              </a:ext>
            </a:extLst>
          </p:cNvPr>
          <p:cNvSpPr>
            <a:spLocks xmlns:a="http://schemas.openxmlformats.org/drawingml/2006/main" noGrp="1"/>
          </p:cNvSpPr>
          <p:nvPr/>
        </p:nvSpPr>
        <p:spPr>
          <a:xfrm xmlns:a="http://schemas.openxmlformats.org/drawingml/2006/main">
            <a:off x="6766560" y="4114800"/>
            <a:ext cx="4160400" cy="64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a:lnSpc>
                <a:spcPct val="115000"/>
              </a:lnSpc>
              <a:buNone/>
            </a:pPr>
            <a:r>
              <a:rPr sz="1200">
                <a:solidFill>
                  <a:srgbClr val="5E7589"/>
                </a:solidFill>
                <a:latin typeface="Noto Sans"/>
                <a:ea typeface="Noto Sans"/>
                <a:cs typeface="Noto Sans"/>
              </a:rPr>
              <a:t>利用者の段階移行を継続的に追える仕組みを設計する。</a:t>
            </a:r>
          </a:p>
        </p:txBody>
      </p:sp>
      <p:sp>
        <p:nvSpPr>
          <p:cNvPr id="253" name="Google Shape;253;p19">
            <a:extLst xmlns:a="http://schemas.openxmlformats.org/drawingml/2006/main">
              <a:ext uri="{FF2B5EF4-FFF2-40B4-BE49-F238E27FC236}">
                <a16:creationId xmlns:a16="http://schemas.microsoft.com/office/drawing/2014/main" id="{2593BCFF-1615-47C3-9195-B36722D5D083}"/>
              </a:ext>
            </a:extLst>
          </p:cNvPr>
          <p:cNvSpPr>
            <a:spLocks xmlns:a="http://schemas.openxmlformats.org/drawingml/2006/main" noGrp="1"/>
          </p:cNvSpPr>
          <p:nvPr/>
        </p:nvSpPr>
        <p:spPr>
          <a:xfrm xmlns:a="http://schemas.openxmlformats.org/drawingml/2006/main">
            <a:off x="6766560" y="4800600"/>
            <a:ext cx="4160400" cy="68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33" tIns="45700" rIns="91433" bIns="45700" anchor="t">
            <a:noAutofit/>
          </a:bodyPr>
          <a:lstStyle xmlns:a="http://schemas.openxmlformats.org/drawingml/2006/main"/>
          <a:p xmlns:a="http://schemas.openxmlformats.org/drawingml/2006/main">
            <a:pPr marL="186262" indent="-177796">
              <a:buChar char="•"/>
            </a:pPr>
            <a:r>
              <a:rPr sz="1200">
                <a:solidFill>
                  <a:srgbClr val="1B2A3A"/>
                </a:solidFill>
                <a:latin typeface="Noto Sans"/>
                <a:ea typeface="Noto Sans"/>
                <a:cs typeface="Noto Sans"/>
              </a:rPr>
              <a:t>段階移行のモニタリング</a:t>
            </a:r>
          </a:p>
          <a:p xmlns:a="http://schemas.openxmlformats.org/drawingml/2006/main">
            <a:pPr marL="186262" indent="-177796">
              <a:spcBef>
                <a:spcPts val="667"/>
              </a:spcBef>
              <a:buChar char="•"/>
            </a:pPr>
            <a:r>
              <a:rPr sz="1200">
                <a:solidFill>
                  <a:srgbClr val="1B2A3A"/>
                </a:solidFill>
                <a:latin typeface="Noto Sans"/>
                <a:ea typeface="Noto Sans"/>
                <a:cs typeface="Noto Sans"/>
              </a:rPr>
              <a:t>層別フォローの管理</a:t>
            </a:r>
          </a:p>
          <a:p xmlns:a="http://schemas.openxmlformats.org/drawingml/2006/main">
            <a:pPr marL="186262" indent="-177796">
              <a:spcBef>
                <a:spcPts val="667"/>
              </a:spcBef>
              <a:buChar char="•"/>
            </a:pPr>
            <a:r>
              <a:rPr sz="1200">
                <a:solidFill>
                  <a:srgbClr val="1B2A3A"/>
                </a:solidFill>
                <a:latin typeface="Noto Sans"/>
                <a:ea typeface="Noto Sans"/>
                <a:cs typeface="Noto Sans"/>
              </a:rPr>
              <a:t>本格運用に向けた論点整理</a:t>
            </a:r>
          </a:p>
        </p:txBody>
      </p:sp>
      <p:sp>
        <p:nvSpPr>
          <p:cNvPr id="254" name="Google Shape;254;p19">
            <a:extLst xmlns:a="http://schemas.openxmlformats.org/drawingml/2006/main">
              <a:ext uri="{FF2B5EF4-FFF2-40B4-BE49-F238E27FC236}">
                <a16:creationId xmlns:a16="http://schemas.microsoft.com/office/drawing/2014/main" id="{87CD2545-1C46-4117-AD67-BEB36DF7458D}"/>
              </a:ext>
            </a:extLst>
          </p:cNvPr>
          <p:cNvSpPr>
            <a:spLocks xmlns:a="http://schemas.openxmlformats.org/drawingml/2006/main" noGrp="1"/>
          </p:cNvSpPr>
          <p:nvPr/>
        </p:nvSpPr>
        <p:spPr>
          <a:xfrm xmlns:a="http://schemas.openxmlformats.org/drawingml/2006/main">
            <a:off x="822960" y="6400800"/>
            <a:ext cx="7315200" cy="27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a:buNone/>
            </a:pPr>
            <a:r>
              <a:rPr sz="933">
                <a:solidFill>
                  <a:srgbClr val="5E7589"/>
                </a:solidFill>
                <a:latin typeface="Noto Sans"/>
                <a:ea typeface="Noto Sans"/>
                <a:cs typeface="Noto Sans"/>
              </a:rPr>
              <a:t>アルボース ｜ 利用率低下分析の報告</a:t>
            </a:r>
          </a:p>
        </p:txBody>
      </p:sp>
      <p:sp>
        <p:nvSpPr>
          <p:cNvPr id="255" name="Google Shape;255;p19">
            <a:extLst xmlns:a="http://schemas.openxmlformats.org/drawingml/2006/main">
              <a:ext uri="{FF2B5EF4-FFF2-40B4-BE49-F238E27FC236}">
                <a16:creationId xmlns:a16="http://schemas.microsoft.com/office/drawing/2014/main" id="{C692CB5A-5D92-4A3D-8CAC-BB26B9C0956C}"/>
              </a:ext>
            </a:extLst>
          </p:cNvPr>
          <p:cNvSpPr>
            <a:spLocks xmlns:a="http://schemas.openxmlformats.org/drawingml/2006/main" noGrp="1"/>
          </p:cNvSpPr>
          <p:nvPr/>
        </p:nvSpPr>
        <p:spPr>
          <a:xfrm xmlns:a="http://schemas.openxmlformats.org/drawingml/2006/main">
            <a:off x="10789920" y="6400800"/>
            <a:ext cx="548800" cy="27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algn="r">
              <a:buNone/>
            </a:pPr>
            <a:r>
              <a:rPr sz="933">
                <a:solidFill>
                  <a:srgbClr val="5E7589"/>
                </a:solidFill>
                <a:latin typeface="Noto Sans"/>
                <a:ea typeface="Noto Sans"/>
                <a:cs typeface="Noto Sans"/>
              </a:rPr>
              <a:t>9</a:t>
            </a:r>
          </a:p>
        </p:txBody>
      </p:sp>
    </p:spTree>
    <p:extLst>
      <p:ext uri="{BB962C8B-B14F-4D97-AF65-F5344CB8AC3E}">
        <p14:creationId xmlns:p14="http://schemas.microsoft.com/office/powerpoint/2010/main" val="198884112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2026-06-22T16:17:51.4640000Z</dcterms:created>
  <dcterms:modified xsi:type="dcterms:W3CDTF">2026-06-22T16:17:51.4640000Z</dcterms:modified>
</coreProperties>
</file>