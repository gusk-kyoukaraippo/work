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ea92a087f74b7a" /><Relationship Type="http://schemas.openxmlformats.org/officeDocument/2006/relationships/extended-properties" Target="/docProps/app.xml" Id="R9ca4c15d6fe74b07" /><Relationship Type="http://schemas.openxmlformats.org/officeDocument/2006/relationships/officeDocument" Target="/ppt/presentation.xml" Id="R5fd355e2e5424460" /></Relationships>
</file>

<file path=ppt/presentation.xml><?xml version="1.0" encoding="utf-8"?>
<p:presentation xmlns:p="http://schemas.openxmlformats.org/presentationml/2006/main">
  <p:sldMasterIdLst>
    <p:sldMasterId xmlns:r="http://schemas.openxmlformats.org/officeDocument/2006/relationships" id="2147483648" r:id="Re7508388c54741dc"/>
  </p:sldMasterIdLst>
  <p:notesMasterIdLst>
    <p:notesMasterId xmlns:r="http://schemas.openxmlformats.org/officeDocument/2006/relationships" r:id="R3cee5dcef44f4f4f"/>
  </p:notesMasterIdLst>
  <p:sldIdLst>
    <p:sldId xmlns:r="http://schemas.openxmlformats.org/officeDocument/2006/relationships" id="256" r:id="R9c48ecf00391431f"/>
  </p:sldIdLst>
  <p:sldSz cx="8010525" cy="13335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66201cdb0d14bf1" /><Relationship Type="http://schemas.openxmlformats.org/officeDocument/2006/relationships/slideMaster" Target="/ppt/slideMasters/slideMaster1.xml" Id="Re7508388c54741dc" /><Relationship Type="http://schemas.openxmlformats.org/officeDocument/2006/relationships/notesMaster" Target="/ppt/notesMasters/notesMaster1.xml" Id="R3cee5dcef44f4f4f" /><Relationship Type="http://schemas.openxmlformats.org/officeDocument/2006/relationships/presProps" Target="/ppt/presProps.xml" Id="R94b44c4be22248e8" /><Relationship Type="http://schemas.openxmlformats.org/officeDocument/2006/relationships/viewProps" Target="/ppt/viewProps.xml" Id="R641cc77dfdac4c19" /><Relationship Type="http://schemas.openxmlformats.org/officeDocument/2006/relationships/tableStyles" Target="/ppt/tableStyles.xml" Id="R4be90cb5c2294a40" /><Relationship Type="http://schemas.openxmlformats.org/officeDocument/2006/relationships/slide" Target="/ppt/slides/slide1.xml" Id="R9c48ecf0039143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e832f5897843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1bf32bb8e6435e" /><Relationship Type="http://schemas.openxmlformats.org/officeDocument/2006/relationships/notesMaster" Target="/ppt/notesMasters/notesMaster1.xml" Id="R58328ddbc41b4f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6e0bc824c045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68d630244f46f9" /><Relationship Type="http://schemas.openxmlformats.org/officeDocument/2006/relationships/slideLayout" Target="/ppt/slideLayouts/slideLayout1.xml" Id="R08910be866754b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910be866754b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d8736a8b8c4dcf" /><Relationship Type="http://schemas.openxmlformats.org/officeDocument/2006/relationships/notesSlide" Target="/ppt/notesSlides/notesSlide1.xml" Id="R1010c4d7e0684b6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E87586-A9EE-4F71-AE99-554ED5ACF06A}"/>
              </a:ext>
            </a:extLst>
          </p:cNvPr>
          <p:cNvSpPr>
            <a:spLocks xmlns:a="http://schemas.openxmlformats.org/drawingml/2006/main" noGrp="1"/>
          </p:cNvSpPr>
          <p:nvPr/>
        </p:nvSpPr>
        <p:spPr>
          <a:xfrm xmlns:a="http://schemas.openxmlformats.org/drawingml/2006/main">
            <a:off x="0" y="0"/>
            <a:ext cx="8010525" cy="13335000"/>
          </a:xfrm>
          <a:prstGeom xmlns:a="http://schemas.openxmlformats.org/drawingml/2006/main" prst="rect">
            <a:avLst/>
          </a:prstGeom>
          <a:solidFill xmlns:a="http://schemas.openxmlformats.org/drawingml/2006/main">
            <a:srgbClr val="F7FBFD"/>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585A5D2-715B-4BC6-800D-2586CC2F3C3E}"/>
              </a:ext>
            </a:extLst>
          </p:cNvPr>
          <p:cNvSpPr>
            <a:spLocks xmlns:a="http://schemas.openxmlformats.org/drawingml/2006/main" noGrp="1"/>
          </p:cNvSpPr>
          <p:nvPr/>
        </p:nvSpPr>
        <p:spPr>
          <a:xfrm xmlns:a="http://schemas.openxmlformats.org/drawingml/2006/main">
            <a:off x="342900" y="11430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950" b="1">
                <a:solidFill>
                  <a:srgbClr val="183A66"/>
                </a:solidFill>
                <a:latin typeface="Hiragino Sans"/>
                <a:ea typeface="Hiragino Sans"/>
                <a:cs typeface="Hiragino Sans"/>
              </a:defRPr>
            </a:pPr>
            <a:r>
              <a:rPr sz="1950" b="1">
                <a:solidFill>
                  <a:srgbClr val="183A66"/>
                </a:solidFill>
                <a:latin typeface="Hiragino Sans"/>
                <a:ea typeface="Hiragino Sans"/>
                <a:cs typeface="Hiragino Sans"/>
              </a:rPr>
              <a:t>活動報告</a:t>
            </a:r>
          </a:p>
        </p:txBody>
      </p:sp>
      <p:sp>
        <p:nvSpPr>
          <p:cNvPr id="3" name="">
            <a:extLst xmlns:a="http://schemas.openxmlformats.org/drawingml/2006/main">
              <a:ext uri="{FF2B5EF4-FFF2-40B4-BE49-F238E27FC236}">
                <a16:creationId xmlns:a16="http://schemas.microsoft.com/office/drawing/2014/main" id="{F14C4B7B-7415-4C02-BBE4-441CE22F9816}"/>
              </a:ext>
            </a:extLst>
          </p:cNvPr>
          <p:cNvSpPr>
            <a:spLocks xmlns:a="http://schemas.openxmlformats.org/drawingml/2006/main" noGrp="1"/>
          </p:cNvSpPr>
          <p:nvPr/>
        </p:nvSpPr>
        <p:spPr>
          <a:xfrm xmlns:a="http://schemas.openxmlformats.org/drawingml/2006/main">
            <a:off x="6076950" y="209550"/>
            <a:ext cx="1619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r">
              <a:defRPr sz="1050" b="0">
                <a:solidFill>
                  <a:srgbClr val="0F172A"/>
                </a:solidFill>
                <a:latin typeface="Hiragino Sans"/>
                <a:ea typeface="Hiragino Sans"/>
                <a:cs typeface="Hiragino Sans"/>
              </a:defRPr>
            </a:pPr>
            <a:r>
              <a:rPr sz="1050" b="0">
                <a:solidFill>
                  <a:srgbClr val="0F172A"/>
                </a:solidFill>
                <a:latin typeface="Hiragino Sans"/>
                <a:ea typeface="Hiragino Sans"/>
                <a:cs typeface="Hiragino Sans"/>
              </a:rPr>
              <a:t>841×1400mm パターン</a:t>
            </a:r>
          </a:p>
        </p:txBody>
      </p:sp>
      <p:sp>
        <p:nvSpPr>
          <p:cNvPr id="4" name="">
            <a:extLst xmlns:a="http://schemas.openxmlformats.org/drawingml/2006/main">
              <a:ext uri="{FF2B5EF4-FFF2-40B4-BE49-F238E27FC236}">
                <a16:creationId xmlns:a16="http://schemas.microsoft.com/office/drawing/2014/main" id="{AB21CC67-6363-49D5-8FC8-4D3C26BA1512}"/>
              </a:ext>
            </a:extLst>
          </p:cNvPr>
          <p:cNvSpPr>
            <a:spLocks xmlns:a="http://schemas.openxmlformats.org/drawingml/2006/main" noGrp="1"/>
          </p:cNvSpPr>
          <p:nvPr/>
        </p:nvSpPr>
        <p:spPr>
          <a:xfrm xmlns:a="http://schemas.openxmlformats.org/drawingml/2006/main">
            <a:off x="342900" y="476250"/>
            <a:ext cx="704850" cy="666750"/>
          </a:xfrm>
          <a:prstGeom xmlns:a="http://schemas.openxmlformats.org/drawingml/2006/main" prst="rect">
            <a:avLst/>
          </a:prstGeom>
          <a:solidFill xmlns:a="http://schemas.openxmlformats.org/drawingml/2006/main">
            <a:srgbClr val="FFFFFF"/>
          </a:solidFill>
          <a:ln xmlns:a="http://schemas.openxmlformats.org/drawingml/2006/main" w="13335">
            <a:solidFill>
              <a:srgbClr val="3A3A3A"/>
            </a:solidFill>
            <a:prstDash val="solid"/>
          </a:ln>
        </p:spPr>
      </p:sp>
      <p:sp>
        <p:nvSpPr>
          <p:cNvPr id="5" name="">
            <a:extLst xmlns:a="http://schemas.openxmlformats.org/drawingml/2006/main">
              <a:ext uri="{FF2B5EF4-FFF2-40B4-BE49-F238E27FC236}">
                <a16:creationId xmlns:a16="http://schemas.microsoft.com/office/drawing/2014/main" id="{9EE85C75-FB23-4175-BBE0-4A08AD7826F5}"/>
              </a:ext>
            </a:extLst>
          </p:cNvPr>
          <p:cNvSpPr>
            <a:spLocks xmlns:a="http://schemas.openxmlformats.org/drawingml/2006/main" noGrp="1"/>
          </p:cNvSpPr>
          <p:nvPr/>
        </p:nvSpPr>
        <p:spPr>
          <a:xfrm xmlns:a="http://schemas.openxmlformats.org/drawingml/2006/main">
            <a:off x="409575" y="619125"/>
            <a:ext cx="57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発表者</a:t>
            </a:r>
          </a:p>
          <a:p xmlns:a="http://schemas.openxmlformats.org/drawingml/2006/main">
            <a:pPr algn="ctr">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番号</a:t>
            </a:r>
          </a:p>
        </p:txBody>
      </p:sp>
      <p:sp>
        <p:nvSpPr>
          <p:cNvPr id="6" name="">
            <a:extLst xmlns:a="http://schemas.openxmlformats.org/drawingml/2006/main">
              <a:ext uri="{FF2B5EF4-FFF2-40B4-BE49-F238E27FC236}">
                <a16:creationId xmlns:a16="http://schemas.microsoft.com/office/drawing/2014/main" id="{5B7D5D70-A021-46E2-9F6F-9E10ED059751}"/>
              </a:ext>
            </a:extLst>
          </p:cNvPr>
          <p:cNvSpPr>
            <a:spLocks xmlns:a="http://schemas.openxmlformats.org/drawingml/2006/main" noGrp="1"/>
          </p:cNvSpPr>
          <p:nvPr/>
        </p:nvSpPr>
        <p:spPr>
          <a:xfrm xmlns:a="http://schemas.openxmlformats.org/drawingml/2006/main">
            <a:off x="1085850" y="476250"/>
            <a:ext cx="6581775" cy="666750"/>
          </a:xfrm>
          <a:prstGeom xmlns:a="http://schemas.openxmlformats.org/drawingml/2006/main" prst="rect">
            <a:avLst/>
          </a:prstGeom>
          <a:solidFill xmlns:a="http://schemas.openxmlformats.org/drawingml/2006/main">
            <a:srgbClr val="E8F4DE"/>
          </a:solidFill>
          <a:ln xmlns:a="http://schemas.openxmlformats.org/drawingml/2006/main" w="19050">
            <a:solidFill>
              <a:srgbClr val="467737"/>
            </a:solidFill>
            <a:prstDash val="solid"/>
          </a:ln>
        </p:spPr>
      </p:sp>
      <p:sp>
        <p:nvSpPr>
          <p:cNvPr id="7" name="">
            <a:extLst xmlns:a="http://schemas.openxmlformats.org/drawingml/2006/main">
              <a:ext uri="{FF2B5EF4-FFF2-40B4-BE49-F238E27FC236}">
                <a16:creationId xmlns:a16="http://schemas.microsoft.com/office/drawing/2014/main" id="{FA77762B-B6BF-4E35-9EE0-321A103D33AE}"/>
              </a:ext>
            </a:extLst>
          </p:cNvPr>
          <p:cNvSpPr>
            <a:spLocks xmlns:a="http://schemas.openxmlformats.org/drawingml/2006/main" noGrp="1"/>
          </p:cNvSpPr>
          <p:nvPr/>
        </p:nvSpPr>
        <p:spPr>
          <a:xfrm xmlns:a="http://schemas.openxmlformats.org/drawingml/2006/main">
            <a:off x="1238250" y="561975"/>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975" b="0">
                <a:solidFill>
                  <a:srgbClr val="52606D"/>
                </a:solidFill>
                <a:latin typeface="Hiragino Sans"/>
                <a:ea typeface="Hiragino Sans"/>
                <a:cs typeface="Hiragino Sans"/>
              </a:defRPr>
            </a:pPr>
            <a:r>
              <a:rPr sz="975" b="0">
                <a:solidFill>
                  <a:srgbClr val="52606D"/>
                </a:solidFill>
                <a:latin typeface="Hiragino Sans"/>
                <a:ea typeface="Hiragino Sans"/>
                <a:cs typeface="Hiragino Sans"/>
              </a:rPr>
              <a:t>学会名</a:t>
            </a:r>
          </a:p>
        </p:txBody>
      </p:sp>
      <p:sp>
        <p:nvSpPr>
          <p:cNvPr id="8" name="">
            <a:extLst xmlns:a="http://schemas.openxmlformats.org/drawingml/2006/main">
              <a:ext uri="{FF2B5EF4-FFF2-40B4-BE49-F238E27FC236}">
                <a16:creationId xmlns:a16="http://schemas.microsoft.com/office/drawing/2014/main" id="{6C0E15A8-DADE-45D5-A105-777FDA45982A}"/>
              </a:ext>
            </a:extLst>
          </p:cNvPr>
          <p:cNvSpPr>
            <a:spLocks xmlns:a="http://schemas.openxmlformats.org/drawingml/2006/main" noGrp="1"/>
          </p:cNvSpPr>
          <p:nvPr/>
        </p:nvSpPr>
        <p:spPr>
          <a:xfrm xmlns:a="http://schemas.openxmlformats.org/drawingml/2006/main">
            <a:off x="1238250" y="714375"/>
            <a:ext cx="42386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7233A"/>
                </a:solidFill>
                <a:latin typeface="Hiragino Sans"/>
                <a:ea typeface="Hiragino Sans"/>
                <a:cs typeface="Hiragino Sans"/>
              </a:defRPr>
            </a:pPr>
            <a:r>
              <a:rPr sz="1575" b="1">
                <a:solidFill>
                  <a:srgbClr val="17233A"/>
                </a:solidFill>
                <a:latin typeface="Hiragino Sans"/>
                <a:ea typeface="Hiragino Sans"/>
                <a:cs typeface="Hiragino Sans"/>
              </a:rPr>
              <a:t>地域包括ケア病床の運用支援を目的とした</a:t>
            </a:r>
          </a:p>
          <a:p xmlns:a="http://schemas.openxmlformats.org/drawingml/2006/main">
            <a:pPr algn="l">
              <a:defRPr sz="1575" b="1">
                <a:solidFill>
                  <a:srgbClr val="17233A"/>
                </a:solidFill>
                <a:latin typeface="Hiragino Sans"/>
                <a:ea typeface="Hiragino Sans"/>
                <a:cs typeface="Hiragino Sans"/>
              </a:defRPr>
            </a:pPr>
            <a:r>
              <a:rPr sz="1575" b="1">
                <a:solidFill>
                  <a:srgbClr val="17233A"/>
                </a:solidFill>
                <a:latin typeface="Hiragino Sans"/>
                <a:ea typeface="Hiragino Sans"/>
                <a:cs typeface="Hiragino Sans"/>
              </a:rPr>
              <a:t>現場主導型DXの取り組み</a:t>
            </a:r>
          </a:p>
        </p:txBody>
      </p:sp>
      <p:sp>
        <p:nvSpPr>
          <p:cNvPr id="9" name="">
            <a:extLst xmlns:a="http://schemas.openxmlformats.org/drawingml/2006/main">
              <a:ext uri="{FF2B5EF4-FFF2-40B4-BE49-F238E27FC236}">
                <a16:creationId xmlns:a16="http://schemas.microsoft.com/office/drawing/2014/main" id="{B9CB7249-B6FB-497E-9D66-1709743195A8}"/>
              </a:ext>
            </a:extLst>
          </p:cNvPr>
          <p:cNvSpPr>
            <a:spLocks xmlns:a="http://schemas.openxmlformats.org/drawingml/2006/main" noGrp="1"/>
          </p:cNvSpPr>
          <p:nvPr/>
        </p:nvSpPr>
        <p:spPr>
          <a:xfrm xmlns:a="http://schemas.openxmlformats.org/drawingml/2006/main">
            <a:off x="5572125" y="590550"/>
            <a:ext cx="185737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r">
              <a:defRPr sz="825" b="0">
                <a:solidFill>
                  <a:srgbClr val="52606D"/>
                </a:solidFill>
                <a:latin typeface="Hiragino Sans"/>
                <a:ea typeface="Hiragino Sans"/>
                <a:cs typeface="Hiragino Sans"/>
              </a:defRPr>
            </a:pPr>
            <a:r>
              <a:rPr sz="825" b="0">
                <a:solidFill>
                  <a:srgbClr val="52606D"/>
                </a:solidFill>
                <a:latin typeface="Hiragino Sans"/>
                <a:ea typeface="Hiragino Sans"/>
                <a:cs typeface="Hiragino Sans"/>
              </a:rPr>
              <a:t>多職種DX推進チームによる</a:t>
            </a:r>
          </a:p>
          <a:p xmlns:a="http://schemas.openxmlformats.org/drawingml/2006/main">
            <a:pPr algn="r">
              <a:defRPr sz="825" b="0">
                <a:solidFill>
                  <a:srgbClr val="52606D"/>
                </a:solidFill>
                <a:latin typeface="Hiragino Sans"/>
                <a:ea typeface="Hiragino Sans"/>
                <a:cs typeface="Hiragino Sans"/>
              </a:defRPr>
            </a:pPr>
            <a:r>
              <a:rPr sz="825" b="0">
                <a:solidFill>
                  <a:srgbClr val="52606D"/>
                </a:solidFill>
                <a:latin typeface="Hiragino Sans"/>
                <a:ea typeface="Hiragino Sans"/>
                <a:cs typeface="Hiragino Sans"/>
              </a:rPr>
              <a:t>業務支援アプリの実装</a:t>
            </a:r>
          </a:p>
        </p:txBody>
      </p:sp>
      <p:sp>
        <p:nvSpPr>
          <p:cNvPr id="10" name="">
            <a:extLst xmlns:a="http://schemas.openxmlformats.org/drawingml/2006/main">
              <a:ext uri="{FF2B5EF4-FFF2-40B4-BE49-F238E27FC236}">
                <a16:creationId xmlns:a16="http://schemas.microsoft.com/office/drawing/2014/main" id="{13AC0AF5-29D0-4E52-A150-3C726AE1D79A}"/>
              </a:ext>
            </a:extLst>
          </p:cNvPr>
          <p:cNvSpPr>
            <a:spLocks xmlns:a="http://schemas.openxmlformats.org/drawingml/2006/main" noGrp="1"/>
          </p:cNvSpPr>
          <p:nvPr/>
        </p:nvSpPr>
        <p:spPr>
          <a:xfrm xmlns:a="http://schemas.openxmlformats.org/drawingml/2006/main">
            <a:off x="5810250" y="885825"/>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r">
              <a:defRPr sz="1050" b="0">
                <a:solidFill>
                  <a:srgbClr val="52606D"/>
                </a:solidFill>
                <a:latin typeface="Hiragino Sans"/>
                <a:ea typeface="Hiragino Sans"/>
                <a:cs typeface="Hiragino Sans"/>
              </a:defRPr>
            </a:pPr>
            <a:r>
              <a:rPr sz="1050" b="0">
                <a:solidFill>
                  <a:srgbClr val="52606D"/>
                </a:solidFill>
                <a:latin typeface="Hiragino Sans"/>
                <a:ea typeface="Hiragino Sans"/>
                <a:cs typeface="Hiragino Sans"/>
              </a:rPr>
              <a:t>所属　氏名</a:t>
            </a:r>
          </a:p>
        </p:txBody>
      </p:sp>
      <p:sp>
        <p:nvSpPr>
          <p:cNvPr id="11" name="">
            <a:extLst xmlns:a="http://schemas.openxmlformats.org/drawingml/2006/main">
              <a:ext uri="{FF2B5EF4-FFF2-40B4-BE49-F238E27FC236}">
                <a16:creationId xmlns:a16="http://schemas.microsoft.com/office/drawing/2014/main" id="{EC17EF44-F3AA-4F83-A18B-1949BD005715}"/>
              </a:ext>
            </a:extLst>
          </p:cNvPr>
          <p:cNvSpPr>
            <a:spLocks xmlns:a="http://schemas.openxmlformats.org/drawingml/2006/main" noGrp="1"/>
          </p:cNvSpPr>
          <p:nvPr/>
        </p:nvSpPr>
        <p:spPr>
          <a:xfrm xmlns:a="http://schemas.openxmlformats.org/drawingml/2006/main">
            <a:off x="342900" y="1257300"/>
            <a:ext cx="7324725" cy="1123950"/>
          </a:xfrm>
          <a:prstGeom xmlns:a="http://schemas.openxmlformats.org/drawingml/2006/main" prst="rect">
            <a:avLst/>
          </a:prstGeom>
          <a:solidFill xmlns:a="http://schemas.openxmlformats.org/drawingml/2006/main">
            <a:srgbClr val="E8F4DE"/>
          </a:solidFill>
          <a:ln xmlns:a="http://schemas.openxmlformats.org/drawingml/2006/main" w="17145">
            <a:solidFill>
              <a:srgbClr val="467737"/>
            </a:solidFill>
            <a:prstDash val="solid"/>
          </a:ln>
        </p:spPr>
      </p:sp>
      <p:sp>
        <p:nvSpPr>
          <p:cNvPr id="12" name="">
            <a:extLst xmlns:a="http://schemas.openxmlformats.org/drawingml/2006/main">
              <a:ext uri="{FF2B5EF4-FFF2-40B4-BE49-F238E27FC236}">
                <a16:creationId xmlns:a16="http://schemas.microsoft.com/office/drawing/2014/main" id="{A4275DF3-99DB-4E64-A180-AE8D32DBF5B3}"/>
              </a:ext>
            </a:extLst>
          </p:cNvPr>
          <p:cNvSpPr>
            <a:spLocks xmlns:a="http://schemas.openxmlformats.org/drawingml/2006/main" noGrp="1"/>
          </p:cNvSpPr>
          <p:nvPr/>
        </p:nvSpPr>
        <p:spPr>
          <a:xfrm xmlns:a="http://schemas.openxmlformats.org/drawingml/2006/main">
            <a:off x="476250" y="135255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467737"/>
                </a:solidFill>
                <a:latin typeface="Hiragino Sans"/>
                <a:ea typeface="Hiragino Sans"/>
                <a:cs typeface="Hiragino Sans"/>
              </a:defRPr>
            </a:pPr>
            <a:r>
              <a:rPr sz="1425" b="1">
                <a:solidFill>
                  <a:srgbClr val="467737"/>
                </a:solidFill>
                <a:latin typeface="Hiragino Sans"/>
                <a:ea typeface="Hiragino Sans"/>
                <a:cs typeface="Hiragino Sans"/>
              </a:rPr>
              <a:t>概要・目的 / Take home message</a:t>
            </a:r>
          </a:p>
        </p:txBody>
      </p:sp>
      <p:sp>
        <p:nvSpPr>
          <p:cNvPr id="13" name="">
            <a:extLst xmlns:a="http://schemas.openxmlformats.org/drawingml/2006/main">
              <a:ext uri="{FF2B5EF4-FFF2-40B4-BE49-F238E27FC236}">
                <a16:creationId xmlns:a16="http://schemas.microsoft.com/office/drawing/2014/main" id="{226D0F78-8BCD-4EDF-A83B-2DF836300A4E}"/>
              </a:ext>
            </a:extLst>
          </p:cNvPr>
          <p:cNvSpPr>
            <a:spLocks xmlns:a="http://schemas.openxmlformats.org/drawingml/2006/main" noGrp="1"/>
          </p:cNvSpPr>
          <p:nvPr/>
        </p:nvSpPr>
        <p:spPr>
          <a:xfrm xmlns:a="http://schemas.openxmlformats.org/drawingml/2006/main">
            <a:off x="533400" y="1657350"/>
            <a:ext cx="694372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050" b="0">
                <a:solidFill>
                  <a:srgbClr val="17233A"/>
                </a:solidFill>
                <a:latin typeface="Hiragino Sans"/>
                <a:ea typeface="Hiragino Sans"/>
                <a:cs typeface="Hiragino Sans"/>
              </a:defRPr>
            </a:pPr>
            <a:r>
              <a:rPr sz="1050" b="0">
                <a:solidFill>
                  <a:srgbClr val="17233A"/>
                </a:solidFill>
                <a:latin typeface="Hiragino Sans"/>
                <a:ea typeface="Hiragino Sans"/>
                <a:cs typeface="Hiragino Sans"/>
              </a:rPr>
              <a:t>中小病院ではDX専従人材の確保が難しい一方、地域包括ケア病床では入退院支援、リハビリ、病床運用、看護必要度管理、多職種間の情報共有を同時に扱う必要がある。</a:t>
            </a:r>
          </a:p>
          <a:p xmlns:a="http://schemas.openxmlformats.org/drawingml/2006/main">
            <a:pPr algn="l">
              <a:defRPr sz="1050" b="0">
                <a:solidFill>
                  <a:srgbClr val="17233A"/>
                </a:solidFill>
                <a:latin typeface="Hiragino Sans"/>
                <a:ea typeface="Hiragino Sans"/>
                <a:cs typeface="Hiragino Sans"/>
              </a:defRPr>
            </a:pPr>
            <a:r>
              <a:rPr sz="1050" b="0">
                <a:solidFill>
                  <a:srgbClr val="17233A"/>
                </a:solidFill>
                <a:latin typeface="Hiragino Sans"/>
                <a:ea typeface="Hiragino Sans"/>
                <a:cs typeface="Hiragino Sans"/>
              </a:rPr>
              <a:t>本取り組みでは、多職種DX推進チームを設置し、現場スタッフ主導で実務課題に即した2種類の業務支援アプリを作成・実装した。</a:t>
            </a:r>
          </a:p>
        </p:txBody>
      </p:sp>
      <p:sp>
        <p:nvSpPr>
          <p:cNvPr id="14" name="">
            <a:extLst xmlns:a="http://schemas.openxmlformats.org/drawingml/2006/main">
              <a:ext uri="{FF2B5EF4-FFF2-40B4-BE49-F238E27FC236}">
                <a16:creationId xmlns:a16="http://schemas.microsoft.com/office/drawing/2014/main" id="{E35F881D-FA00-4030-94B6-68C028F95052}"/>
              </a:ext>
            </a:extLst>
          </p:cNvPr>
          <p:cNvSpPr>
            <a:spLocks xmlns:a="http://schemas.openxmlformats.org/drawingml/2006/main" noGrp="1"/>
          </p:cNvSpPr>
          <p:nvPr/>
        </p:nvSpPr>
        <p:spPr>
          <a:xfrm xmlns:a="http://schemas.openxmlformats.org/drawingml/2006/main">
            <a:off x="342900" y="2476500"/>
            <a:ext cx="7324725" cy="1428750"/>
          </a:xfrm>
          <a:prstGeom xmlns:a="http://schemas.openxmlformats.org/drawingml/2006/main" prst="rect">
            <a:avLst/>
          </a:prstGeom>
          <a:solidFill xmlns:a="http://schemas.openxmlformats.org/drawingml/2006/main">
            <a:srgbClr val="DCECF8"/>
          </a:solidFill>
          <a:ln xmlns:a="http://schemas.openxmlformats.org/drawingml/2006/main" w="17145">
            <a:solidFill>
              <a:srgbClr val="1F78BD"/>
            </a:solidFill>
            <a:prstDash val="solid"/>
          </a:ln>
        </p:spPr>
      </p:sp>
      <p:sp>
        <p:nvSpPr>
          <p:cNvPr id="15" name="">
            <a:extLst xmlns:a="http://schemas.openxmlformats.org/drawingml/2006/main">
              <a:ext uri="{FF2B5EF4-FFF2-40B4-BE49-F238E27FC236}">
                <a16:creationId xmlns:a16="http://schemas.microsoft.com/office/drawing/2014/main" id="{C72A535B-2B37-46F5-8BAD-D23442F4EC60}"/>
              </a:ext>
            </a:extLst>
          </p:cNvPr>
          <p:cNvSpPr>
            <a:spLocks xmlns:a="http://schemas.openxmlformats.org/drawingml/2006/main" noGrp="1"/>
          </p:cNvSpPr>
          <p:nvPr/>
        </p:nvSpPr>
        <p:spPr>
          <a:xfrm xmlns:a="http://schemas.openxmlformats.org/drawingml/2006/main">
            <a:off x="476250" y="257175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3A66"/>
                </a:solidFill>
                <a:latin typeface="Hiragino Sans"/>
                <a:ea typeface="Hiragino Sans"/>
                <a:cs typeface="Hiragino Sans"/>
              </a:defRPr>
            </a:pPr>
            <a:r>
              <a:rPr sz="1425" b="1">
                <a:solidFill>
                  <a:srgbClr val="183A66"/>
                </a:solidFill>
                <a:latin typeface="Hiragino Sans"/>
                <a:ea typeface="Hiragino Sans"/>
                <a:cs typeface="Hiragino Sans"/>
              </a:rPr>
              <a:t>背景</a:t>
            </a:r>
          </a:p>
        </p:txBody>
      </p:sp>
      <p:sp>
        <p:nvSpPr>
          <p:cNvPr id="16" name="">
            <a:extLst xmlns:a="http://schemas.openxmlformats.org/drawingml/2006/main">
              <a:ext uri="{FF2B5EF4-FFF2-40B4-BE49-F238E27FC236}">
                <a16:creationId xmlns:a16="http://schemas.microsoft.com/office/drawing/2014/main" id="{C334B7EC-6FC2-480B-82DA-170872861CB3}"/>
              </a:ext>
            </a:extLst>
          </p:cNvPr>
          <p:cNvSpPr>
            <a:spLocks xmlns:a="http://schemas.openxmlformats.org/drawingml/2006/main" noGrp="1"/>
          </p:cNvSpPr>
          <p:nvPr/>
        </p:nvSpPr>
        <p:spPr>
          <a:xfrm xmlns:a="http://schemas.openxmlformats.org/drawingml/2006/main">
            <a:off x="533400" y="2886075"/>
            <a:ext cx="69437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・紙媒体や部門別管理では、転記作業、確認漏れ、返却期限の把握に課題があった。</a:t>
            </a:r>
          </a:p>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・病床稼働状況、患者情報、看護必要度関連情報は継続的な把握が必要である。</a:t>
            </a:r>
          </a:p>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・現場業務を理解したスタッフが課題抽出から実装まで関与する体制が求められた。</a:t>
            </a:r>
          </a:p>
        </p:txBody>
      </p:sp>
      <p:sp>
        <p:nvSpPr>
          <p:cNvPr id="17" name="">
            <a:extLst xmlns:a="http://schemas.openxmlformats.org/drawingml/2006/main">
              <a:ext uri="{FF2B5EF4-FFF2-40B4-BE49-F238E27FC236}">
                <a16:creationId xmlns:a16="http://schemas.microsoft.com/office/drawing/2014/main" id="{A755F84D-973B-40C2-BE8C-9A15246723AC}"/>
              </a:ext>
            </a:extLst>
          </p:cNvPr>
          <p:cNvSpPr>
            <a:spLocks xmlns:a="http://schemas.openxmlformats.org/drawingml/2006/main" noGrp="1"/>
          </p:cNvSpPr>
          <p:nvPr/>
        </p:nvSpPr>
        <p:spPr>
          <a:xfrm xmlns:a="http://schemas.openxmlformats.org/drawingml/2006/main">
            <a:off x="533400" y="3562350"/>
            <a:ext cx="1123950" cy="285750"/>
          </a:xfrm>
          <a:prstGeom xmlns:a="http://schemas.openxmlformats.org/drawingml/2006/main" prst="rect">
            <a:avLst/>
          </a:prstGeom>
          <a:solidFill xmlns:a="http://schemas.openxmlformats.org/drawingml/2006/main">
            <a:srgbClr val="EAF4FF"/>
          </a:solidFill>
          <a:ln xmlns:a="http://schemas.openxmlformats.org/drawingml/2006/main" w="9525">
            <a:solidFill>
              <a:srgbClr val="B7C8B4"/>
            </a:solidFill>
            <a:prstDash val="solid"/>
          </a:ln>
        </p:spPr>
      </p:sp>
      <p:sp>
        <p:nvSpPr>
          <p:cNvPr id="18" name="">
            <a:extLst xmlns:a="http://schemas.openxmlformats.org/drawingml/2006/main">
              <a:ext uri="{FF2B5EF4-FFF2-40B4-BE49-F238E27FC236}">
                <a16:creationId xmlns:a16="http://schemas.microsoft.com/office/drawing/2014/main" id="{378F537C-5E78-4799-ACD0-03AF9DDDB42F}"/>
              </a:ext>
            </a:extLst>
          </p:cNvPr>
          <p:cNvSpPr>
            <a:spLocks xmlns:a="http://schemas.openxmlformats.org/drawingml/2006/main" noGrp="1"/>
          </p:cNvSpPr>
          <p:nvPr/>
        </p:nvSpPr>
        <p:spPr>
          <a:xfrm xmlns:a="http://schemas.openxmlformats.org/drawingml/2006/main">
            <a:off x="5715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入退院支援</a:t>
            </a:r>
          </a:p>
        </p:txBody>
      </p:sp>
      <p:sp>
        <p:nvSpPr>
          <p:cNvPr id="19" name="">
            <a:extLst xmlns:a="http://schemas.openxmlformats.org/drawingml/2006/main">
              <a:ext uri="{FF2B5EF4-FFF2-40B4-BE49-F238E27FC236}">
                <a16:creationId xmlns:a16="http://schemas.microsoft.com/office/drawing/2014/main" id="{D09A7B2F-07D7-45EA-8FFC-AA034C0B6E33}"/>
              </a:ext>
            </a:extLst>
          </p:cNvPr>
          <p:cNvSpPr>
            <a:spLocks xmlns:a="http://schemas.openxmlformats.org/drawingml/2006/main" noGrp="1"/>
          </p:cNvSpPr>
          <p:nvPr/>
        </p:nvSpPr>
        <p:spPr>
          <a:xfrm xmlns:a="http://schemas.openxmlformats.org/drawingml/2006/main">
            <a:off x="1752600" y="3562350"/>
            <a:ext cx="1123950" cy="285750"/>
          </a:xfrm>
          <a:prstGeom xmlns:a="http://schemas.openxmlformats.org/drawingml/2006/main" prst="rect">
            <a:avLst/>
          </a:prstGeom>
          <a:solidFill xmlns:a="http://schemas.openxmlformats.org/drawingml/2006/main">
            <a:srgbClr val="E8F4DE"/>
          </a:solidFill>
          <a:ln xmlns:a="http://schemas.openxmlformats.org/drawingml/2006/main" w="9525">
            <a:solidFill>
              <a:srgbClr val="B7C8B4"/>
            </a:solidFill>
            <a:prstDash val="solid"/>
          </a:ln>
        </p:spPr>
      </p:sp>
      <p:sp>
        <p:nvSpPr>
          <p:cNvPr id="20" name="">
            <a:extLst xmlns:a="http://schemas.openxmlformats.org/drawingml/2006/main">
              <a:ext uri="{FF2B5EF4-FFF2-40B4-BE49-F238E27FC236}">
                <a16:creationId xmlns:a16="http://schemas.microsoft.com/office/drawing/2014/main" id="{C07C17C0-18C4-41C7-8399-F7A100B964B5}"/>
              </a:ext>
            </a:extLst>
          </p:cNvPr>
          <p:cNvSpPr>
            <a:spLocks xmlns:a="http://schemas.openxmlformats.org/drawingml/2006/main" noGrp="1"/>
          </p:cNvSpPr>
          <p:nvPr/>
        </p:nvSpPr>
        <p:spPr>
          <a:xfrm xmlns:a="http://schemas.openxmlformats.org/drawingml/2006/main">
            <a:off x="17907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リハビリ</a:t>
            </a:r>
          </a:p>
        </p:txBody>
      </p:sp>
      <p:sp>
        <p:nvSpPr>
          <p:cNvPr id="21" name="">
            <a:extLst xmlns:a="http://schemas.openxmlformats.org/drawingml/2006/main">
              <a:ext uri="{FF2B5EF4-FFF2-40B4-BE49-F238E27FC236}">
                <a16:creationId xmlns:a16="http://schemas.microsoft.com/office/drawing/2014/main" id="{FF286D2B-7FB5-43A3-A563-A18041AE0A89}"/>
              </a:ext>
            </a:extLst>
          </p:cNvPr>
          <p:cNvSpPr>
            <a:spLocks xmlns:a="http://schemas.openxmlformats.org/drawingml/2006/main" noGrp="1"/>
          </p:cNvSpPr>
          <p:nvPr/>
        </p:nvSpPr>
        <p:spPr>
          <a:xfrm xmlns:a="http://schemas.openxmlformats.org/drawingml/2006/main">
            <a:off x="2971800" y="3562350"/>
            <a:ext cx="1123950" cy="285750"/>
          </a:xfrm>
          <a:prstGeom xmlns:a="http://schemas.openxmlformats.org/drawingml/2006/main" prst="rect">
            <a:avLst/>
          </a:prstGeom>
          <a:solidFill xmlns:a="http://schemas.openxmlformats.org/drawingml/2006/main">
            <a:srgbClr val="FFF0DF"/>
          </a:solidFill>
          <a:ln xmlns:a="http://schemas.openxmlformats.org/drawingml/2006/main" w="9525">
            <a:solidFill>
              <a:srgbClr val="B7C8B4"/>
            </a:solidFill>
            <a:prstDash val="solid"/>
          </a:ln>
        </p:spPr>
      </p:sp>
      <p:sp>
        <p:nvSpPr>
          <p:cNvPr id="22" name="">
            <a:extLst xmlns:a="http://schemas.openxmlformats.org/drawingml/2006/main">
              <a:ext uri="{FF2B5EF4-FFF2-40B4-BE49-F238E27FC236}">
                <a16:creationId xmlns:a16="http://schemas.microsoft.com/office/drawing/2014/main" id="{C5014438-00F0-4F8D-B23D-5409B5F0D567}"/>
              </a:ext>
            </a:extLst>
          </p:cNvPr>
          <p:cNvSpPr>
            <a:spLocks xmlns:a="http://schemas.openxmlformats.org/drawingml/2006/main" noGrp="1"/>
          </p:cNvSpPr>
          <p:nvPr/>
        </p:nvSpPr>
        <p:spPr>
          <a:xfrm xmlns:a="http://schemas.openxmlformats.org/drawingml/2006/main">
            <a:off x="30099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病床運用</a:t>
            </a:r>
          </a:p>
        </p:txBody>
      </p:sp>
      <p:sp>
        <p:nvSpPr>
          <p:cNvPr id="23" name="">
            <a:extLst xmlns:a="http://schemas.openxmlformats.org/drawingml/2006/main">
              <a:ext uri="{FF2B5EF4-FFF2-40B4-BE49-F238E27FC236}">
                <a16:creationId xmlns:a16="http://schemas.microsoft.com/office/drawing/2014/main" id="{59586413-8990-4944-94E2-E13D4C2B3647}"/>
              </a:ext>
            </a:extLst>
          </p:cNvPr>
          <p:cNvSpPr>
            <a:spLocks xmlns:a="http://schemas.openxmlformats.org/drawingml/2006/main" noGrp="1"/>
          </p:cNvSpPr>
          <p:nvPr/>
        </p:nvSpPr>
        <p:spPr>
          <a:xfrm xmlns:a="http://schemas.openxmlformats.org/drawingml/2006/main">
            <a:off x="4191000" y="3562350"/>
            <a:ext cx="1123950"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B7C8B4"/>
            </a:solidFill>
            <a:prstDash val="solid"/>
          </a:ln>
        </p:spPr>
      </p:sp>
      <p:sp>
        <p:nvSpPr>
          <p:cNvPr id="24" name="">
            <a:extLst xmlns:a="http://schemas.openxmlformats.org/drawingml/2006/main">
              <a:ext uri="{FF2B5EF4-FFF2-40B4-BE49-F238E27FC236}">
                <a16:creationId xmlns:a16="http://schemas.microsoft.com/office/drawing/2014/main" id="{D8D4B960-C3D1-42D5-9584-576380DE612A}"/>
              </a:ext>
            </a:extLst>
          </p:cNvPr>
          <p:cNvSpPr>
            <a:spLocks xmlns:a="http://schemas.openxmlformats.org/drawingml/2006/main" noGrp="1"/>
          </p:cNvSpPr>
          <p:nvPr/>
        </p:nvSpPr>
        <p:spPr>
          <a:xfrm xmlns:a="http://schemas.openxmlformats.org/drawingml/2006/main">
            <a:off x="4229100" y="3619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看護必要度</a:t>
            </a:r>
          </a:p>
        </p:txBody>
      </p:sp>
      <p:sp>
        <p:nvSpPr>
          <p:cNvPr id="25" name="">
            <a:extLst xmlns:a="http://schemas.openxmlformats.org/drawingml/2006/main">
              <a:ext uri="{FF2B5EF4-FFF2-40B4-BE49-F238E27FC236}">
                <a16:creationId xmlns:a16="http://schemas.microsoft.com/office/drawing/2014/main" id="{ACC5EBAC-A268-4224-BA5F-F376D6B6A183}"/>
              </a:ext>
            </a:extLst>
          </p:cNvPr>
          <p:cNvSpPr>
            <a:spLocks xmlns:a="http://schemas.openxmlformats.org/drawingml/2006/main" noGrp="1"/>
          </p:cNvSpPr>
          <p:nvPr/>
        </p:nvSpPr>
        <p:spPr>
          <a:xfrm xmlns:a="http://schemas.openxmlformats.org/drawingml/2006/main">
            <a:off x="5410200" y="3562350"/>
            <a:ext cx="1428750" cy="285750"/>
          </a:xfrm>
          <a:prstGeom xmlns:a="http://schemas.openxmlformats.org/drawingml/2006/main" prst="rect">
            <a:avLst/>
          </a:prstGeom>
          <a:solidFill xmlns:a="http://schemas.openxmlformats.org/drawingml/2006/main">
            <a:srgbClr val="E6F2F0"/>
          </a:solidFill>
          <a:ln xmlns:a="http://schemas.openxmlformats.org/drawingml/2006/main" w="9525">
            <a:solidFill>
              <a:srgbClr val="B7C8B4"/>
            </a:solidFill>
            <a:prstDash val="solid"/>
          </a:ln>
        </p:spPr>
      </p:sp>
      <p:sp>
        <p:nvSpPr>
          <p:cNvPr id="26" name="">
            <a:extLst xmlns:a="http://schemas.openxmlformats.org/drawingml/2006/main">
              <a:ext uri="{FF2B5EF4-FFF2-40B4-BE49-F238E27FC236}">
                <a16:creationId xmlns:a16="http://schemas.microsoft.com/office/drawing/2014/main" id="{94F5C9D4-FDB6-416C-9F57-DD4448E180D9}"/>
              </a:ext>
            </a:extLst>
          </p:cNvPr>
          <p:cNvSpPr>
            <a:spLocks xmlns:a="http://schemas.openxmlformats.org/drawingml/2006/main" noGrp="1"/>
          </p:cNvSpPr>
          <p:nvPr/>
        </p:nvSpPr>
        <p:spPr>
          <a:xfrm xmlns:a="http://schemas.openxmlformats.org/drawingml/2006/main">
            <a:off x="5448300" y="3619500"/>
            <a:ext cx="1352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7233A"/>
                </a:solidFill>
                <a:latin typeface="Hiragino Sans"/>
                <a:ea typeface="Hiragino Sans"/>
                <a:cs typeface="Hiragino Sans"/>
              </a:defRPr>
            </a:pPr>
            <a:r>
              <a:rPr sz="975" b="1">
                <a:solidFill>
                  <a:srgbClr val="17233A"/>
                </a:solidFill>
                <a:latin typeface="Hiragino Sans"/>
                <a:ea typeface="Hiragino Sans"/>
                <a:cs typeface="Hiragino Sans"/>
              </a:rPr>
              <a:t>情報共有</a:t>
            </a:r>
          </a:p>
        </p:txBody>
      </p:sp>
      <p:sp>
        <p:nvSpPr>
          <p:cNvPr id="27" name="">
            <a:extLst xmlns:a="http://schemas.openxmlformats.org/drawingml/2006/main">
              <a:ext uri="{FF2B5EF4-FFF2-40B4-BE49-F238E27FC236}">
                <a16:creationId xmlns:a16="http://schemas.microsoft.com/office/drawing/2014/main" id="{2A30FBBD-5290-412F-9D26-44F7871C4072}"/>
              </a:ext>
            </a:extLst>
          </p:cNvPr>
          <p:cNvSpPr>
            <a:spLocks xmlns:a="http://schemas.openxmlformats.org/drawingml/2006/main" noGrp="1"/>
          </p:cNvSpPr>
          <p:nvPr/>
        </p:nvSpPr>
        <p:spPr>
          <a:xfrm xmlns:a="http://schemas.openxmlformats.org/drawingml/2006/main">
            <a:off x="342900" y="4000500"/>
            <a:ext cx="7324725" cy="3571875"/>
          </a:xfrm>
          <a:prstGeom xmlns:a="http://schemas.openxmlformats.org/drawingml/2006/main" prst="rect">
            <a:avLst/>
          </a:prstGeom>
          <a:solidFill xmlns:a="http://schemas.openxmlformats.org/drawingml/2006/main">
            <a:srgbClr val="DCECF8"/>
          </a:solidFill>
          <a:ln xmlns:a="http://schemas.openxmlformats.org/drawingml/2006/main" w="17145">
            <a:solidFill>
              <a:srgbClr val="1F78BD"/>
            </a:solidFill>
            <a:prstDash val="solid"/>
          </a:ln>
        </p:spPr>
      </p:sp>
      <p:sp>
        <p:nvSpPr>
          <p:cNvPr id="28" name="">
            <a:extLst xmlns:a="http://schemas.openxmlformats.org/drawingml/2006/main">
              <a:ext uri="{FF2B5EF4-FFF2-40B4-BE49-F238E27FC236}">
                <a16:creationId xmlns:a16="http://schemas.microsoft.com/office/drawing/2014/main" id="{F6829E9E-CCE8-4199-A766-73035C5D1E37}"/>
              </a:ext>
            </a:extLst>
          </p:cNvPr>
          <p:cNvSpPr>
            <a:spLocks xmlns:a="http://schemas.openxmlformats.org/drawingml/2006/main" noGrp="1"/>
          </p:cNvSpPr>
          <p:nvPr/>
        </p:nvSpPr>
        <p:spPr>
          <a:xfrm xmlns:a="http://schemas.openxmlformats.org/drawingml/2006/main">
            <a:off x="476250" y="409575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3A66"/>
                </a:solidFill>
                <a:latin typeface="Hiragino Sans"/>
                <a:ea typeface="Hiragino Sans"/>
                <a:cs typeface="Hiragino Sans"/>
              </a:defRPr>
            </a:pPr>
            <a:r>
              <a:rPr sz="1425" b="1">
                <a:solidFill>
                  <a:srgbClr val="183A66"/>
                </a:solidFill>
                <a:latin typeface="Hiragino Sans"/>
                <a:ea typeface="Hiragino Sans"/>
                <a:cs typeface="Hiragino Sans"/>
              </a:rPr>
              <a:t>活動内容と結果</a:t>
            </a:r>
          </a:p>
        </p:txBody>
      </p:sp>
      <p:sp>
        <p:nvSpPr>
          <p:cNvPr id="29" name="">
            <a:extLst xmlns:a="http://schemas.openxmlformats.org/drawingml/2006/main">
              <a:ext uri="{FF2B5EF4-FFF2-40B4-BE49-F238E27FC236}">
                <a16:creationId xmlns:a16="http://schemas.microsoft.com/office/drawing/2014/main" id="{3CC81909-88F1-453C-AE69-D79B7541AEF0}"/>
              </a:ext>
            </a:extLst>
          </p:cNvPr>
          <p:cNvSpPr>
            <a:spLocks xmlns:a="http://schemas.openxmlformats.org/drawingml/2006/main" noGrp="1"/>
          </p:cNvSpPr>
          <p:nvPr/>
        </p:nvSpPr>
        <p:spPr>
          <a:xfrm xmlns:a="http://schemas.openxmlformats.org/drawingml/2006/main">
            <a:off x="533400" y="4400550"/>
            <a:ext cx="69437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125" b="0">
                <a:solidFill>
                  <a:srgbClr val="17233A"/>
                </a:solidFill>
                <a:latin typeface="Hiragino Sans"/>
                <a:ea typeface="Hiragino Sans"/>
                <a:cs typeface="Hiragino Sans"/>
              </a:defRPr>
            </a:pPr>
            <a:r>
              <a:rPr sz="1125" b="0">
                <a:solidFill>
                  <a:srgbClr val="17233A"/>
                </a:solidFill>
                <a:latin typeface="Hiragino Sans"/>
                <a:ea typeface="Hiragino Sans"/>
                <a:cs typeface="Hiragino Sans"/>
              </a:rPr>
              <a:t>DXに関心のあるスタッフを各部署から募集し、医師、事務職員、看護師、作業療法士、社会福祉士でチームを構成。外部DX研修で課題抽出、アプリ作成、現場実装を学習した後、地域包括ケア病床の運用に関わる実務課題をアプリ化した。</a:t>
            </a:r>
          </a:p>
        </p:txBody>
      </p:sp>
      <p:sp>
        <p:nvSpPr>
          <p:cNvPr id="30" name="">
            <a:extLst xmlns:a="http://schemas.openxmlformats.org/drawingml/2006/main">
              <a:ext uri="{FF2B5EF4-FFF2-40B4-BE49-F238E27FC236}">
                <a16:creationId xmlns:a16="http://schemas.microsoft.com/office/drawing/2014/main" id="{89D81C0E-B132-4143-A25E-EF87A14F54EA}"/>
              </a:ext>
            </a:extLst>
          </p:cNvPr>
          <p:cNvSpPr>
            <a:spLocks xmlns:a="http://schemas.openxmlformats.org/drawingml/2006/main" noGrp="1"/>
          </p:cNvSpPr>
          <p:nvPr/>
        </p:nvSpPr>
        <p:spPr>
          <a:xfrm xmlns:a="http://schemas.openxmlformats.org/drawingml/2006/main">
            <a:off x="533400" y="4933950"/>
            <a:ext cx="3333750" cy="2333625"/>
          </a:xfrm>
          <a:prstGeom xmlns:a="http://schemas.openxmlformats.org/drawingml/2006/main" prst="rect">
            <a:avLst/>
          </a:prstGeom>
          <a:solidFill xmlns:a="http://schemas.openxmlformats.org/drawingml/2006/main">
            <a:srgbClr val="FFFFFF"/>
          </a:solidFill>
          <a:ln xmlns:a="http://schemas.openxmlformats.org/drawingml/2006/main" w="16193">
            <a:solidFill>
              <a:srgbClr val="D96E1F"/>
            </a:solidFill>
            <a:prstDash val="solid"/>
          </a:ln>
        </p:spPr>
      </p:sp>
      <p:sp>
        <p:nvSpPr>
          <p:cNvPr id="31" name="">
            <a:extLst xmlns:a="http://schemas.openxmlformats.org/drawingml/2006/main">
              <a:ext uri="{FF2B5EF4-FFF2-40B4-BE49-F238E27FC236}">
                <a16:creationId xmlns:a16="http://schemas.microsoft.com/office/drawing/2014/main" id="{94644D47-019B-4602-9928-9C1F8A35FBC1}"/>
              </a:ext>
            </a:extLst>
          </p:cNvPr>
          <p:cNvSpPr>
            <a:spLocks xmlns:a="http://schemas.openxmlformats.org/drawingml/2006/main" noGrp="1"/>
          </p:cNvSpPr>
          <p:nvPr/>
        </p:nvSpPr>
        <p:spPr>
          <a:xfrm xmlns:a="http://schemas.openxmlformats.org/drawingml/2006/main">
            <a:off x="666750" y="5057775"/>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125" b="1">
                <a:solidFill>
                  <a:srgbClr val="D96E1F"/>
                </a:solidFill>
                <a:latin typeface="Hiragino Sans"/>
                <a:ea typeface="Hiragino Sans"/>
                <a:cs typeface="Hiragino Sans"/>
              </a:defRPr>
            </a:pPr>
            <a:r>
              <a:rPr sz="1125" b="1">
                <a:solidFill>
                  <a:srgbClr val="D96E1F"/>
                </a:solidFill>
                <a:latin typeface="Hiragino Sans"/>
                <a:ea typeface="Hiragino Sans"/>
                <a:cs typeface="Hiragino Sans"/>
              </a:rPr>
              <a:t>取り組み① リハビリ関連業務アプリ</a:t>
            </a:r>
          </a:p>
        </p:txBody>
      </p:sp>
      <p:sp>
        <p:nvSpPr>
          <p:cNvPr id="32" name="">
            <a:extLst xmlns:a="http://schemas.openxmlformats.org/drawingml/2006/main">
              <a:ext uri="{FF2B5EF4-FFF2-40B4-BE49-F238E27FC236}">
                <a16:creationId xmlns:a16="http://schemas.microsoft.com/office/drawing/2014/main" id="{25C56F5D-B3BC-4E5A-8DDB-BEDDC720A91B}"/>
              </a:ext>
            </a:extLst>
          </p:cNvPr>
          <p:cNvSpPr>
            <a:spLocks xmlns:a="http://schemas.openxmlformats.org/drawingml/2006/main" noGrp="1"/>
          </p:cNvSpPr>
          <p:nvPr/>
        </p:nvSpPr>
        <p:spPr>
          <a:xfrm xmlns:a="http://schemas.openxmlformats.org/drawingml/2006/main">
            <a:off x="666750" y="5353050"/>
            <a:ext cx="1314450" cy="1619250"/>
          </a:xfrm>
          <a:prstGeom xmlns:a="http://schemas.openxmlformats.org/drawingml/2006/main" prst="rect">
            <a:avLst/>
          </a:prstGeom>
          <a:solidFill xmlns:a="http://schemas.openxmlformats.org/drawingml/2006/main">
            <a:srgbClr val="FFFFFF"/>
          </a:solidFill>
          <a:ln xmlns:a="http://schemas.openxmlformats.org/drawingml/2006/main" w="15240">
            <a:solidFill>
              <a:srgbClr val="D96E1F"/>
            </a:solidFill>
            <a:prstDash val="solid"/>
          </a:ln>
        </p:spPr>
      </p:sp>
      <p:sp>
        <p:nvSpPr>
          <p:cNvPr id="33" name="">
            <a:extLst xmlns:a="http://schemas.openxmlformats.org/drawingml/2006/main">
              <a:ext uri="{FF2B5EF4-FFF2-40B4-BE49-F238E27FC236}">
                <a16:creationId xmlns:a16="http://schemas.microsoft.com/office/drawing/2014/main" id="{3CC0BFB1-9373-49BC-93CB-7EF6D3775126}"/>
              </a:ext>
            </a:extLst>
          </p:cNvPr>
          <p:cNvSpPr>
            <a:spLocks xmlns:a="http://schemas.openxmlformats.org/drawingml/2006/main" noGrp="1"/>
          </p:cNvSpPr>
          <p:nvPr/>
        </p:nvSpPr>
        <p:spPr>
          <a:xfrm xmlns:a="http://schemas.openxmlformats.org/drawingml/2006/main">
            <a:off x="762000" y="5448300"/>
            <a:ext cx="1123950" cy="257175"/>
          </a:xfrm>
          <a:prstGeom xmlns:a="http://schemas.openxmlformats.org/drawingml/2006/main" prst="rect">
            <a:avLst/>
          </a:prstGeom>
          <a:solidFill xmlns:a="http://schemas.openxmlformats.org/drawingml/2006/main">
            <a:srgbClr val="D96E1F"/>
          </a:solidFill>
          <a:ln xmlns:a="http://schemas.openxmlformats.org/drawingml/2006/main" w="0">
            <a:solidFill>
              <a:srgbClr val="D96E1F"/>
            </a:solidFill>
            <a:prstDash val="solid"/>
          </a:ln>
        </p:spPr>
      </p:sp>
      <p:sp>
        <p:nvSpPr>
          <p:cNvPr id="34" name="">
            <a:extLst xmlns:a="http://schemas.openxmlformats.org/drawingml/2006/main">
              <a:ext uri="{FF2B5EF4-FFF2-40B4-BE49-F238E27FC236}">
                <a16:creationId xmlns:a16="http://schemas.microsoft.com/office/drawing/2014/main" id="{65505E41-406F-4A15-BCB1-BAB70A83DEFA}"/>
              </a:ext>
            </a:extLst>
          </p:cNvPr>
          <p:cNvSpPr>
            <a:spLocks xmlns:a="http://schemas.openxmlformats.org/drawingml/2006/main" noGrp="1"/>
          </p:cNvSpPr>
          <p:nvPr/>
        </p:nvSpPr>
        <p:spPr>
          <a:xfrm xmlns:a="http://schemas.openxmlformats.org/drawingml/2006/main">
            <a:off x="762000" y="5486400"/>
            <a:ext cx="1123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アプリ画面①</a:t>
            </a:r>
          </a:p>
        </p:txBody>
      </p:sp>
      <p:sp>
        <p:nvSpPr>
          <p:cNvPr id="35" name="">
            <a:extLst xmlns:a="http://schemas.openxmlformats.org/drawingml/2006/main">
              <a:ext uri="{FF2B5EF4-FFF2-40B4-BE49-F238E27FC236}">
                <a16:creationId xmlns:a16="http://schemas.microsoft.com/office/drawing/2014/main" id="{7D517445-8DC4-48DA-8EC8-1ACDB6A52D89}"/>
              </a:ext>
            </a:extLst>
          </p:cNvPr>
          <p:cNvSpPr>
            <a:spLocks xmlns:a="http://schemas.openxmlformats.org/drawingml/2006/main" noGrp="1"/>
          </p:cNvSpPr>
          <p:nvPr/>
        </p:nvSpPr>
        <p:spPr>
          <a:xfrm xmlns:a="http://schemas.openxmlformats.org/drawingml/2006/main">
            <a:off x="838200" y="5867400"/>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36" name="">
            <a:extLst xmlns:a="http://schemas.openxmlformats.org/drawingml/2006/main">
              <a:ext uri="{FF2B5EF4-FFF2-40B4-BE49-F238E27FC236}">
                <a16:creationId xmlns:a16="http://schemas.microsoft.com/office/drawing/2014/main" id="{41BFF341-E682-4192-B2CD-53B63D33AE8F}"/>
              </a:ext>
            </a:extLst>
          </p:cNvPr>
          <p:cNvSpPr>
            <a:spLocks xmlns:a="http://schemas.openxmlformats.org/drawingml/2006/main" noGrp="1"/>
          </p:cNvSpPr>
          <p:nvPr/>
        </p:nvSpPr>
        <p:spPr>
          <a:xfrm xmlns:a="http://schemas.openxmlformats.org/drawingml/2006/main">
            <a:off x="838200" y="6238875"/>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37" name="">
            <a:extLst xmlns:a="http://schemas.openxmlformats.org/drawingml/2006/main">
              <a:ext uri="{FF2B5EF4-FFF2-40B4-BE49-F238E27FC236}">
                <a16:creationId xmlns:a16="http://schemas.microsoft.com/office/drawing/2014/main" id="{89409901-4AED-4678-864F-EBE589C6D432}"/>
              </a:ext>
            </a:extLst>
          </p:cNvPr>
          <p:cNvSpPr>
            <a:spLocks xmlns:a="http://schemas.openxmlformats.org/drawingml/2006/main" noGrp="1"/>
          </p:cNvSpPr>
          <p:nvPr/>
        </p:nvSpPr>
        <p:spPr>
          <a:xfrm xmlns:a="http://schemas.openxmlformats.org/drawingml/2006/main">
            <a:off x="838200" y="6648450"/>
            <a:ext cx="9715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38" name="">
            <a:extLst xmlns:a="http://schemas.openxmlformats.org/drawingml/2006/main">
              <a:ext uri="{FF2B5EF4-FFF2-40B4-BE49-F238E27FC236}">
                <a16:creationId xmlns:a16="http://schemas.microsoft.com/office/drawing/2014/main" id="{829A3214-FB11-4B5C-87E6-568EB689069D}"/>
              </a:ext>
            </a:extLst>
          </p:cNvPr>
          <p:cNvSpPr>
            <a:spLocks xmlns:a="http://schemas.openxmlformats.org/drawingml/2006/main" noGrp="1"/>
          </p:cNvSpPr>
          <p:nvPr/>
        </p:nvSpPr>
        <p:spPr>
          <a:xfrm xmlns:a="http://schemas.openxmlformats.org/drawingml/2006/main">
            <a:off x="876300" y="6610350"/>
            <a:ext cx="895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975" b="1">
                <a:solidFill>
                  <a:srgbClr val="D96E1F"/>
                </a:solidFill>
                <a:latin typeface="Hiragino Sans"/>
                <a:ea typeface="Hiragino Sans"/>
                <a:cs typeface="Hiragino Sans"/>
              </a:defRPr>
            </a:pPr>
            <a:r>
              <a:rPr sz="975" b="1">
                <a:solidFill>
                  <a:srgbClr val="D96E1F"/>
                </a:solidFill>
                <a:latin typeface="Hiragino Sans"/>
                <a:ea typeface="Hiragino Sans"/>
                <a:cs typeface="Hiragino Sans"/>
              </a:rPr>
              <a:t>画面差し替え</a:t>
            </a:r>
          </a:p>
        </p:txBody>
      </p:sp>
      <p:sp>
        <p:nvSpPr>
          <p:cNvPr id="39" name="">
            <a:extLst xmlns:a="http://schemas.openxmlformats.org/drawingml/2006/main">
              <a:ext uri="{FF2B5EF4-FFF2-40B4-BE49-F238E27FC236}">
                <a16:creationId xmlns:a16="http://schemas.microsoft.com/office/drawing/2014/main" id="{10B10CF4-05FA-464B-9A3A-3586A54BC577}"/>
              </a:ext>
            </a:extLst>
          </p:cNvPr>
          <p:cNvSpPr>
            <a:spLocks xmlns:a="http://schemas.openxmlformats.org/drawingml/2006/main" noGrp="1"/>
          </p:cNvSpPr>
          <p:nvPr/>
        </p:nvSpPr>
        <p:spPr>
          <a:xfrm xmlns:a="http://schemas.openxmlformats.org/drawingml/2006/main">
            <a:off x="876300" y="6762750"/>
            <a:ext cx="895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750" b="0">
                <a:solidFill>
                  <a:srgbClr val="52606D"/>
                </a:solidFill>
                <a:latin typeface="Hiragino Sans"/>
                <a:ea typeface="Hiragino Sans"/>
                <a:cs typeface="Hiragino Sans"/>
              </a:defRPr>
            </a:pPr>
            <a:r>
              <a:rPr sz="750" b="0">
                <a:solidFill>
                  <a:srgbClr val="52606D"/>
                </a:solidFill>
                <a:latin typeface="Hiragino Sans"/>
                <a:ea typeface="Hiragino Sans"/>
                <a:cs typeface="Hiragino Sans"/>
              </a:rPr>
              <a:t>入力・一覧・確認項目</a:t>
            </a:r>
          </a:p>
        </p:txBody>
      </p:sp>
      <p:sp>
        <p:nvSpPr>
          <p:cNvPr id="40" name="">
            <a:extLst xmlns:a="http://schemas.openxmlformats.org/drawingml/2006/main">
              <a:ext uri="{FF2B5EF4-FFF2-40B4-BE49-F238E27FC236}">
                <a16:creationId xmlns:a16="http://schemas.microsoft.com/office/drawing/2014/main" id="{0BCB2605-92FB-4F8A-8336-1E3A5B4FC186}"/>
              </a:ext>
            </a:extLst>
          </p:cNvPr>
          <p:cNvSpPr>
            <a:spLocks xmlns:a="http://schemas.openxmlformats.org/drawingml/2006/main" noGrp="1"/>
          </p:cNvSpPr>
          <p:nvPr/>
        </p:nvSpPr>
        <p:spPr>
          <a:xfrm xmlns:a="http://schemas.openxmlformats.org/drawingml/2006/main">
            <a:off x="2105025" y="5353050"/>
            <a:ext cx="1619250" cy="1476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課題：物品貸出を紙で管理し、転記・確認漏れ・返却期限把握に負荷。</a:t>
            </a:r>
          </a:p>
          <a:p xmlns:a="http://schemas.openxmlformats.org/drawingml/2006/main">
            <a:r>
              <a:t/>
            </a:r>
          </a:p>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実装：貸出状況、返却期限、入力不備を一覧化。未入力時にはエラー表示を行う仕組みを構築。</a:t>
            </a:r>
          </a:p>
        </p:txBody>
      </p:sp>
      <p:sp>
        <p:nvSpPr>
          <p:cNvPr id="41" name="">
            <a:extLst xmlns:a="http://schemas.openxmlformats.org/drawingml/2006/main">
              <a:ext uri="{FF2B5EF4-FFF2-40B4-BE49-F238E27FC236}">
                <a16:creationId xmlns:a16="http://schemas.microsoft.com/office/drawing/2014/main" id="{40EF8719-36F4-477D-AECA-751810A5FB5F}"/>
              </a:ext>
            </a:extLst>
          </p:cNvPr>
          <p:cNvSpPr>
            <a:spLocks xmlns:a="http://schemas.openxmlformats.org/drawingml/2006/main" noGrp="1"/>
          </p:cNvSpPr>
          <p:nvPr/>
        </p:nvSpPr>
        <p:spPr>
          <a:xfrm xmlns:a="http://schemas.openxmlformats.org/drawingml/2006/main">
            <a:off x="4105275" y="4933950"/>
            <a:ext cx="3333750" cy="2333625"/>
          </a:xfrm>
          <a:prstGeom xmlns:a="http://schemas.openxmlformats.org/drawingml/2006/main" prst="rect">
            <a:avLst/>
          </a:prstGeom>
          <a:solidFill xmlns:a="http://schemas.openxmlformats.org/drawingml/2006/main">
            <a:srgbClr val="FFFFFF"/>
          </a:solidFill>
          <a:ln xmlns:a="http://schemas.openxmlformats.org/drawingml/2006/main" w="16193">
            <a:solidFill>
              <a:srgbClr val="467737"/>
            </a:solidFill>
            <a:prstDash val="solid"/>
          </a:ln>
        </p:spPr>
      </p:sp>
      <p:sp>
        <p:nvSpPr>
          <p:cNvPr id="42" name="">
            <a:extLst xmlns:a="http://schemas.openxmlformats.org/drawingml/2006/main">
              <a:ext uri="{FF2B5EF4-FFF2-40B4-BE49-F238E27FC236}">
                <a16:creationId xmlns:a16="http://schemas.microsoft.com/office/drawing/2014/main" id="{3CCACE49-5513-44F4-A486-6664F4AD2053}"/>
              </a:ext>
            </a:extLst>
          </p:cNvPr>
          <p:cNvSpPr>
            <a:spLocks xmlns:a="http://schemas.openxmlformats.org/drawingml/2006/main" noGrp="1"/>
          </p:cNvSpPr>
          <p:nvPr/>
        </p:nvSpPr>
        <p:spPr>
          <a:xfrm xmlns:a="http://schemas.openxmlformats.org/drawingml/2006/main">
            <a:off x="4238625" y="5057775"/>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050" b="1">
                <a:solidFill>
                  <a:srgbClr val="467737"/>
                </a:solidFill>
                <a:latin typeface="Hiragino Sans"/>
                <a:ea typeface="Hiragino Sans"/>
                <a:cs typeface="Hiragino Sans"/>
              </a:defRPr>
            </a:pPr>
            <a:r>
              <a:rPr sz="1050" b="1">
                <a:solidFill>
                  <a:srgbClr val="467737"/>
                </a:solidFill>
                <a:latin typeface="Hiragino Sans"/>
                <a:ea typeface="Hiragino Sans"/>
                <a:cs typeface="Hiragino Sans"/>
              </a:rPr>
              <a:t>取り組み② 病床・看護必要度管理アプリ</a:t>
            </a:r>
          </a:p>
        </p:txBody>
      </p:sp>
      <p:sp>
        <p:nvSpPr>
          <p:cNvPr id="43" name="">
            <a:extLst xmlns:a="http://schemas.openxmlformats.org/drawingml/2006/main">
              <a:ext uri="{FF2B5EF4-FFF2-40B4-BE49-F238E27FC236}">
                <a16:creationId xmlns:a16="http://schemas.microsoft.com/office/drawing/2014/main" id="{C2E77615-292D-42B5-B2DF-6A0E7108FE77}"/>
              </a:ext>
            </a:extLst>
          </p:cNvPr>
          <p:cNvSpPr>
            <a:spLocks xmlns:a="http://schemas.openxmlformats.org/drawingml/2006/main" noGrp="1"/>
          </p:cNvSpPr>
          <p:nvPr/>
        </p:nvSpPr>
        <p:spPr>
          <a:xfrm xmlns:a="http://schemas.openxmlformats.org/drawingml/2006/main">
            <a:off x="4238625" y="5353050"/>
            <a:ext cx="1314450" cy="1619250"/>
          </a:xfrm>
          <a:prstGeom xmlns:a="http://schemas.openxmlformats.org/drawingml/2006/main" prst="rect">
            <a:avLst/>
          </a:prstGeom>
          <a:solidFill xmlns:a="http://schemas.openxmlformats.org/drawingml/2006/main">
            <a:srgbClr val="FFFFFF"/>
          </a:solidFill>
          <a:ln xmlns:a="http://schemas.openxmlformats.org/drawingml/2006/main" w="15240">
            <a:solidFill>
              <a:srgbClr val="467737"/>
            </a:solidFill>
            <a:prstDash val="solid"/>
          </a:ln>
        </p:spPr>
      </p:sp>
      <p:sp>
        <p:nvSpPr>
          <p:cNvPr id="44" name="">
            <a:extLst xmlns:a="http://schemas.openxmlformats.org/drawingml/2006/main">
              <a:ext uri="{FF2B5EF4-FFF2-40B4-BE49-F238E27FC236}">
                <a16:creationId xmlns:a16="http://schemas.microsoft.com/office/drawing/2014/main" id="{CA51CB8D-E2AA-4C33-83BE-A0D8689C1DE5}"/>
              </a:ext>
            </a:extLst>
          </p:cNvPr>
          <p:cNvSpPr>
            <a:spLocks xmlns:a="http://schemas.openxmlformats.org/drawingml/2006/main" noGrp="1"/>
          </p:cNvSpPr>
          <p:nvPr/>
        </p:nvSpPr>
        <p:spPr>
          <a:xfrm xmlns:a="http://schemas.openxmlformats.org/drawingml/2006/main">
            <a:off x="4333875" y="5448300"/>
            <a:ext cx="1123950" cy="257175"/>
          </a:xfrm>
          <a:prstGeom xmlns:a="http://schemas.openxmlformats.org/drawingml/2006/main" prst="rect">
            <a:avLst/>
          </a:prstGeom>
          <a:solidFill xmlns:a="http://schemas.openxmlformats.org/drawingml/2006/main">
            <a:srgbClr val="467737"/>
          </a:solidFill>
          <a:ln xmlns:a="http://schemas.openxmlformats.org/drawingml/2006/main" w="0">
            <a:solidFill>
              <a:srgbClr val="467737"/>
            </a:solidFill>
            <a:prstDash val="solid"/>
          </a:ln>
        </p:spPr>
      </p:sp>
      <p:sp>
        <p:nvSpPr>
          <p:cNvPr id="45" name="">
            <a:extLst xmlns:a="http://schemas.openxmlformats.org/drawingml/2006/main">
              <a:ext uri="{FF2B5EF4-FFF2-40B4-BE49-F238E27FC236}">
                <a16:creationId xmlns:a16="http://schemas.microsoft.com/office/drawing/2014/main" id="{96A195DC-1C72-4F92-B4CD-AD1FA17A3B25}"/>
              </a:ext>
            </a:extLst>
          </p:cNvPr>
          <p:cNvSpPr>
            <a:spLocks xmlns:a="http://schemas.openxmlformats.org/drawingml/2006/main" noGrp="1"/>
          </p:cNvSpPr>
          <p:nvPr/>
        </p:nvSpPr>
        <p:spPr>
          <a:xfrm xmlns:a="http://schemas.openxmlformats.org/drawingml/2006/main">
            <a:off x="4333875" y="5486400"/>
            <a:ext cx="1123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アプリ画面②</a:t>
            </a:r>
          </a:p>
        </p:txBody>
      </p:sp>
      <p:sp>
        <p:nvSpPr>
          <p:cNvPr id="46" name="">
            <a:extLst xmlns:a="http://schemas.openxmlformats.org/drawingml/2006/main">
              <a:ext uri="{FF2B5EF4-FFF2-40B4-BE49-F238E27FC236}">
                <a16:creationId xmlns:a16="http://schemas.microsoft.com/office/drawing/2014/main" id="{8E0D0DDE-62AF-4F8D-BE34-485CCBFAA19F}"/>
              </a:ext>
            </a:extLst>
          </p:cNvPr>
          <p:cNvSpPr>
            <a:spLocks xmlns:a="http://schemas.openxmlformats.org/drawingml/2006/main" noGrp="1"/>
          </p:cNvSpPr>
          <p:nvPr/>
        </p:nvSpPr>
        <p:spPr>
          <a:xfrm xmlns:a="http://schemas.openxmlformats.org/drawingml/2006/main">
            <a:off x="4410075" y="5867400"/>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47" name="">
            <a:extLst xmlns:a="http://schemas.openxmlformats.org/drawingml/2006/main">
              <a:ext uri="{FF2B5EF4-FFF2-40B4-BE49-F238E27FC236}">
                <a16:creationId xmlns:a16="http://schemas.microsoft.com/office/drawing/2014/main" id="{43B8C1C4-4208-49B8-8A22-F20F6025620D}"/>
              </a:ext>
            </a:extLst>
          </p:cNvPr>
          <p:cNvSpPr>
            <a:spLocks xmlns:a="http://schemas.openxmlformats.org/drawingml/2006/main" noGrp="1"/>
          </p:cNvSpPr>
          <p:nvPr/>
        </p:nvSpPr>
        <p:spPr>
          <a:xfrm xmlns:a="http://schemas.openxmlformats.org/drawingml/2006/main">
            <a:off x="4410075" y="6238875"/>
            <a:ext cx="971550" cy="2667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48" name="">
            <a:extLst xmlns:a="http://schemas.openxmlformats.org/drawingml/2006/main">
              <a:ext uri="{FF2B5EF4-FFF2-40B4-BE49-F238E27FC236}">
                <a16:creationId xmlns:a16="http://schemas.microsoft.com/office/drawing/2014/main" id="{BD3DAD80-968A-4AD3-BA5F-41EAF25B3B43}"/>
              </a:ext>
            </a:extLst>
          </p:cNvPr>
          <p:cNvSpPr>
            <a:spLocks xmlns:a="http://schemas.openxmlformats.org/drawingml/2006/main" noGrp="1"/>
          </p:cNvSpPr>
          <p:nvPr/>
        </p:nvSpPr>
        <p:spPr>
          <a:xfrm xmlns:a="http://schemas.openxmlformats.org/drawingml/2006/main">
            <a:off x="4410075" y="6648450"/>
            <a:ext cx="9715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C8D6E3"/>
            </a:solidFill>
            <a:prstDash val="solid"/>
          </a:ln>
        </p:spPr>
      </p:sp>
      <p:sp>
        <p:nvSpPr>
          <p:cNvPr id="49" name="">
            <a:extLst xmlns:a="http://schemas.openxmlformats.org/drawingml/2006/main">
              <a:ext uri="{FF2B5EF4-FFF2-40B4-BE49-F238E27FC236}">
                <a16:creationId xmlns:a16="http://schemas.microsoft.com/office/drawing/2014/main" id="{EFFB492A-B153-4705-96DE-FE0E032B8F51}"/>
              </a:ext>
            </a:extLst>
          </p:cNvPr>
          <p:cNvSpPr>
            <a:spLocks xmlns:a="http://schemas.openxmlformats.org/drawingml/2006/main" noGrp="1"/>
          </p:cNvSpPr>
          <p:nvPr/>
        </p:nvSpPr>
        <p:spPr>
          <a:xfrm xmlns:a="http://schemas.openxmlformats.org/drawingml/2006/main">
            <a:off x="4448175" y="6610350"/>
            <a:ext cx="895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975" b="1">
                <a:solidFill>
                  <a:srgbClr val="467737"/>
                </a:solidFill>
                <a:latin typeface="Hiragino Sans"/>
                <a:ea typeface="Hiragino Sans"/>
                <a:cs typeface="Hiragino Sans"/>
              </a:defRPr>
            </a:pPr>
            <a:r>
              <a:rPr sz="975" b="1">
                <a:solidFill>
                  <a:srgbClr val="467737"/>
                </a:solidFill>
                <a:latin typeface="Hiragino Sans"/>
                <a:ea typeface="Hiragino Sans"/>
                <a:cs typeface="Hiragino Sans"/>
              </a:rPr>
              <a:t>画面差し替え</a:t>
            </a:r>
          </a:p>
        </p:txBody>
      </p:sp>
      <p:sp>
        <p:nvSpPr>
          <p:cNvPr id="50" name="">
            <a:extLst xmlns:a="http://schemas.openxmlformats.org/drawingml/2006/main">
              <a:ext uri="{FF2B5EF4-FFF2-40B4-BE49-F238E27FC236}">
                <a16:creationId xmlns:a16="http://schemas.microsoft.com/office/drawing/2014/main" id="{868E6215-0101-4337-B1EE-388F78A2DB1F}"/>
              </a:ext>
            </a:extLst>
          </p:cNvPr>
          <p:cNvSpPr>
            <a:spLocks xmlns:a="http://schemas.openxmlformats.org/drawingml/2006/main" noGrp="1"/>
          </p:cNvSpPr>
          <p:nvPr/>
        </p:nvSpPr>
        <p:spPr>
          <a:xfrm xmlns:a="http://schemas.openxmlformats.org/drawingml/2006/main">
            <a:off x="4448175" y="6762750"/>
            <a:ext cx="895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750" b="0">
                <a:solidFill>
                  <a:srgbClr val="52606D"/>
                </a:solidFill>
                <a:latin typeface="Hiragino Sans"/>
                <a:ea typeface="Hiragino Sans"/>
                <a:cs typeface="Hiragino Sans"/>
              </a:defRPr>
            </a:pPr>
            <a:r>
              <a:rPr sz="750" b="0">
                <a:solidFill>
                  <a:srgbClr val="52606D"/>
                </a:solidFill>
                <a:latin typeface="Hiragino Sans"/>
                <a:ea typeface="Hiragino Sans"/>
                <a:cs typeface="Hiragino Sans"/>
              </a:rPr>
              <a:t>入力・一覧・確認項目</a:t>
            </a:r>
          </a:p>
        </p:txBody>
      </p:sp>
      <p:sp>
        <p:nvSpPr>
          <p:cNvPr id="51" name="">
            <a:extLst xmlns:a="http://schemas.openxmlformats.org/drawingml/2006/main">
              <a:ext uri="{FF2B5EF4-FFF2-40B4-BE49-F238E27FC236}">
                <a16:creationId xmlns:a16="http://schemas.microsoft.com/office/drawing/2014/main" id="{A072010F-EA84-4837-BD3E-1D822E6A2BDF}"/>
              </a:ext>
            </a:extLst>
          </p:cNvPr>
          <p:cNvSpPr>
            <a:spLocks xmlns:a="http://schemas.openxmlformats.org/drawingml/2006/main" noGrp="1"/>
          </p:cNvSpPr>
          <p:nvPr/>
        </p:nvSpPr>
        <p:spPr>
          <a:xfrm xmlns:a="http://schemas.openxmlformats.org/drawingml/2006/main">
            <a:off x="5676900" y="5353050"/>
            <a:ext cx="1619250" cy="1476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課題：病床稼働状況、患者情報、看護必要度関連情報を継続的に把握する必要。</a:t>
            </a:r>
          </a:p>
          <a:p xmlns:a="http://schemas.openxmlformats.org/drawingml/2006/main">
            <a:r>
              <a:t/>
            </a:r>
          </a:p>
          <a:p xmlns:a="http://schemas.openxmlformats.org/drawingml/2006/main">
            <a:pPr algn="l">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実装：患者ごとの状況と確認項目を一覧化し、多職種・病棟スタッフ間で共有すべき情報を可視化。</a:t>
            </a:r>
          </a:p>
        </p:txBody>
      </p:sp>
      <p:sp>
        <p:nvSpPr>
          <p:cNvPr id="52" name="">
            <a:extLst xmlns:a="http://schemas.openxmlformats.org/drawingml/2006/main">
              <a:ext uri="{FF2B5EF4-FFF2-40B4-BE49-F238E27FC236}">
                <a16:creationId xmlns:a16="http://schemas.microsoft.com/office/drawing/2014/main" id="{29CFE5F1-8515-4DBE-B1FB-B9D2323BFA07}"/>
              </a:ext>
            </a:extLst>
          </p:cNvPr>
          <p:cNvSpPr>
            <a:spLocks xmlns:a="http://schemas.openxmlformats.org/drawingml/2006/main" noGrp="1"/>
          </p:cNvSpPr>
          <p:nvPr/>
        </p:nvSpPr>
        <p:spPr>
          <a:xfrm xmlns:a="http://schemas.openxmlformats.org/drawingml/2006/main">
            <a:off x="666750" y="7239000"/>
            <a:ext cx="66770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200" b="1">
                <a:solidFill>
                  <a:srgbClr val="183A66"/>
                </a:solidFill>
                <a:latin typeface="Hiragino Sans"/>
                <a:ea typeface="Hiragino Sans"/>
                <a:cs typeface="Hiragino Sans"/>
              </a:defRPr>
            </a:pPr>
            <a:r>
              <a:rPr sz="1200" b="1">
                <a:solidFill>
                  <a:srgbClr val="183A66"/>
                </a:solidFill>
                <a:latin typeface="Hiragino Sans"/>
                <a:ea typeface="Hiragino Sans"/>
                <a:cs typeface="Hiragino Sans"/>
              </a:rPr>
              <a:t>結果：いずれのアプリも現場業務の流れに合わせて作成され、実際の業務で活用されている。</a:t>
            </a:r>
          </a:p>
        </p:txBody>
      </p:sp>
      <p:sp>
        <p:nvSpPr>
          <p:cNvPr id="53" name="">
            <a:extLst xmlns:a="http://schemas.openxmlformats.org/drawingml/2006/main">
              <a:ext uri="{FF2B5EF4-FFF2-40B4-BE49-F238E27FC236}">
                <a16:creationId xmlns:a16="http://schemas.microsoft.com/office/drawing/2014/main" id="{D009EFC6-8BC7-4399-9F8D-E417AD61EF62}"/>
              </a:ext>
            </a:extLst>
          </p:cNvPr>
          <p:cNvSpPr>
            <a:spLocks xmlns:a="http://schemas.openxmlformats.org/drawingml/2006/main" noGrp="1"/>
          </p:cNvSpPr>
          <p:nvPr/>
        </p:nvSpPr>
        <p:spPr>
          <a:xfrm xmlns:a="http://schemas.openxmlformats.org/drawingml/2006/main">
            <a:off x="342900" y="7667625"/>
            <a:ext cx="7324725" cy="2428875"/>
          </a:xfrm>
          <a:prstGeom xmlns:a="http://schemas.openxmlformats.org/drawingml/2006/main" prst="rect">
            <a:avLst/>
          </a:prstGeom>
          <a:solidFill xmlns:a="http://schemas.openxmlformats.org/drawingml/2006/main">
            <a:srgbClr val="DCECF8"/>
          </a:solidFill>
          <a:ln xmlns:a="http://schemas.openxmlformats.org/drawingml/2006/main" w="17145">
            <a:solidFill>
              <a:srgbClr val="1F78BD"/>
            </a:solidFill>
            <a:prstDash val="solid"/>
          </a:ln>
        </p:spPr>
      </p:sp>
      <p:sp>
        <p:nvSpPr>
          <p:cNvPr id="54" name="">
            <a:extLst xmlns:a="http://schemas.openxmlformats.org/drawingml/2006/main">
              <a:ext uri="{FF2B5EF4-FFF2-40B4-BE49-F238E27FC236}">
                <a16:creationId xmlns:a16="http://schemas.microsoft.com/office/drawing/2014/main" id="{A26CF865-678C-4E8C-9CB5-159A71CB5914}"/>
              </a:ext>
            </a:extLst>
          </p:cNvPr>
          <p:cNvSpPr>
            <a:spLocks xmlns:a="http://schemas.openxmlformats.org/drawingml/2006/main" noGrp="1"/>
          </p:cNvSpPr>
          <p:nvPr/>
        </p:nvSpPr>
        <p:spPr>
          <a:xfrm xmlns:a="http://schemas.openxmlformats.org/drawingml/2006/main">
            <a:off x="476250" y="7762875"/>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3A66"/>
                </a:solidFill>
                <a:latin typeface="Hiragino Sans"/>
                <a:ea typeface="Hiragino Sans"/>
                <a:cs typeface="Hiragino Sans"/>
              </a:defRPr>
            </a:pPr>
            <a:r>
              <a:rPr sz="1425" b="1">
                <a:solidFill>
                  <a:srgbClr val="183A66"/>
                </a:solidFill>
                <a:latin typeface="Hiragino Sans"/>
                <a:ea typeface="Hiragino Sans"/>
                <a:cs typeface="Hiragino Sans"/>
              </a:rPr>
              <a:t>考察</a:t>
            </a:r>
          </a:p>
        </p:txBody>
      </p:sp>
      <p:sp>
        <p:nvSpPr>
          <p:cNvPr id="55" name="">
            <a:extLst xmlns:a="http://schemas.openxmlformats.org/drawingml/2006/main">
              <a:ext uri="{FF2B5EF4-FFF2-40B4-BE49-F238E27FC236}">
                <a16:creationId xmlns:a16="http://schemas.microsoft.com/office/drawing/2014/main" id="{999150A6-0589-468C-A6F0-706A23A0E5E4}"/>
              </a:ext>
            </a:extLst>
          </p:cNvPr>
          <p:cNvSpPr>
            <a:spLocks xmlns:a="http://schemas.openxmlformats.org/drawingml/2006/main" noGrp="1"/>
          </p:cNvSpPr>
          <p:nvPr/>
        </p:nvSpPr>
        <p:spPr>
          <a:xfrm xmlns:a="http://schemas.openxmlformats.org/drawingml/2006/main">
            <a:off x="533400" y="8096250"/>
            <a:ext cx="6943725"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中小病院におけるDX推進では、専門人材の確保が困難である一方、現場業務を理解したスタッフが課題抽出からアプリ作成まで関与することで、実務に即した改善につながる可能性がある。</a:t>
            </a:r>
          </a:p>
          <a:p xmlns:a="http://schemas.openxmlformats.org/drawingml/2006/main">
            <a:r>
              <a:t/>
            </a:r>
          </a:p>
          <a:p xmlns:a="http://schemas.openxmlformats.org/drawingml/2006/main">
            <a:pPr algn="l">
              <a:defRPr sz="1275" b="0">
                <a:solidFill>
                  <a:srgbClr val="17233A"/>
                </a:solidFill>
                <a:latin typeface="Hiragino Sans"/>
                <a:ea typeface="Hiragino Sans"/>
                <a:cs typeface="Hiragino Sans"/>
              </a:defRPr>
            </a:pPr>
            <a:r>
              <a:rPr sz="1275" b="0">
                <a:solidFill>
                  <a:srgbClr val="17233A"/>
                </a:solidFill>
                <a:latin typeface="Hiragino Sans"/>
                <a:ea typeface="Hiragino Sans"/>
                <a:cs typeface="Hiragino Sans"/>
              </a:rPr>
              <a:t>今回の取り組みでは、地域包括ケア病床の運用に関わる複数の課題に対し、現場スタッフ主導でアプリを作成・実装できた点に意義がある。部門横断で課題を共有し、日々の確認作業や情報共有を支援する仕組みを現場内に構築できた。</a:t>
            </a:r>
          </a:p>
        </p:txBody>
      </p:sp>
      <p:sp>
        <p:nvSpPr>
          <p:cNvPr id="56" name="">
            <a:extLst xmlns:a="http://schemas.openxmlformats.org/drawingml/2006/main">
              <a:ext uri="{FF2B5EF4-FFF2-40B4-BE49-F238E27FC236}">
                <a16:creationId xmlns:a16="http://schemas.microsoft.com/office/drawing/2014/main" id="{CC3591C9-0DE5-4C28-BCBF-6786E57F05C9}"/>
              </a:ext>
            </a:extLst>
          </p:cNvPr>
          <p:cNvSpPr>
            <a:spLocks xmlns:a="http://schemas.openxmlformats.org/drawingml/2006/main" noGrp="1"/>
          </p:cNvSpPr>
          <p:nvPr/>
        </p:nvSpPr>
        <p:spPr>
          <a:xfrm xmlns:a="http://schemas.openxmlformats.org/drawingml/2006/main">
            <a:off x="533400" y="9563100"/>
            <a:ext cx="6943725"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9CC7E8"/>
            </a:solidFill>
            <a:prstDash val="solid"/>
          </a:ln>
        </p:spPr>
      </p:sp>
      <p:sp>
        <p:nvSpPr>
          <p:cNvPr id="57" name="">
            <a:extLst xmlns:a="http://schemas.openxmlformats.org/drawingml/2006/main">
              <a:ext uri="{FF2B5EF4-FFF2-40B4-BE49-F238E27FC236}">
                <a16:creationId xmlns:a16="http://schemas.microsoft.com/office/drawing/2014/main" id="{E9DA910E-AF05-435D-B42E-B49292941453}"/>
              </a:ext>
            </a:extLst>
          </p:cNvPr>
          <p:cNvSpPr>
            <a:spLocks xmlns:a="http://schemas.openxmlformats.org/drawingml/2006/main" noGrp="1"/>
          </p:cNvSpPr>
          <p:nvPr/>
        </p:nvSpPr>
        <p:spPr>
          <a:xfrm xmlns:a="http://schemas.openxmlformats.org/drawingml/2006/main">
            <a:off x="628650" y="9639300"/>
            <a:ext cx="67532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ctr">
              <a:defRPr sz="1200" b="1">
                <a:solidFill>
                  <a:srgbClr val="183A66"/>
                </a:solidFill>
                <a:latin typeface="Hiragino Sans"/>
                <a:ea typeface="Hiragino Sans"/>
                <a:cs typeface="Hiragino Sans"/>
              </a:defRPr>
            </a:pPr>
            <a:r>
              <a:rPr sz="1200" b="1">
                <a:solidFill>
                  <a:srgbClr val="183A66"/>
                </a:solidFill>
                <a:latin typeface="Hiragino Sans"/>
                <a:ea typeface="Hiragino Sans"/>
                <a:cs typeface="Hiragino Sans"/>
              </a:rPr>
              <a:t>現場課題の理解 × 外部研修 × 多職種実装支援 = 実務に根ざした院内DX</a:t>
            </a:r>
          </a:p>
        </p:txBody>
      </p:sp>
      <p:sp>
        <p:nvSpPr>
          <p:cNvPr id="58" name="">
            <a:extLst xmlns:a="http://schemas.openxmlformats.org/drawingml/2006/main">
              <a:ext uri="{FF2B5EF4-FFF2-40B4-BE49-F238E27FC236}">
                <a16:creationId xmlns:a16="http://schemas.microsoft.com/office/drawing/2014/main" id="{CAF2DE55-2F2A-4D54-BD71-E770308664E9}"/>
              </a:ext>
            </a:extLst>
          </p:cNvPr>
          <p:cNvSpPr>
            <a:spLocks xmlns:a="http://schemas.openxmlformats.org/drawingml/2006/main" noGrp="1"/>
          </p:cNvSpPr>
          <p:nvPr/>
        </p:nvSpPr>
        <p:spPr>
          <a:xfrm xmlns:a="http://schemas.openxmlformats.org/drawingml/2006/main">
            <a:off x="342900" y="10191750"/>
            <a:ext cx="7324725" cy="1952625"/>
          </a:xfrm>
          <a:prstGeom xmlns:a="http://schemas.openxmlformats.org/drawingml/2006/main" prst="rect">
            <a:avLst/>
          </a:prstGeom>
          <a:solidFill xmlns:a="http://schemas.openxmlformats.org/drawingml/2006/main">
            <a:srgbClr val="E8F4DE"/>
          </a:solidFill>
          <a:ln xmlns:a="http://schemas.openxmlformats.org/drawingml/2006/main" w="17145">
            <a:solidFill>
              <a:srgbClr val="467737"/>
            </a:solidFill>
            <a:prstDash val="solid"/>
          </a:ln>
        </p:spPr>
      </p:sp>
      <p:sp>
        <p:nvSpPr>
          <p:cNvPr id="59" name="">
            <a:extLst xmlns:a="http://schemas.openxmlformats.org/drawingml/2006/main">
              <a:ext uri="{FF2B5EF4-FFF2-40B4-BE49-F238E27FC236}">
                <a16:creationId xmlns:a16="http://schemas.microsoft.com/office/drawing/2014/main" id="{D6AE3F2B-D84D-4047-B62C-36DDFB93B77F}"/>
              </a:ext>
            </a:extLst>
          </p:cNvPr>
          <p:cNvSpPr>
            <a:spLocks xmlns:a="http://schemas.openxmlformats.org/drawingml/2006/main" noGrp="1"/>
          </p:cNvSpPr>
          <p:nvPr/>
        </p:nvSpPr>
        <p:spPr>
          <a:xfrm xmlns:a="http://schemas.openxmlformats.org/drawingml/2006/main">
            <a:off x="476250" y="10287000"/>
            <a:ext cx="7058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467737"/>
                </a:solidFill>
                <a:latin typeface="Hiragino Sans"/>
                <a:ea typeface="Hiragino Sans"/>
                <a:cs typeface="Hiragino Sans"/>
              </a:defRPr>
            </a:pPr>
            <a:r>
              <a:rPr sz="1425" b="1">
                <a:solidFill>
                  <a:srgbClr val="467737"/>
                </a:solidFill>
                <a:latin typeface="Hiragino Sans"/>
                <a:ea typeface="Hiragino Sans"/>
                <a:cs typeface="Hiragino Sans"/>
              </a:rPr>
              <a:t>今後の課題・結論</a:t>
            </a:r>
          </a:p>
        </p:txBody>
      </p:sp>
      <p:sp>
        <p:nvSpPr>
          <p:cNvPr id="60" name="">
            <a:extLst xmlns:a="http://schemas.openxmlformats.org/drawingml/2006/main">
              <a:ext uri="{FF2B5EF4-FFF2-40B4-BE49-F238E27FC236}">
                <a16:creationId xmlns:a16="http://schemas.microsoft.com/office/drawing/2014/main" id="{B6F3226B-7ABF-4B6D-8110-DFA0A975662F}"/>
              </a:ext>
            </a:extLst>
          </p:cNvPr>
          <p:cNvSpPr>
            <a:spLocks xmlns:a="http://schemas.openxmlformats.org/drawingml/2006/main" noGrp="1"/>
          </p:cNvSpPr>
          <p:nvPr/>
        </p:nvSpPr>
        <p:spPr>
          <a:xfrm xmlns:a="http://schemas.openxmlformats.org/drawingml/2006/main">
            <a:off x="533400" y="10620375"/>
            <a:ext cx="6943725"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050" b="0">
                <a:solidFill>
                  <a:srgbClr val="17233A"/>
                </a:solidFill>
                <a:latin typeface="Hiragino Sans"/>
                <a:ea typeface="Hiragino Sans"/>
                <a:cs typeface="Hiragino Sans"/>
              </a:defRPr>
            </a:pPr>
            <a:r>
              <a:rPr sz="1050" b="0">
                <a:solidFill>
                  <a:srgbClr val="17233A"/>
                </a:solidFill>
                <a:latin typeface="Hiragino Sans"/>
                <a:ea typeface="Hiragino Sans"/>
                <a:cs typeface="Hiragino Sans"/>
              </a:rPr>
              <a:t>今後の課題：業務時間、確認漏れ、入力率、看護必要度管理の精度、病床運用指標、業務負担感などの定量的・定性的評価が必要である。</a:t>
            </a:r>
          </a:p>
          <a:p xmlns:a="http://schemas.openxmlformats.org/drawingml/2006/main">
            <a:r>
              <a:t/>
            </a:r>
          </a:p>
          <a:p xmlns:a="http://schemas.openxmlformats.org/drawingml/2006/main">
            <a:pPr algn="l">
              <a:defRPr sz="1050" b="0">
                <a:solidFill>
                  <a:srgbClr val="17233A"/>
                </a:solidFill>
                <a:latin typeface="Hiragino Sans"/>
                <a:ea typeface="Hiragino Sans"/>
                <a:cs typeface="Hiragino Sans"/>
              </a:defRPr>
            </a:pPr>
            <a:r>
              <a:rPr sz="1050" b="0">
                <a:solidFill>
                  <a:srgbClr val="17233A"/>
                </a:solidFill>
                <a:latin typeface="Hiragino Sans"/>
                <a:ea typeface="Hiragino Sans"/>
                <a:cs typeface="Hiragino Sans"/>
              </a:rPr>
              <a:t>結論：多職種DX推進チームを基盤とした現場主導型のアプリ作成は、地域包括ケア病床の運用支援に活用可能であった。中小病院でも、現場スタッフの育成と実装支援を組み合わせることで、実務に根ざしたDXを推進できる可能性が示された。</a:t>
            </a:r>
          </a:p>
        </p:txBody>
      </p:sp>
      <p:sp>
        <p:nvSpPr>
          <p:cNvPr id="61" name="">
            <a:extLst xmlns:a="http://schemas.openxmlformats.org/drawingml/2006/main">
              <a:ext uri="{FF2B5EF4-FFF2-40B4-BE49-F238E27FC236}">
                <a16:creationId xmlns:a16="http://schemas.microsoft.com/office/drawing/2014/main" id="{4FD4B120-6AB8-4B63-9357-B74D01A016D1}"/>
              </a:ext>
            </a:extLst>
          </p:cNvPr>
          <p:cNvSpPr>
            <a:spLocks xmlns:a="http://schemas.openxmlformats.org/drawingml/2006/main" noGrp="1"/>
          </p:cNvSpPr>
          <p:nvPr/>
        </p:nvSpPr>
        <p:spPr>
          <a:xfrm xmlns:a="http://schemas.openxmlformats.org/drawingml/2006/main">
            <a:off x="5143500" y="11706225"/>
            <a:ext cx="2286000" cy="304800"/>
          </a:xfrm>
          <a:prstGeom xmlns:a="http://schemas.openxmlformats.org/drawingml/2006/main" prst="rect">
            <a:avLst/>
          </a:prstGeom>
          <a:solidFill xmlns:a="http://schemas.openxmlformats.org/drawingml/2006/main">
            <a:srgbClr val="FFFFFF"/>
          </a:solidFill>
          <a:ln xmlns:a="http://schemas.openxmlformats.org/drawingml/2006/main" w="12383">
            <a:solidFill>
              <a:srgbClr val="0F172A"/>
            </a:solidFill>
            <a:prstDash val="solid"/>
          </a:ln>
        </p:spPr>
      </p:sp>
      <p:sp>
        <p:nvSpPr>
          <p:cNvPr id="62" name="">
            <a:extLst xmlns:a="http://schemas.openxmlformats.org/drawingml/2006/main">
              <a:ext uri="{FF2B5EF4-FFF2-40B4-BE49-F238E27FC236}">
                <a16:creationId xmlns:a16="http://schemas.microsoft.com/office/drawing/2014/main" id="{41BA96DB-419A-45B2-88A8-179821C3DA2C}"/>
              </a:ext>
            </a:extLst>
          </p:cNvPr>
          <p:cNvSpPr>
            <a:spLocks xmlns:a="http://schemas.openxmlformats.org/drawingml/2006/main" noGrp="1"/>
          </p:cNvSpPr>
          <p:nvPr/>
        </p:nvSpPr>
        <p:spPr>
          <a:xfrm xmlns:a="http://schemas.openxmlformats.org/drawingml/2006/main">
            <a:off x="5200650" y="11772900"/>
            <a:ext cx="217170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ctr"/>
          <a:lstStyle xmlns:a="http://schemas.openxmlformats.org/drawingml/2006/main"/>
          <a:p xmlns:a="http://schemas.openxmlformats.org/drawingml/2006/main">
            <a:pPr algn="ctr">
              <a:defRPr sz="975" b="0">
                <a:solidFill>
                  <a:srgbClr val="17233A"/>
                </a:solidFill>
                <a:latin typeface="Hiragino Sans"/>
                <a:ea typeface="Hiragino Sans"/>
                <a:cs typeface="Hiragino Sans"/>
              </a:defRPr>
            </a:pPr>
            <a:r>
              <a:rPr sz="975" b="0">
                <a:solidFill>
                  <a:srgbClr val="17233A"/>
                </a:solidFill>
                <a:latin typeface="Hiragino Sans"/>
                <a:ea typeface="Hiragino Sans"/>
                <a:cs typeface="Hiragino Sans"/>
              </a:rPr>
              <a:t>COIはございません</a:t>
            </a:r>
          </a:p>
        </p:txBody>
      </p:sp>
      <p:sp>
        <p:nvSpPr>
          <p:cNvPr id="63" name="">
            <a:extLst xmlns:a="http://schemas.openxmlformats.org/drawingml/2006/main">
              <a:ext uri="{FF2B5EF4-FFF2-40B4-BE49-F238E27FC236}">
                <a16:creationId xmlns:a16="http://schemas.microsoft.com/office/drawing/2014/main" id="{896E3674-4A81-4F95-A022-744E51F4571D}"/>
              </a:ext>
            </a:extLst>
          </p:cNvPr>
          <p:cNvSpPr>
            <a:spLocks xmlns:a="http://schemas.openxmlformats.org/drawingml/2006/main" noGrp="1"/>
          </p:cNvSpPr>
          <p:nvPr/>
        </p:nvSpPr>
        <p:spPr>
          <a:xfrm xmlns:a="http://schemas.openxmlformats.org/drawingml/2006/main">
            <a:off x="342900" y="12287250"/>
            <a:ext cx="7324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64" name="">
            <a:extLst xmlns:a="http://schemas.openxmlformats.org/drawingml/2006/main">
              <a:ext uri="{FF2B5EF4-FFF2-40B4-BE49-F238E27FC236}">
                <a16:creationId xmlns:a16="http://schemas.microsoft.com/office/drawing/2014/main" id="{D27B55CF-7DA5-45D5-A0B7-DDAFFB590095}"/>
              </a:ext>
            </a:extLst>
          </p:cNvPr>
          <p:cNvSpPr>
            <a:spLocks xmlns:a="http://schemas.openxmlformats.org/drawingml/2006/main" noGrp="1"/>
          </p:cNvSpPr>
          <p:nvPr/>
        </p:nvSpPr>
        <p:spPr>
          <a:xfrm xmlns:a="http://schemas.openxmlformats.org/drawingml/2006/main">
            <a:off x="514350" y="12439650"/>
            <a:ext cx="69818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1050" b="1">
                <a:solidFill>
                  <a:srgbClr val="B91C1C"/>
                </a:solidFill>
                <a:latin typeface="Hiragino Sans"/>
                <a:ea typeface="Hiragino Sans"/>
                <a:cs typeface="Hiragino Sans"/>
              </a:defRPr>
            </a:pPr>
            <a:r>
              <a:rPr sz="1050" b="1">
                <a:solidFill>
                  <a:srgbClr val="B91C1C"/>
                </a:solidFill>
                <a:latin typeface="Hiragino Sans"/>
                <a:ea typeface="Hiragino Sans"/>
                <a:cs typeface="Hiragino Sans"/>
              </a:rPr>
              <a:t>差し替え推奨：発表者番号、学会名、所属・氏名、実際のアプリ画面①②、導入前後の定量指標</a:t>
            </a:r>
          </a:p>
        </p:txBody>
      </p:sp>
      <p:sp>
        <p:nvSpPr>
          <p:cNvPr id="65" name="">
            <a:extLst xmlns:a="http://schemas.openxmlformats.org/drawingml/2006/main">
              <a:ext uri="{FF2B5EF4-FFF2-40B4-BE49-F238E27FC236}">
                <a16:creationId xmlns:a16="http://schemas.microsoft.com/office/drawing/2014/main" id="{365DCF08-0265-404E-BC67-36D54367ACF0}"/>
              </a:ext>
            </a:extLst>
          </p:cNvPr>
          <p:cNvSpPr>
            <a:spLocks xmlns:a="http://schemas.openxmlformats.org/drawingml/2006/main" noGrp="1"/>
          </p:cNvSpPr>
          <p:nvPr/>
        </p:nvSpPr>
        <p:spPr>
          <a:xfrm xmlns:a="http://schemas.openxmlformats.org/drawingml/2006/main">
            <a:off x="514350" y="12696825"/>
            <a:ext cx="69818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47625" rIns="76200" bIns="47625" anchor="t"/>
          <a:lstStyle xmlns:a="http://schemas.openxmlformats.org/drawingml/2006/main"/>
          <a:p xmlns:a="http://schemas.openxmlformats.org/drawingml/2006/main">
            <a:pPr algn="l">
              <a:defRPr sz="900" b="0">
                <a:solidFill>
                  <a:srgbClr val="52606D"/>
                </a:solidFill>
                <a:latin typeface="Hiragino Sans"/>
                <a:ea typeface="Hiragino Sans"/>
                <a:cs typeface="Hiragino Sans"/>
              </a:defRPr>
            </a:pPr>
            <a:r>
              <a:rPr sz="900" b="0">
                <a:solidFill>
                  <a:srgbClr val="52606D"/>
                </a:solidFill>
                <a:latin typeface="Hiragino Sans"/>
                <a:ea typeface="Hiragino Sans"/>
                <a:cs typeface="Hiragino Sans"/>
              </a:rPr>
              <a:t>参考レイアウトに合わせた横帯型の編集可能PPTX案です。施設名・数値・画面情報は発表前に確認してください。</a:t>
            </a:r>
          </a:p>
        </p:txBody>
      </p:sp>
    </p:spTree>
    <p:extLst>
      <p:ext uri="{BB962C8B-B14F-4D97-AF65-F5344CB8AC3E}">
        <p14:creationId xmlns:p14="http://schemas.microsoft.com/office/powerpoint/2010/main" val="19970185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2026-06-13T19:22:58.7270000Z</dcterms:created>
  <dcterms:modified xsi:type="dcterms:W3CDTF">2026-06-13T19:22:58.7270000Z</dcterms:modified>
</coreProperties>
</file>