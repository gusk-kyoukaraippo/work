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21d1abe2f546ac" /><Relationship Type="http://schemas.openxmlformats.org/officeDocument/2006/relationships/extended-properties" Target="/docProps/app.xml" Id="R1f67fb15a7b84dc2" /><Relationship Type="http://schemas.openxmlformats.org/officeDocument/2006/relationships/officeDocument" Target="/ppt/presentation.xml" Id="R45f24df3f94641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4ff6661f8b4cd6"/>
  </p:sldMasterIdLst>
  <p:notesMasterIdLst>
    <p:notesMasterId xmlns:r="http://schemas.openxmlformats.org/officeDocument/2006/relationships" r:id="R003f9d0fdd914a49"/>
  </p:notesMasterIdLst>
  <p:sldIdLst>
    <p:sldId xmlns:r="http://schemas.openxmlformats.org/officeDocument/2006/relationships" id="256" r:id="R75be84ce2b7e4caa"/>
  </p:sldIdLst>
  <p:sldSz cx="11334750" cy="160401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2ea4eb8dfd4a15" /><Relationship Type="http://schemas.openxmlformats.org/officeDocument/2006/relationships/slideMaster" Target="/ppt/slideMasters/slideMaster1.xml" Id="R8d4ff6661f8b4cd6" /><Relationship Type="http://schemas.openxmlformats.org/officeDocument/2006/relationships/notesMaster" Target="/ppt/notesMasters/notesMaster1.xml" Id="R003f9d0fdd914a49" /><Relationship Type="http://schemas.openxmlformats.org/officeDocument/2006/relationships/presProps" Target="/ppt/presProps.xml" Id="R23278e1b92bc4c26" /><Relationship Type="http://schemas.openxmlformats.org/officeDocument/2006/relationships/viewProps" Target="/ppt/viewProps.xml" Id="R15e64bdde1514b96" /><Relationship Type="http://schemas.openxmlformats.org/officeDocument/2006/relationships/tableStyles" Target="/ppt/tableStyles.xml" Id="R8b66e826da1a4ff7" /><Relationship Type="http://schemas.openxmlformats.org/officeDocument/2006/relationships/slide" Target="/ppt/slides/slide1.xml" Id="R75be84ce2b7e4c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8435168ea844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9be841c94240df" /><Relationship Type="http://schemas.openxmlformats.org/officeDocument/2006/relationships/notesMaster" Target="/ppt/notesMasters/notesMaster1.xml" Id="Rfc2f2b8dcdf842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4213477224a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19ec665a444297" /><Relationship Type="http://schemas.openxmlformats.org/officeDocument/2006/relationships/slideLayout" Target="/ppt/slideLayouts/slideLayout1.xml" Id="R41225e5356b14a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225e5356b14a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f49068cac4ad8" /><Relationship Type="http://schemas.openxmlformats.org/officeDocument/2006/relationships/notesSlide" Target="/ppt/notesSlides/notesSlide1.xml" Id="R61efd21696524b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DF3851-856A-4339-B02C-C14F03E4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334750" cy="160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9E909-431F-4330-8869-D94E8686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3347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77253-E17F-45BC-8EC1-DD0BB6F5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38350"/>
            <a:ext cx="1133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21847-B06C-40C3-B090-014B86F4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1137E-A8CF-4DEC-B77F-C70FAE98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382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地域包括ケア病床の運用支援を目的とした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現場主導型DXの取り組み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241AE-1077-4736-A908-A14024BC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F5F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D9F5F1"/>
                </a:solidFill>
                <a:latin typeface="Hiragino Sans"/>
                <a:ea typeface="Hiragino Sans"/>
                <a:cs typeface="Hiragino Sans"/>
              </a:rPr>
              <a:t>多職種DX推進チームによる業務支援アプリの実装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B23A5-C5A7-4AD7-A81F-1B15E05D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発表者：＿＿＿＿＿＿　所属：＿＿＿＿＿＿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D6B99-A8EF-440C-BB3A-C2BE7383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866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E6EE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E6EEF8"/>
                </a:solidFill>
                <a:latin typeface="Hiragino Sans"/>
                <a:ea typeface="Hiragino Sans"/>
                <a:cs typeface="Hiragino Sans"/>
              </a:rPr>
              <a:t>COI：開示すべき利益相反なし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211CC-8DA5-4F6B-BE31-FBCD5A76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1019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中小病院で専門DX人材の確保が難しい状況でも、現場を理解した多職種チームが課題抽出から実装まで担うことで、日々の病床運用と情報共有を支援できた。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2527B-5A37-4E97-A1D0-56DD4B7E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238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4BD27-5304-45D3-B0DB-B1CD1D7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857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BACKGROUND-kicker-label">
            <a:extLst xmlns:a="http://schemas.openxmlformats.org/drawingml/2006/main">
              <a:ext uri="{FF2B5EF4-FFF2-40B4-BE49-F238E27FC236}">
                <a16:creationId xmlns:a16="http://schemas.microsoft.com/office/drawing/2014/main" id="{8A5FDF29-FD1C-4C93-90FF-978D1E8B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8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D4E89"/>
                </a:solidFill>
                <a:latin typeface="Hiragino Sans"/>
                <a:ea typeface="Hiragino Sans"/>
                <a:cs typeface="Hiragino Sans"/>
              </a:rPr>
              <a:t>BACKGROUND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A73D9-14FF-4789-B42F-31E072BF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複数業務の同時管理が</a:t>
            </a:r>
          </a:p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必要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01EB5-3F8A-4C0D-B104-FDFADEA2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8384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・入退院支援、リハビリ、病床運用、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　看護必要度管理を継続的に把握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・紙媒体や部門別管理では、転記、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　確認漏れ、期限把握に負荷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・中小病院ではDX専従人材の確保が困難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F374F-7001-4773-88F4-BA304780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3238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08ED8-5CC8-404F-89B3-95FD5A2D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BJECTIVE-kicker-label">
            <a:extLst xmlns:a="http://schemas.openxmlformats.org/drawingml/2006/main">
              <a:ext uri="{FF2B5EF4-FFF2-40B4-BE49-F238E27FC236}">
                <a16:creationId xmlns:a16="http://schemas.microsoft.com/office/drawing/2014/main" id="{6B4D6059-C931-4B90-9296-E5CA0AE3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rPr>
              <a:t>OBJECTIVE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27E28-5FE5-466C-B48D-F53D68A8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現場スタッフ主導で</a:t>
            </a:r>
          </a:p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運用支援アプリを実装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149B5-953E-4988-9448-66037FD9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28384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地域包括ケア病床の運用支援を目的に、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多職種DX推進チームを設置。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実務課題に即した業務支援アプリを作成した。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3AB03-85DD-407B-8BDB-F4CCF75A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96150"/>
            <a:ext cx="32385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5025F-7086-4DE9-B31C-D2AD7E0F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96150"/>
            <a:ext cx="857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METHOD-kicker-label">
            <a:extLst xmlns:a="http://schemas.openxmlformats.org/drawingml/2006/main">
              <a:ext uri="{FF2B5EF4-FFF2-40B4-BE49-F238E27FC236}">
                <a16:creationId xmlns:a16="http://schemas.microsoft.com/office/drawing/2014/main" id="{DB43B9AE-7443-4B48-8020-B0218A9D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104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55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F855A"/>
                </a:solidFill>
                <a:latin typeface="Hiragino Sans"/>
                <a:ea typeface="Hiragino Sans"/>
                <a:cs typeface="Hiragino Sans"/>
              </a:rPr>
              <a:t>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02627-E646-4CC9-8922-3042D55E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67625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研修後に課題を抽出し、</a:t>
            </a:r>
          </a:p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2種類のアプリを実装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48A90-36F6-4F98-B04A-3C52D33F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05800"/>
            <a:ext cx="2838450" cy="3038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体制：医師1名を中心に、事務職員、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看護師、作業療法士、社会福祉士で構成。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学習：外部DX研修で、DXの考え方、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課題抽出、アプリ作成、現場実装を学習。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対象：リハビリ関連業務、病床・看護必要度管理。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E249C-ED69-4D88-A00A-D56433C6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34625"/>
            <a:ext cx="6334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9F95E-BE05-40A2-A169-A4030BF6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3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EBA56F-23F6-491B-B6DA-7F9B7191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6797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18B246-9E2A-4238-B904-E5BA4ED7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467975"/>
            <a:ext cx="19526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課題抽出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813AEB-2CDB-479E-BA81-F71A1BA6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3" y="10334625"/>
            <a:ext cx="6334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4C1D6C-9429-4D89-A585-AEA176A6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3" y="1043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386DE2-4183-47BE-A614-3198F566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3" y="1046797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50D077-37B5-49FB-A9DA-62F76274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413" y="10467975"/>
            <a:ext cx="19526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研修参加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125D24-3BA6-44DD-A3A4-40DD3A49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0334625"/>
            <a:ext cx="6334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3E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8096E9-6CE7-4F57-83EF-73D26D7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043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CE98D8-1F14-4573-A591-C7D5FCBD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046797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C84D4B-4360-4F54-9FA5-E73A2A76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0467975"/>
            <a:ext cx="19526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アプリ作成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3533CF-B21A-4952-8B0B-BCCFC1B6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8" y="10334625"/>
            <a:ext cx="6334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51B9A8-8A9C-4A35-A3EB-DF889D17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1043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E127B7-FFDD-4235-B851-9C61AA8D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1046797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D62506-FED6-44B0-9BE2-A35306DA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10467975"/>
            <a:ext cx="19526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現場実装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CF6664-FF45-4305-B687-97195D38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96700"/>
            <a:ext cx="3238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C08B18-A010-4F17-9735-6655E1B2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967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127371-B76E-4FBC-8DC3-DF94844B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729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DX推進チームの構成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0F6F31-4B2B-4526-B50D-B53D5FC3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063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D773CE-9FD9-4942-8772-1B854201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729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医師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0AC040-DE2A-47D5-AB51-7B8CE4F0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23063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B2F30D-3BF9-4FEF-864F-51F87F9D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23729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事務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C330D2-6426-494B-8017-78DF49B3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3E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0F00F5-65A4-4225-8902-3C813126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254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看護師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A5A503-47B3-4BE9-ADFA-0F1159A6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28587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7D78E8-74E6-4932-A631-487DA49C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29254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作業療法士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ED9658-6757-4B92-9C74-DFADB796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112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0F198E-EB8A-4860-9704-596CBC33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7787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社会福祉士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4635AC-D04D-44AA-8A4A-787F3AAB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922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現場課題を理解する職種が、</a:t>
            </a:r>
          </a:p>
          <a:p xmlns:a="http://schemas.openxmlformats.org/drawingml/2006/main">
            <a:pPr algn="ctr">
              <a:defRPr sz="1200" b="1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設計から運用調整まで関与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DB2197-3BE9-4229-BFB7-3AFFBF63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3476625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E53352-20B8-45F0-86C5-A90F0B92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85725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9FAACB-4001-4ECA-A78E-A3F883EB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24200"/>
            <a:ext cx="3095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7791F"/>
                </a:solidFill>
                <a:latin typeface="Hiragino Sans"/>
                <a:ea typeface="Hiragino Sans"/>
                <a:cs typeface="Hiragino Sans"/>
              </a:rPr>
              <a:t>IMPLEMENTATION 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163A9C-70F9-476A-BEE0-96662FF6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813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リハビリ関連業務アプリ：</a:t>
            </a:r>
          </a:p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物品貸出管理を見える管理へ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0790F3-4E37-443E-9405-45F2E867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95750"/>
            <a:ext cx="30194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7145">
            <a:solidFill>
              <a:srgbClr val="B7791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87F5BD-E50B-4905-8E78-C08262C1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48150"/>
            <a:ext cx="2752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FB3221-6C8B-45CC-8386-2FCD98E5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76725"/>
            <a:ext cx="2600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アプリ画面①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2DB6CE7-EE9C-456E-8296-D1B958E6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9650"/>
            <a:ext cx="2486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083F76F-75E4-445F-A644-7944A55A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91150"/>
            <a:ext cx="2486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ED6C67-DAE1-46B2-A8A3-14209366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962650"/>
            <a:ext cx="144189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EECF1E-34F0-4F13-98B2-2A1B3959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135" y="5962650"/>
            <a:ext cx="94469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D689F3-4883-42E1-9421-80CE0E13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86450"/>
            <a:ext cx="2638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79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7791F"/>
                </a:solidFill>
                <a:latin typeface="Hiragino Sans"/>
                <a:ea typeface="Hiragino Sans"/>
                <a:cs typeface="Hiragino Sans"/>
              </a:rPr>
              <a:t>スクリーンショット差し替え枠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2E73A3-4809-44E0-822B-2E99814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53150"/>
            <a:ext cx="2638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入力画面・一覧画面・エラー表示など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2F7502-C930-4B0B-8F69-99EEEF19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648450"/>
            <a:ext cx="30194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課題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・紙媒体管理による転記作業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・返却期限の把握困難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・入力漏れ、確認漏れ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実装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・貸出状況と返却期限を一覧化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・必要事項未入力時にエラー表示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・物品管理状況を確認しやすくした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00E2F6E-0B58-48E0-876D-80C35AE8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915400"/>
            <a:ext cx="3476625" cy="550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A8E53D-F187-495B-A2B5-8BD38E3F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915400"/>
            <a:ext cx="85725" cy="550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195EB84-4DAE-4773-828E-0595FEE9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29700"/>
            <a:ext cx="3095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rPr>
              <a:t>IMPLEMENTATION 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8D398BC-D338-4494-8143-981265A3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2868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病床・看護必要度管理アプリ：</a:t>
            </a:r>
          </a:p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患者ごとの確認項目を可視化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7AA3E22-91B1-4B55-88C3-A425553A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0001250"/>
            <a:ext cx="30194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9D6C093-DE62-474F-B9A9-A986ADB5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0153650"/>
            <a:ext cx="2752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377CDE3-59C3-432B-A947-5A28908E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0182225"/>
            <a:ext cx="2600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アプリ画面②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00CB9B0-4EE8-4786-B870-02986118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725150"/>
            <a:ext cx="2486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8D400C5-3E74-4D2E-9F93-154EF70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1296650"/>
            <a:ext cx="2486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3F05CD3-0D72-479D-BF17-C9AFA9C2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1868150"/>
            <a:ext cx="144189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BA4CEF-4C2C-4170-B493-2A82290F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135" y="11868150"/>
            <a:ext cx="94469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F760B7A-BE1E-4FE7-BEA0-AF8D7597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1791950"/>
            <a:ext cx="2638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rPr>
              <a:t>スクリーンショット差し替え枠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0E83DF4-48D3-49D1-B545-728ADDA4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058650"/>
            <a:ext cx="2638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入力画面・一覧画面・エラー表示など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AA8D9D-EDA7-44E3-BF40-B8FCC173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553950"/>
            <a:ext cx="3019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課題</a:t>
            </a:r>
          </a:p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・病床稼働状況、患者情報、看護必要度関連情報を</a:t>
            </a:r>
          </a:p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　継続的に把握する必要</a:t>
            </a:r>
          </a:p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・多職種・病棟スタッフ間で共有すべき情報が散在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実装</a:t>
            </a:r>
          </a:p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・病床運用情報を一覧化</a:t>
            </a:r>
          </a:p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・患者ごとの状況と確認項目を把握</a:t>
            </a:r>
          </a:p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・日々の管理業務を支援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96B6FB2-A0A6-4211-9FCC-4AFC2211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9900"/>
            <a:ext cx="3067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6DEE67E-3DAA-444F-B827-2A83DF12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9900"/>
            <a:ext cx="857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0FCEA79-4D0D-4F33-9529-ABBBF942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55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F855A"/>
                </a:solidFill>
                <a:latin typeface="Hiragino Sans"/>
                <a:ea typeface="Hiragino Sans"/>
                <a:cs typeface="Hiragino Sans"/>
              </a:rPr>
              <a:t>RESULTS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EBB3F79-5C1B-489F-9676-055A7EC8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705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業務フローに合わせた</a:t>
            </a:r>
          </a:p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2種類のアプリを実運用へ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213CD3D-C925-4501-B6A7-6BDF64C0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957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090CD55-193D-4CB7-8E27-EE8437E8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7069F2D-7C46-4D48-B871-6C14B9A9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24375"/>
            <a:ext cx="590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  <a:p xmlns:a="http://schemas.openxmlformats.org/drawingml/2006/main">
            <a:pPr algn="ctr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実装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585AA0D-2A88-4EC5-BED1-C179C4ED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985DAAB-B460-4CE0-B140-9D7243E7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719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3C989B1-5E75-40BC-99D0-1C0DC111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24375"/>
            <a:ext cx="590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職種</a:t>
            </a:r>
          </a:p>
          <a:p xmlns:a="http://schemas.openxmlformats.org/drawingml/2006/main">
            <a:pPr algn="ctr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参画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87C8CEA-34ED-46FE-9F29-580BF137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957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AA42D1-AA44-4C39-896F-22903D61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実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3963BBD-4095-42F1-AFA2-6ED6E4FE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24375"/>
            <a:ext cx="590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現場で</a:t>
            </a:r>
          </a:p>
          <a:p xmlns:a="http://schemas.openxmlformats.org/drawingml/2006/main">
            <a:pPr algn="ctr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活用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0591862-B9A4-42F9-A221-B9484CD3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30670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AF2392F-E0ED-4C85-AC7E-DA4A6CCB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857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DISCUSSION-kicker-label">
            <a:extLst xmlns:a="http://schemas.openxmlformats.org/drawingml/2006/main">
              <a:ext uri="{FF2B5EF4-FFF2-40B4-BE49-F238E27FC236}">
                <a16:creationId xmlns:a16="http://schemas.microsoft.com/office/drawing/2014/main" id="{E14844B6-5D4A-4E37-BA34-1C677E2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435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8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D4E89"/>
                </a:solidFill>
                <a:latin typeface="Hiragino Sans"/>
                <a:ea typeface="Hiragino Sans"/>
                <a:cs typeface="Hiragino Sans"/>
              </a:rPr>
              <a:t>DISCUSSION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FCA8F56-A164-4E72-8367-5A4556EE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00725"/>
            <a:ext cx="274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現場理解と育成で</a:t>
            </a:r>
          </a:p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専門人材不足を補完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294846D-9F69-4320-B59D-9B1EF7D3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438900"/>
            <a:ext cx="2667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・現場スタッフが課題抽出から実装まで関与し、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　実務に即した改善につながった。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・地域包括ケア病床の複数課題に対し、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　部門横断でアプリ化を進められた。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・小規模な実装でも、情報共有と確認作業を支援。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F570DA3-472C-49F8-8ADE-B2057EF2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458200"/>
            <a:ext cx="30670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544B52C-DE83-48AC-B1E1-B7EB9140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458200"/>
            <a:ext cx="857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NEXT EVALUATION-kicker-label">
            <a:extLst xmlns:a="http://schemas.openxmlformats.org/drawingml/2006/main">
              <a:ext uri="{FF2B5EF4-FFF2-40B4-BE49-F238E27FC236}">
                <a16:creationId xmlns:a16="http://schemas.microsoft.com/office/drawing/2014/main" id="{63A06BD9-1A02-4A0A-A218-FC36C6F3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5725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91C1C"/>
                </a:solidFill>
                <a:latin typeface="Hiragino Sans"/>
                <a:ea typeface="Hiragino Sans"/>
                <a:cs typeface="Hiragino Sans"/>
              </a:rPr>
              <a:t>NEXT EVALUATION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35A6E3E-BF7A-4685-93C3-8B8E557E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829675"/>
            <a:ext cx="274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利用状況と業務影響を</a:t>
            </a:r>
          </a:p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F172A"/>
                </a:solidFill>
                <a:latin typeface="Hiragino Sans"/>
                <a:ea typeface="Hiragino Sans"/>
                <a:cs typeface="Hiragino Sans"/>
              </a:rPr>
              <a:t>定量・定性の両面で検証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1CC1CA9-7809-4696-B6BC-CAA9F626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9467850"/>
            <a:ext cx="2667000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未評価の指標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・業務時間、確認漏れ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・入力率、入力不備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・看護必要度管理の精度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・病床稼働、退院支援の指標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・利用者の業務負担感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評価設計を追加し、院内DX推進体制の有効性を検証する。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DE9F379-8445-4726-8D21-4C69539A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849100"/>
            <a:ext cx="3067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4DD8E33-4C76-4766-9166-E3052544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0586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4D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4D6"/>
                </a:solidFill>
                <a:latin typeface="Hiragino Sans"/>
                <a:ea typeface="Hiragino Sans"/>
                <a:cs typeface="Hiragino Sans"/>
              </a:rPr>
              <a:t>CONCLUSION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65FB6E5-F0F6-4D55-BCE2-4796E3BB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477750"/>
            <a:ext cx="2647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多職種DX推進チームを基盤とした現場主導型アプリ作成は、地域包括ケア病床の運用支援に活用可能であった。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FB5B6A8-84C9-4251-AA68-C9F73ADC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696950"/>
            <a:ext cx="2647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3E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DCE3EA"/>
                </a:solidFill>
                <a:latin typeface="Hiragino Sans"/>
                <a:ea typeface="Hiragino Sans"/>
                <a:cs typeface="Hiragino Sans"/>
              </a:rPr>
              <a:t>中小病院でも、現場スタッフの育成と実装支援を組み合わせることで、実務に根ざしたDXを推進できる可能性が示された。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05C4B6D-3901-47A3-BEE6-5CD7DC97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87550"/>
            <a:ext cx="104679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38D3878-09B4-46AD-B75C-C0666A40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39950"/>
            <a:ext cx="1009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1C1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B91C1C"/>
                </a:solidFill>
                <a:latin typeface="Hiragino Sans"/>
                <a:ea typeface="Hiragino Sans"/>
                <a:cs typeface="Hiragino Sans"/>
              </a:rPr>
              <a:t>差し替え推奨：実際のアプリ画面①②、発表者名・所属、導入前後の業務時間や確認漏れなどの定量指標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400D50B-D96F-4348-A1EF-496A1FA6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125700"/>
            <a:ext cx="1009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本ポスター案は、提示文面をもとに作成した編集可能なPPTXです。数値・スクリーンショット・施設名は発表前に確認してください。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99841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2026-06-13T19:10:37.2300000Z</dcterms:created>
  <dcterms:modified xsi:type="dcterms:W3CDTF">2026-06-13T19:10:37.2300000Z</dcterms:modified>
</coreProperties>
</file>